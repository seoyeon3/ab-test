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HY6YZQl/mbHfuSwtQSBf3BrSX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9913E5-644F-4B3B-8039-99F165B5B33D}">
  <a:tblStyle styleId="{369913E5-644F-4B3B-8039-99F165B5B33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Variant Distribution</c:v>
                </c:pt>
              </c:strCache>
            </c:strRef>
          </c:tx>
          <c:spPr>
            <a:solidFill>
              <a:srgbClr val="0066CC"/>
            </a:solidFill>
            <a:effectLst/>
          </c:spPr>
          <c:invertIfNegative val="0"/>
          <c:dLbls>
            <c:numFmt formatCode="0.0&quot;%&quot;" sourceLinked="0"/>
            <c:txPr>
              <a:bodyPr/>
              <a:lstStyle/>
              <a:p>
                <a:pPr>
                  <a:defRPr b="0" i="0" strike="noStrike" sz="850" u="none">
                    <a:solidFill>
                      <a:srgbClr val="1D1D1F"/>
                    </a:solidFill>
                    <a:latin typeface="Pretendard"/>
                  </a:defRPr>
                </a:pPr>
              </a:p>
            </c:txPr>
            <c:showLegendKey val="0"/>
            <c:showVal val="1"/>
            <c:showCatName val="0"/>
            <c:showSerName val="0"/>
            <c:showPercent val="0"/>
            <c:showBubbleSize val="0"/>
            <c:showLeaderLines val="0"/>
          </c:dLbls>
          <c:cat>
            <c:multiLvlStrRef>
              <c:f>Sheet1!$A$2:$A$3</c:f>
              <c:multiLvlStrCache>
                <c:ptCount val="2"/>
                <c:lvl>
                  <c:pt idx="0">
                    <c:v>test</c:v>
                  </c:pt>
                  <c:pt idx="1">
                    <c:v>control</c:v>
                  </c:pt>
                </c:lvl>
              </c:multiLvlStrCache>
            </c:multiLvlStrRef>
          </c:cat>
          <c:val>
            <c:numRef>
              <c:f>Sheet1!$B$2:$B$3</c:f>
              <c:numCache>
                <c:formatCode>General</c:formatCode>
                <c:ptCount val="2"/>
                <c:pt idx="0">
                  <c:v>50.1</c:v>
                </c:pt>
                <c:pt idx="1">
                  <c:v>49.9</c:v>
                </c:pt>
              </c:numCache>
            </c:numRef>
          </c:val>
        </c:ser>
        <c:dLbls>
          <c:numFmt formatCode="0.0&quot;%&quot;" sourceLinked="0"/>
          <c:txPr>
            <a:bodyPr/>
            <a:lstStyle/>
            <a:p>
              <a:pPr>
                <a:defRPr b="0" i="0" strike="noStrike" sz="850" u="none">
                  <a:solidFill>
                    <a:srgbClr val="1D1D1F"/>
                  </a:solidFill>
                  <a:latin typeface="Pretendard"/>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7A7A7A"/>
                </a:solidFill>
                <a:latin typeface="Pretendard"/>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Age Distribution</c:v>
                </c:pt>
              </c:strCache>
            </c:strRef>
          </c:tx>
          <c:spPr>
            <a:solidFill>
              <a:srgbClr val="0066CC"/>
            </a:solidFill>
            <a:effectLst/>
          </c:spPr>
          <c:invertIfNegative val="0"/>
          <c:dLbls>
            <c:numFmt formatCode="0.0&quot;%&quot;" sourceLinked="0"/>
            <c:txPr>
              <a:bodyPr/>
              <a:lstStyle/>
              <a:p>
                <a:pPr>
                  <a:defRPr b="0" i="0" strike="noStrike" sz="850" u="none">
                    <a:solidFill>
                      <a:srgbClr val="1D1D1F"/>
                    </a:solidFill>
                    <a:latin typeface="Pretendard"/>
                  </a:defRPr>
                </a:pPr>
              </a:p>
            </c:txPr>
            <c:showLegendKey val="0"/>
            <c:showVal val="1"/>
            <c:showCatName val="0"/>
            <c:showSerName val="0"/>
            <c:showPercent val="0"/>
            <c:showBubbleSize val="0"/>
            <c:showLeaderLines val="0"/>
          </c:dLbls>
          <c:cat>
            <c:multiLvlStrRef>
              <c:f>Sheet1!$A$2:$A$4</c:f>
              <c:multiLvlStrCache>
                <c:ptCount val="3"/>
                <c:lvl>
                  <c:pt idx="0">
                    <c:v>0-19</c:v>
                  </c:pt>
                  <c:pt idx="1">
                    <c:v>20-49</c:v>
                  </c:pt>
                  <c:pt idx="2">
                    <c:v>50-up</c:v>
                  </c:pt>
                </c:lvl>
              </c:multiLvlStrCache>
            </c:multiLvlStrRef>
          </c:cat>
          <c:val>
            <c:numRef>
              <c:f>Sheet1!$B$2:$B$4</c:f>
              <c:numCache>
                <c:formatCode>General</c:formatCode>
                <c:ptCount val="3"/>
                <c:pt idx="0">
                  <c:v>47.4</c:v>
                </c:pt>
                <c:pt idx="1">
                  <c:v>15</c:v>
                </c:pt>
                <c:pt idx="2">
                  <c:v>37.7</c:v>
                </c:pt>
              </c:numCache>
            </c:numRef>
          </c:val>
        </c:ser>
        <c:dLbls>
          <c:numFmt formatCode="0.0&quot;%&quot;" sourceLinked="0"/>
          <c:txPr>
            <a:bodyPr/>
            <a:lstStyle/>
            <a:p>
              <a:pPr>
                <a:defRPr b="0" i="0" strike="noStrike" sz="850" u="none">
                  <a:solidFill>
                    <a:srgbClr val="1D1D1F"/>
                  </a:solidFill>
                  <a:latin typeface="Pretendard"/>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7A7A7A"/>
                </a:solidFill>
                <a:latin typeface="Pretendard"/>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Gender Distribution</c:v>
                </c:pt>
              </c:strCache>
            </c:strRef>
          </c:tx>
          <c:spPr>
            <a:solidFill>
              <a:srgbClr val="0066CC"/>
            </a:solidFill>
            <a:effectLst/>
          </c:spPr>
          <c:invertIfNegative val="0"/>
          <c:dLbls>
            <c:numFmt formatCode="0.0&quot;%&quot;" sourceLinked="0"/>
            <c:txPr>
              <a:bodyPr/>
              <a:lstStyle/>
              <a:p>
                <a:pPr>
                  <a:defRPr b="0" i="0" strike="noStrike" sz="850" u="none">
                    <a:solidFill>
                      <a:srgbClr val="1D1D1F"/>
                    </a:solidFill>
                    <a:latin typeface="Pretendard"/>
                  </a:defRPr>
                </a:pPr>
              </a:p>
            </c:txPr>
            <c:showLegendKey val="0"/>
            <c:showVal val="1"/>
            <c:showCatName val="0"/>
            <c:showSerName val="0"/>
            <c:showPercent val="0"/>
            <c:showBubbleSize val="0"/>
            <c:showLeaderLines val="0"/>
          </c:dLbls>
          <c:cat>
            <c:multiLvlStrRef>
              <c:f>Sheet1!$A$2:$A$4</c:f>
              <c:multiLvlStrCache>
                <c:ptCount val="3"/>
                <c:lvl>
                  <c:pt idx="0">
                    <c:v>male</c:v>
                  </c:pt>
                  <c:pt idx="1">
                    <c:v>female</c:v>
                  </c:pt>
                  <c:pt idx="2">
                    <c:v>undefined</c:v>
                  </c:pt>
                </c:lvl>
              </c:multiLvlStrCache>
            </c:multiLvlStrRef>
          </c:cat>
          <c:val>
            <c:numRef>
              <c:f>Sheet1!$B$2:$B$4</c:f>
              <c:numCache>
                <c:formatCode>General</c:formatCode>
                <c:ptCount val="3"/>
                <c:pt idx="0">
                  <c:v>40.1</c:v>
                </c:pt>
                <c:pt idx="1">
                  <c:v>40.1</c:v>
                </c:pt>
                <c:pt idx="2">
                  <c:v>19.8</c:v>
                </c:pt>
              </c:numCache>
            </c:numRef>
          </c:val>
        </c:ser>
        <c:dLbls>
          <c:numFmt formatCode="0.0&quot;%&quot;" sourceLinked="0"/>
          <c:txPr>
            <a:bodyPr/>
            <a:lstStyle/>
            <a:p>
              <a:pPr>
                <a:defRPr b="0" i="0" strike="noStrike" sz="850" u="none">
                  <a:solidFill>
                    <a:srgbClr val="1D1D1F"/>
                  </a:solidFill>
                  <a:latin typeface="Pretendard"/>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7A7A7A"/>
                </a:solidFill>
                <a:latin typeface="Pretendard"/>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f73c14343f_0_5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f73c14343f_0_5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f73c14343f_0_5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72ffb808c_3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f72ffb808c_3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f72ffb808c_3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72ffb808c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f72ffb808c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g3f72ffb808c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72ffb808c_3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f72ffb808c_3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3f72ffb808c_3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72ffb808c_3_3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f72ffb808c_3_3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3f72ffb808c_3_3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733dfa63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3f733dfa63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g3f733dfa63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f73c14343f_0_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f73c14343f_0_5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g3f73c14343f_0_5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73c14343f_0_4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3f73c14343f_0_4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g3f73c14343f_0_4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f733dfa63e_2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g3f733dfa63e_2_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g3f733dfa63e_2_1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733dfa63e_2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g3f733dfa63e_2_2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g3f733dfa63e_2_2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f733dfa63e_2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g3f733dfa63e_2_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g3f733dfa63e_2_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f73c14343f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f73c14343f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g3f73c14343f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public.tableau.com/app/profile/seoyeon.park.ds/viz/ABTestingPerformanceDashboard/KPIAnalysisABTestingReport" TargetMode="External"/><Relationship Id="rId4" Type="http://schemas.openxmlformats.org/officeDocument/2006/relationships/hyperlink" Target="https://github.com/seoyeon3/AB-tes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g3f73c14343f_0_559"/>
          <p:cNvSpPr/>
          <p:nvPr/>
        </p:nvSpPr>
        <p:spPr>
          <a:xfrm>
            <a:off x="822960" y="566928"/>
            <a:ext cx="10545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200"/>
              <a:buFont typeface="Arial"/>
              <a:buNone/>
            </a:pPr>
            <a:r>
              <a:rPr b="1" i="0" lang="en-US" sz="2400" u="none" cap="none" strike="noStrike">
                <a:solidFill>
                  <a:srgbClr val="0066CC"/>
                </a:solidFill>
                <a:latin typeface="Arial"/>
                <a:ea typeface="Arial"/>
                <a:cs typeface="Arial"/>
                <a:sym typeface="Arial"/>
              </a:rPr>
              <a:t>PROJECT 01.</a:t>
            </a:r>
            <a:endParaRPr b="0" i="0" sz="2400" u="none" cap="none" strike="noStrike">
              <a:solidFill>
                <a:schemeClr val="dk1"/>
              </a:solidFill>
              <a:latin typeface="Calibri"/>
              <a:ea typeface="Calibri"/>
              <a:cs typeface="Calibri"/>
              <a:sym typeface="Calibri"/>
            </a:endParaRPr>
          </a:p>
        </p:txBody>
      </p:sp>
      <p:sp>
        <p:nvSpPr>
          <p:cNvPr id="17" name="Google Shape;17;g3f73c14343f_0_559"/>
          <p:cNvSpPr/>
          <p:nvPr/>
        </p:nvSpPr>
        <p:spPr>
          <a:xfrm>
            <a:off x="822960" y="1194816"/>
            <a:ext cx="10545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800"/>
              <a:buFont typeface="Arial"/>
              <a:buNone/>
            </a:pPr>
            <a:r>
              <a:rPr b="1" i="0" lang="en-US" sz="3800" u="none" cap="none" strike="noStrike">
                <a:solidFill>
                  <a:srgbClr val="1D1D1F"/>
                </a:solidFill>
                <a:latin typeface="Arial"/>
                <a:ea typeface="Arial"/>
                <a:cs typeface="Arial"/>
                <a:sym typeface="Arial"/>
              </a:rPr>
              <a:t>사용자 행동 퍼널 기반</a:t>
            </a:r>
            <a:endParaRPr b="0" i="0" sz="3800" u="none" cap="none" strike="noStrike">
              <a:solidFill>
                <a:schemeClr val="dk1"/>
              </a:solidFill>
              <a:latin typeface="Calibri"/>
              <a:ea typeface="Calibri"/>
              <a:cs typeface="Calibri"/>
              <a:sym typeface="Calibri"/>
            </a:endParaRPr>
          </a:p>
        </p:txBody>
      </p:sp>
      <p:sp>
        <p:nvSpPr>
          <p:cNvPr id="18" name="Google Shape;18;g3f73c14343f_0_559"/>
          <p:cNvSpPr/>
          <p:nvPr/>
        </p:nvSpPr>
        <p:spPr>
          <a:xfrm>
            <a:off x="822960" y="1816608"/>
            <a:ext cx="10545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800"/>
              <a:buFont typeface="Arial"/>
              <a:buNone/>
            </a:pPr>
            <a:r>
              <a:rPr b="1" i="0" lang="en-US" sz="3800" u="none" cap="none" strike="noStrike">
                <a:solidFill>
                  <a:srgbClr val="1D1D1F"/>
                </a:solidFill>
                <a:latin typeface="Arial"/>
                <a:ea typeface="Arial"/>
                <a:cs typeface="Arial"/>
                <a:sym typeface="Arial"/>
              </a:rPr>
              <a:t>세그먼트 A/B 테스트 분석</a:t>
            </a:r>
            <a:endParaRPr b="0" i="0" sz="3800" u="none" cap="none" strike="noStrike">
              <a:solidFill>
                <a:schemeClr val="dk1"/>
              </a:solidFill>
              <a:latin typeface="Calibri"/>
              <a:ea typeface="Calibri"/>
              <a:cs typeface="Calibri"/>
              <a:sym typeface="Calibri"/>
            </a:endParaRPr>
          </a:p>
        </p:txBody>
      </p:sp>
      <p:sp>
        <p:nvSpPr>
          <p:cNvPr id="19" name="Google Shape;19;g3f73c14343f_0_559"/>
          <p:cNvSpPr/>
          <p:nvPr/>
        </p:nvSpPr>
        <p:spPr>
          <a:xfrm>
            <a:off x="822960" y="2755392"/>
            <a:ext cx="9448500" cy="86880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Clr>
                <a:srgbClr val="1D1D1F"/>
              </a:buClr>
              <a:buSzPts val="1450"/>
              <a:buFont typeface="Arial"/>
              <a:buNone/>
            </a:pPr>
            <a:r>
              <a:rPr b="0" i="0" lang="en-US" sz="1450" u="none" cap="none" strike="noStrike">
                <a:solidFill>
                  <a:srgbClr val="1D1D1F"/>
                </a:solidFill>
                <a:latin typeface="Arial"/>
                <a:ea typeface="Arial"/>
                <a:cs typeface="Arial"/>
                <a:sym typeface="Arial"/>
              </a:rPr>
              <a:t>사용자 행동 데이터를 기반으로 핵심 KPI인 </a:t>
            </a:r>
            <a:r>
              <a:rPr b="1" i="0" lang="en-US" sz="1450" u="none" cap="none" strike="noStrike">
                <a:solidFill>
                  <a:srgbClr val="1D1D1F"/>
                </a:solidFill>
                <a:latin typeface="Arial"/>
                <a:ea typeface="Arial"/>
                <a:cs typeface="Arial"/>
                <a:sym typeface="Arial"/>
              </a:rPr>
              <a:t>CTR·CVR·AOV·ARPU</a:t>
            </a:r>
            <a:r>
              <a:rPr b="0" i="0" lang="en-US" sz="1450" u="none" cap="none" strike="noStrike">
                <a:solidFill>
                  <a:srgbClr val="1D1D1F"/>
                </a:solidFill>
                <a:latin typeface="Arial"/>
                <a:ea typeface="Arial"/>
                <a:cs typeface="Arial"/>
                <a:sym typeface="Arial"/>
              </a:rPr>
              <a:t>를 모니터링하고, 퍼널 단계별 </a:t>
            </a:r>
            <a:r>
              <a:rPr b="1" i="0" lang="en-US" sz="1450" u="none" cap="none" strike="noStrike">
                <a:solidFill>
                  <a:srgbClr val="1D1D1F"/>
                </a:solidFill>
                <a:latin typeface="Arial"/>
                <a:ea typeface="Arial"/>
                <a:cs typeface="Arial"/>
                <a:sym typeface="Arial"/>
              </a:rPr>
              <a:t>실험 효과</a:t>
            </a:r>
            <a:r>
              <a:rPr b="0" i="0" lang="en-US" sz="1450" u="none" cap="none" strike="noStrike">
                <a:solidFill>
                  <a:srgbClr val="1D1D1F"/>
                </a:solidFill>
                <a:latin typeface="Arial"/>
                <a:ea typeface="Arial"/>
                <a:cs typeface="Arial"/>
                <a:sym typeface="Arial"/>
              </a:rPr>
              <a:t>와 </a:t>
            </a:r>
            <a:r>
              <a:rPr b="1" i="0" lang="en-US" sz="1450" u="none" cap="none" strike="noStrike">
                <a:solidFill>
                  <a:srgbClr val="1D1D1F"/>
                </a:solidFill>
                <a:latin typeface="Arial"/>
                <a:ea typeface="Arial"/>
                <a:cs typeface="Arial"/>
                <a:sym typeface="Arial"/>
              </a:rPr>
              <a:t>연령·성별·날짜별 세그먼트</a:t>
            </a:r>
            <a:r>
              <a:rPr b="0" i="0" lang="en-US" sz="1450" u="none" cap="none" strike="noStrike">
                <a:solidFill>
                  <a:srgbClr val="1D1D1F"/>
                </a:solidFill>
                <a:latin typeface="Arial"/>
                <a:ea typeface="Arial"/>
                <a:cs typeface="Arial"/>
                <a:sym typeface="Arial"/>
              </a:rPr>
              <a:t> 차이를 분석할 수 있도록 Tableau 대시보드를 구축한 프로젝트입니다.</a:t>
            </a:r>
            <a:endParaRPr b="0" i="0" sz="1450" u="none" cap="none" strike="noStrike">
              <a:solidFill>
                <a:schemeClr val="dk1"/>
              </a:solidFill>
              <a:latin typeface="Calibri"/>
              <a:ea typeface="Calibri"/>
              <a:cs typeface="Calibri"/>
              <a:sym typeface="Calibri"/>
            </a:endParaRPr>
          </a:p>
        </p:txBody>
      </p:sp>
      <p:sp>
        <p:nvSpPr>
          <p:cNvPr id="20" name="Google Shape;20;g3f73c14343f_0_559"/>
          <p:cNvSpPr/>
          <p:nvPr/>
        </p:nvSpPr>
        <p:spPr>
          <a:xfrm>
            <a:off x="746760" y="3486912"/>
            <a:ext cx="1545300" cy="310800"/>
          </a:xfrm>
          <a:prstGeom prst="roundRect">
            <a:avLst>
              <a:gd fmla="val 50000"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f73c14343f_0_559"/>
          <p:cNvSpPr/>
          <p:nvPr/>
        </p:nvSpPr>
        <p:spPr>
          <a:xfrm>
            <a:off x="746760" y="3486912"/>
            <a:ext cx="15453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사용자 행동 데이터</a:t>
            </a:r>
            <a:endParaRPr b="0" i="0" sz="1050" u="none" cap="none" strike="noStrike">
              <a:solidFill>
                <a:schemeClr val="dk1"/>
              </a:solidFill>
              <a:latin typeface="Calibri"/>
              <a:ea typeface="Calibri"/>
              <a:cs typeface="Calibri"/>
              <a:sym typeface="Calibri"/>
            </a:endParaRPr>
          </a:p>
        </p:txBody>
      </p:sp>
      <p:sp>
        <p:nvSpPr>
          <p:cNvPr id="22" name="Google Shape;22;g3f73c14343f_0_559"/>
          <p:cNvSpPr/>
          <p:nvPr/>
        </p:nvSpPr>
        <p:spPr>
          <a:xfrm>
            <a:off x="2438400" y="3486912"/>
            <a:ext cx="1175100" cy="310800"/>
          </a:xfrm>
          <a:prstGeom prst="roundRect">
            <a:avLst>
              <a:gd fmla="val 50000"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g3f73c14343f_0_559"/>
          <p:cNvSpPr/>
          <p:nvPr/>
        </p:nvSpPr>
        <p:spPr>
          <a:xfrm>
            <a:off x="2438400" y="3486912"/>
            <a:ext cx="11751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A/B 테스트</a:t>
            </a:r>
            <a:endParaRPr b="0" i="0" sz="1050" u="none" cap="none" strike="noStrike">
              <a:solidFill>
                <a:schemeClr val="dk1"/>
              </a:solidFill>
              <a:latin typeface="Calibri"/>
              <a:ea typeface="Calibri"/>
              <a:cs typeface="Calibri"/>
              <a:sym typeface="Calibri"/>
            </a:endParaRPr>
          </a:p>
        </p:txBody>
      </p:sp>
      <p:sp>
        <p:nvSpPr>
          <p:cNvPr id="24" name="Google Shape;24;g3f73c14343f_0_559"/>
          <p:cNvSpPr/>
          <p:nvPr/>
        </p:nvSpPr>
        <p:spPr>
          <a:xfrm>
            <a:off x="3759708" y="3486912"/>
            <a:ext cx="1175100" cy="310800"/>
          </a:xfrm>
          <a:prstGeom prst="roundRect">
            <a:avLst>
              <a:gd fmla="val 50000"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g3f73c14343f_0_559"/>
          <p:cNvSpPr/>
          <p:nvPr/>
        </p:nvSpPr>
        <p:spPr>
          <a:xfrm>
            <a:off x="3759708" y="3486912"/>
            <a:ext cx="11751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세그먼트 분석</a:t>
            </a:r>
            <a:endParaRPr b="0" i="0" sz="1050" u="none" cap="none" strike="noStrike">
              <a:solidFill>
                <a:schemeClr val="dk1"/>
              </a:solidFill>
              <a:latin typeface="Calibri"/>
              <a:ea typeface="Calibri"/>
              <a:cs typeface="Calibri"/>
              <a:sym typeface="Calibri"/>
            </a:endParaRPr>
          </a:p>
        </p:txBody>
      </p:sp>
      <p:sp>
        <p:nvSpPr>
          <p:cNvPr id="26" name="Google Shape;26;g3f73c14343f_0_559"/>
          <p:cNvSpPr/>
          <p:nvPr/>
        </p:nvSpPr>
        <p:spPr>
          <a:xfrm>
            <a:off x="5081016" y="3486912"/>
            <a:ext cx="928200" cy="310800"/>
          </a:xfrm>
          <a:prstGeom prst="roundRect">
            <a:avLst>
              <a:gd fmla="val 50000"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f73c14343f_0_559"/>
          <p:cNvSpPr/>
          <p:nvPr/>
        </p:nvSpPr>
        <p:spPr>
          <a:xfrm>
            <a:off x="5081016" y="3486912"/>
            <a:ext cx="928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퍼널 분석</a:t>
            </a:r>
            <a:endParaRPr b="0" i="0" sz="1050" u="none" cap="none" strike="noStrike">
              <a:solidFill>
                <a:schemeClr val="dk1"/>
              </a:solidFill>
              <a:latin typeface="Calibri"/>
              <a:ea typeface="Calibri"/>
              <a:cs typeface="Calibri"/>
              <a:sym typeface="Calibri"/>
            </a:endParaRPr>
          </a:p>
        </p:txBody>
      </p:sp>
      <p:sp>
        <p:nvSpPr>
          <p:cNvPr id="28" name="Google Shape;28;g3f73c14343f_0_559"/>
          <p:cNvSpPr/>
          <p:nvPr/>
        </p:nvSpPr>
        <p:spPr>
          <a:xfrm>
            <a:off x="6155436" y="3486912"/>
            <a:ext cx="804600" cy="310800"/>
          </a:xfrm>
          <a:prstGeom prst="roundRect">
            <a:avLst>
              <a:gd fmla="val 50000"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g3f73c14343f_0_559"/>
          <p:cNvSpPr/>
          <p:nvPr/>
        </p:nvSpPr>
        <p:spPr>
          <a:xfrm>
            <a:off x="6155436" y="3486912"/>
            <a:ext cx="8046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대시보드</a:t>
            </a:r>
            <a:endParaRPr b="0" i="0" sz="1050" u="none" cap="none" strike="noStrike">
              <a:solidFill>
                <a:schemeClr val="dk1"/>
              </a:solidFill>
              <a:latin typeface="Calibri"/>
              <a:ea typeface="Calibri"/>
              <a:cs typeface="Calibri"/>
              <a:sym typeface="Calibri"/>
            </a:endParaRPr>
          </a:p>
        </p:txBody>
      </p:sp>
      <p:sp>
        <p:nvSpPr>
          <p:cNvPr id="30" name="Google Shape;30;g3f73c14343f_0_559"/>
          <p:cNvSpPr/>
          <p:nvPr/>
        </p:nvSpPr>
        <p:spPr>
          <a:xfrm>
            <a:off x="822960" y="4645152"/>
            <a:ext cx="10545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300"/>
              <a:buFont typeface="Arial"/>
              <a:buNone/>
            </a:pPr>
            <a:r>
              <a:rPr b="1" i="0" lang="en-US" sz="1450" u="none" cap="none" strike="noStrike">
                <a:solidFill>
                  <a:srgbClr val="1D1D1F"/>
                </a:solidFill>
                <a:latin typeface="Arial"/>
                <a:ea typeface="Arial"/>
                <a:cs typeface="Arial"/>
                <a:sym typeface="Arial"/>
              </a:rPr>
              <a:t>Details</a:t>
            </a:r>
            <a:endParaRPr b="0" i="0" sz="1450" u="none" cap="none" strike="noStrike">
              <a:solidFill>
                <a:schemeClr val="dk1"/>
              </a:solidFill>
              <a:latin typeface="Calibri"/>
              <a:ea typeface="Calibri"/>
              <a:cs typeface="Calibri"/>
              <a:sym typeface="Calibri"/>
            </a:endParaRPr>
          </a:p>
        </p:txBody>
      </p:sp>
      <p:sp>
        <p:nvSpPr>
          <p:cNvPr id="31" name="Google Shape;31;g3f73c14343f_0_559"/>
          <p:cNvSpPr/>
          <p:nvPr/>
        </p:nvSpPr>
        <p:spPr>
          <a:xfrm>
            <a:off x="841248" y="5102352"/>
            <a:ext cx="45600" cy="45600"/>
          </a:xfrm>
          <a:prstGeom prst="ellipse">
            <a:avLst/>
          </a:prstGeom>
          <a:solidFill>
            <a:srgbClr val="D2D2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2" name="Google Shape;32;g3f73c14343f_0_559"/>
          <p:cNvSpPr/>
          <p:nvPr/>
        </p:nvSpPr>
        <p:spPr>
          <a:xfrm>
            <a:off x="1024128" y="5010912"/>
            <a:ext cx="1034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기간  </a:t>
            </a:r>
            <a:r>
              <a:rPr b="0" i="0" lang="en-US" sz="1300" u="none" cap="none" strike="noStrike">
                <a:solidFill>
                  <a:srgbClr val="1D1D1F"/>
                </a:solidFill>
                <a:latin typeface="Arial"/>
                <a:ea typeface="Arial"/>
                <a:cs typeface="Arial"/>
                <a:sym typeface="Arial"/>
              </a:rPr>
              <a:t>2026.05–2026.0</a:t>
            </a:r>
            <a:r>
              <a:rPr lang="en-US" sz="1300">
                <a:solidFill>
                  <a:srgbClr val="1D1D1F"/>
                </a:solidFill>
              </a:rPr>
              <a:t>7</a:t>
            </a:r>
            <a:endParaRPr b="0" i="0" sz="1300" u="none" cap="none" strike="noStrike">
              <a:solidFill>
                <a:schemeClr val="dk1"/>
              </a:solidFill>
              <a:latin typeface="Calibri"/>
              <a:ea typeface="Calibri"/>
              <a:cs typeface="Calibri"/>
              <a:sym typeface="Calibri"/>
            </a:endParaRPr>
          </a:p>
        </p:txBody>
      </p:sp>
      <p:sp>
        <p:nvSpPr>
          <p:cNvPr id="33" name="Google Shape;33;g3f73c14343f_0_559"/>
          <p:cNvSpPr/>
          <p:nvPr/>
        </p:nvSpPr>
        <p:spPr>
          <a:xfrm>
            <a:off x="841248" y="5394960"/>
            <a:ext cx="45600" cy="45600"/>
          </a:xfrm>
          <a:prstGeom prst="ellipse">
            <a:avLst/>
          </a:prstGeom>
          <a:solidFill>
            <a:srgbClr val="D2D2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4" name="Google Shape;34;g3f73c14343f_0_559"/>
          <p:cNvSpPr/>
          <p:nvPr/>
        </p:nvSpPr>
        <p:spPr>
          <a:xfrm>
            <a:off x="1024128" y="5303520"/>
            <a:ext cx="1034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역할  </a:t>
            </a:r>
            <a:r>
              <a:rPr b="0" i="0" lang="en-US" sz="1300" u="none" cap="none" strike="noStrike">
                <a:solidFill>
                  <a:srgbClr val="1D1D1F"/>
                </a:solidFill>
                <a:latin typeface="Arial"/>
                <a:ea typeface="Arial"/>
                <a:cs typeface="Arial"/>
                <a:sym typeface="Arial"/>
              </a:rPr>
              <a:t>개인 프로젝트</a:t>
            </a:r>
            <a:endParaRPr b="0" i="0" sz="1300" u="none" cap="none" strike="noStrike">
              <a:solidFill>
                <a:schemeClr val="dk1"/>
              </a:solidFill>
              <a:latin typeface="Calibri"/>
              <a:ea typeface="Calibri"/>
              <a:cs typeface="Calibri"/>
              <a:sym typeface="Calibri"/>
            </a:endParaRPr>
          </a:p>
        </p:txBody>
      </p:sp>
      <p:sp>
        <p:nvSpPr>
          <p:cNvPr id="35" name="Google Shape;35;g3f73c14343f_0_559"/>
          <p:cNvSpPr/>
          <p:nvPr/>
        </p:nvSpPr>
        <p:spPr>
          <a:xfrm>
            <a:off x="841248" y="5687568"/>
            <a:ext cx="45600" cy="45600"/>
          </a:xfrm>
          <a:prstGeom prst="ellipse">
            <a:avLst/>
          </a:prstGeom>
          <a:solidFill>
            <a:srgbClr val="D2D2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6" name="Google Shape;36;g3f73c14343f_0_559"/>
          <p:cNvSpPr/>
          <p:nvPr/>
        </p:nvSpPr>
        <p:spPr>
          <a:xfrm>
            <a:off x="1024128" y="5596128"/>
            <a:ext cx="1034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기술  </a:t>
            </a:r>
            <a:r>
              <a:rPr b="0" i="0" lang="en-US" sz="1300" u="none" cap="none" strike="noStrike">
                <a:solidFill>
                  <a:srgbClr val="1D1D1F"/>
                </a:solidFill>
                <a:latin typeface="Arial"/>
                <a:ea typeface="Arial"/>
                <a:cs typeface="Arial"/>
                <a:sym typeface="Arial"/>
              </a:rPr>
              <a:t>SQL · Python · Tableau </a:t>
            </a:r>
            <a:r>
              <a:rPr lang="en-US" sz="1300">
                <a:solidFill>
                  <a:srgbClr val="1D1D1F"/>
                </a:solidFill>
              </a:rPr>
              <a:t>· Claude</a:t>
            </a:r>
            <a:endParaRPr b="0" i="0" sz="1300" u="none" cap="none" strike="noStrike">
              <a:solidFill>
                <a:schemeClr val="dk1"/>
              </a:solidFill>
              <a:latin typeface="Calibri"/>
              <a:ea typeface="Calibri"/>
              <a:cs typeface="Calibri"/>
              <a:sym typeface="Calibri"/>
            </a:endParaRPr>
          </a:p>
        </p:txBody>
      </p:sp>
      <p:sp>
        <p:nvSpPr>
          <p:cNvPr id="37" name="Google Shape;37;g3f73c14343f_0_559"/>
          <p:cNvSpPr/>
          <p:nvPr/>
        </p:nvSpPr>
        <p:spPr>
          <a:xfrm>
            <a:off x="841248" y="5980176"/>
            <a:ext cx="45600" cy="45600"/>
          </a:xfrm>
          <a:prstGeom prst="ellipse">
            <a:avLst/>
          </a:prstGeom>
          <a:solidFill>
            <a:srgbClr val="D2D2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8" name="Google Shape;38;g3f73c14343f_0_559"/>
          <p:cNvSpPr/>
          <p:nvPr/>
        </p:nvSpPr>
        <p:spPr>
          <a:xfrm>
            <a:off x="1024128" y="5888736"/>
            <a:ext cx="10344600" cy="29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D1D1F"/>
              </a:buClr>
              <a:buSzPts val="1200"/>
              <a:buFont typeface="Arial"/>
              <a:buNone/>
            </a:pPr>
            <a:r>
              <a:rPr b="1" lang="en-US" sz="1300">
                <a:solidFill>
                  <a:srgbClr val="1D1D1F"/>
                </a:solidFill>
              </a:rPr>
              <a:t>링크  </a:t>
            </a:r>
            <a:r>
              <a:rPr lang="en-US" sz="1300" u="sng">
                <a:solidFill>
                  <a:schemeClr val="hlink"/>
                </a:solidFill>
                <a:hlinkClick r:id="rId3"/>
              </a:rPr>
              <a:t>Tableau</a:t>
            </a:r>
            <a:r>
              <a:rPr lang="en-US" sz="1300">
                <a:solidFill>
                  <a:srgbClr val="1D1D1F"/>
                </a:solidFill>
              </a:rPr>
              <a:t> · </a:t>
            </a:r>
            <a:r>
              <a:rPr lang="en-US" sz="1300" u="sng">
                <a:solidFill>
                  <a:schemeClr val="hlink"/>
                </a:solidFill>
                <a:hlinkClick r:id="rId4"/>
              </a:rPr>
              <a:t>GitHub</a:t>
            </a:r>
            <a:endParaRPr b="1" sz="1300">
              <a:solidFill>
                <a:srgbClr val="1D1D1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1"/>
          <p:cNvSpPr/>
          <p:nvPr/>
        </p:nvSpPr>
        <p:spPr>
          <a:xfrm>
            <a:off x="566928" y="420624"/>
            <a:ext cx="54864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BACKGROUND</a:t>
            </a:r>
            <a:endParaRPr b="0" i="0" sz="1050" u="none" cap="none" strike="noStrike">
              <a:solidFill>
                <a:schemeClr val="dk1"/>
              </a:solidFill>
              <a:latin typeface="Calibri"/>
              <a:ea typeface="Calibri"/>
              <a:cs typeface="Calibri"/>
              <a:sym typeface="Calibri"/>
            </a:endParaRPr>
          </a:p>
        </p:txBody>
      </p:sp>
      <p:sp>
        <p:nvSpPr>
          <p:cNvPr id="45" name="Google Shape;45;p1"/>
          <p:cNvSpPr/>
          <p:nvPr/>
        </p:nvSpPr>
        <p:spPr>
          <a:xfrm>
            <a:off x="566928" y="713232"/>
            <a:ext cx="11057839"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비즈니스 배경 및 핵심 분석 질문</a:t>
            </a:r>
            <a:endParaRPr b="0" i="0" sz="3000" u="none" cap="none" strike="noStrike">
              <a:solidFill>
                <a:schemeClr val="dk1"/>
              </a:solidFill>
              <a:latin typeface="Calibri"/>
              <a:ea typeface="Calibri"/>
              <a:cs typeface="Calibri"/>
              <a:sym typeface="Calibri"/>
            </a:endParaRPr>
          </a:p>
        </p:txBody>
      </p:sp>
      <p:sp>
        <p:nvSpPr>
          <p:cNvPr id="46" name="Google Shape;46;p1"/>
          <p:cNvSpPr/>
          <p:nvPr/>
        </p:nvSpPr>
        <p:spPr>
          <a:xfrm>
            <a:off x="566928" y="1316736"/>
            <a:ext cx="1105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실험 효과 검증부터 세그먼트별 차등 적용 전략까지 이어지는 분석의 출발점</a:t>
            </a:r>
            <a:endParaRPr b="0" i="0" sz="1275" u="none" cap="none" strike="noStrike">
              <a:solidFill>
                <a:schemeClr val="dk1"/>
              </a:solidFill>
              <a:latin typeface="Calibri"/>
              <a:ea typeface="Calibri"/>
              <a:cs typeface="Calibri"/>
              <a:sym typeface="Calibri"/>
            </a:endParaRPr>
          </a:p>
        </p:txBody>
      </p:sp>
      <p:sp>
        <p:nvSpPr>
          <p:cNvPr id="47" name="Google Shape;47;p1"/>
          <p:cNvSpPr/>
          <p:nvPr/>
        </p:nvSpPr>
        <p:spPr>
          <a:xfrm>
            <a:off x="566928" y="1810512"/>
            <a:ext cx="3657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900"/>
              <a:buFont typeface="Arial"/>
              <a:buNone/>
            </a:pPr>
            <a:r>
              <a:rPr b="1" i="0" lang="en-US" sz="900" u="none" cap="none" strike="noStrike">
                <a:solidFill>
                  <a:srgbClr val="0066CC"/>
                </a:solidFill>
                <a:latin typeface="Arial"/>
                <a:ea typeface="Arial"/>
                <a:cs typeface="Arial"/>
                <a:sym typeface="Arial"/>
              </a:rPr>
              <a:t>PROBLEM</a:t>
            </a:r>
            <a:endParaRPr b="0" i="0" sz="900" u="none" cap="none" strike="noStrike">
              <a:solidFill>
                <a:schemeClr val="dk1"/>
              </a:solidFill>
              <a:latin typeface="Calibri"/>
              <a:ea typeface="Calibri"/>
              <a:cs typeface="Calibri"/>
              <a:sym typeface="Calibri"/>
            </a:endParaRPr>
          </a:p>
        </p:txBody>
      </p:sp>
      <p:sp>
        <p:nvSpPr>
          <p:cNvPr id="48" name="Google Shape;48;p1"/>
          <p:cNvSpPr/>
          <p:nvPr/>
        </p:nvSpPr>
        <p:spPr>
          <a:xfrm>
            <a:off x="566928" y="1965960"/>
            <a:ext cx="11057700" cy="777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D1D1F"/>
              </a:buClr>
              <a:buSzPts val="1350"/>
              <a:buFont typeface="Arial"/>
              <a:buNone/>
            </a:pPr>
            <a:r>
              <a:rPr b="0" i="0" lang="en-US" sz="1350" u="none" cap="none" strike="noStrike">
                <a:solidFill>
                  <a:srgbClr val="1D1D1F"/>
                </a:solidFill>
                <a:latin typeface="Arial"/>
                <a:ea typeface="Arial"/>
                <a:cs typeface="Arial"/>
                <a:sym typeface="Arial"/>
              </a:rPr>
              <a:t>새로운 실험안이 사용자 행동과 비즈니스 성과를 개선했는지 검증하고, 전체 적용 여부와 우선 적용 대상을 결정한다. 전체 평균 지표만으로는 숨겨진 세그먼트별 반응 차이를 파악하기 어려우므로, 세분화된 퍼널 분석을 통해 세그먼트별 차등 적용 전략을 수립한다.</a:t>
            </a:r>
            <a:endParaRPr b="0" i="0" sz="1350" u="none" cap="none" strike="noStrike">
              <a:solidFill>
                <a:schemeClr val="dk1"/>
              </a:solidFill>
              <a:latin typeface="Calibri"/>
              <a:ea typeface="Calibri"/>
              <a:cs typeface="Calibri"/>
              <a:sym typeface="Calibri"/>
            </a:endParaRPr>
          </a:p>
        </p:txBody>
      </p:sp>
      <p:cxnSp>
        <p:nvCxnSpPr>
          <p:cNvPr id="49" name="Google Shape;49;p1"/>
          <p:cNvCxnSpPr/>
          <p:nvPr/>
        </p:nvCxnSpPr>
        <p:spPr>
          <a:xfrm>
            <a:off x="566928" y="2807208"/>
            <a:ext cx="11057700" cy="0"/>
          </a:xfrm>
          <a:prstGeom prst="straightConnector1">
            <a:avLst/>
          </a:prstGeom>
          <a:noFill/>
          <a:ln cap="flat" cmpd="sng" w="12700">
            <a:solidFill>
              <a:srgbClr val="E0E0E0"/>
            </a:solidFill>
            <a:prstDash val="solid"/>
            <a:round/>
            <a:headEnd len="sm" w="sm" type="none"/>
            <a:tailEnd len="sm" w="sm" type="none"/>
          </a:ln>
        </p:spPr>
      </p:cxnSp>
      <p:sp>
        <p:nvSpPr>
          <p:cNvPr id="50" name="Google Shape;50;p1"/>
          <p:cNvSpPr/>
          <p:nvPr/>
        </p:nvSpPr>
        <p:spPr>
          <a:xfrm>
            <a:off x="566928" y="3099816"/>
            <a:ext cx="258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575"/>
              <a:buFont typeface="Arial"/>
              <a:buNone/>
            </a:pPr>
            <a:r>
              <a:rPr b="1" i="0" lang="en-US" sz="1575" u="none" cap="none" strike="noStrike">
                <a:solidFill>
                  <a:srgbClr val="0066CC"/>
                </a:solidFill>
                <a:latin typeface="Arial"/>
                <a:ea typeface="Arial"/>
                <a:cs typeface="Arial"/>
                <a:sym typeface="Arial"/>
              </a:rPr>
              <a:t>Q1</a:t>
            </a:r>
            <a:endParaRPr b="0" i="0" sz="1575" u="none" cap="none" strike="noStrike">
              <a:solidFill>
                <a:schemeClr val="dk1"/>
              </a:solidFill>
              <a:latin typeface="Calibri"/>
              <a:ea typeface="Calibri"/>
              <a:cs typeface="Calibri"/>
              <a:sym typeface="Calibri"/>
            </a:endParaRPr>
          </a:p>
        </p:txBody>
      </p:sp>
      <p:sp>
        <p:nvSpPr>
          <p:cNvPr id="51" name="Google Shape;51;p1"/>
          <p:cNvSpPr/>
          <p:nvPr/>
        </p:nvSpPr>
        <p:spPr>
          <a:xfrm>
            <a:off x="566928" y="3429000"/>
            <a:ext cx="25863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50"/>
              <a:buFont typeface="Arial"/>
              <a:buNone/>
            </a:pPr>
            <a:r>
              <a:rPr b="1" i="0" lang="en-US" sz="1350" u="none" cap="none" strike="noStrike">
                <a:solidFill>
                  <a:srgbClr val="1D1D1F"/>
                </a:solidFill>
                <a:latin typeface="Arial"/>
                <a:ea typeface="Arial"/>
                <a:cs typeface="Arial"/>
                <a:sym typeface="Arial"/>
              </a:rPr>
              <a:t>Overall Effect</a:t>
            </a:r>
            <a:endParaRPr b="0" i="0" sz="1350" u="none" cap="none" strike="noStrike">
              <a:solidFill>
                <a:schemeClr val="dk1"/>
              </a:solidFill>
              <a:latin typeface="Calibri"/>
              <a:ea typeface="Calibri"/>
              <a:cs typeface="Calibri"/>
              <a:sym typeface="Calibri"/>
            </a:endParaRPr>
          </a:p>
        </p:txBody>
      </p:sp>
      <p:sp>
        <p:nvSpPr>
          <p:cNvPr id="52" name="Google Shape;52;p1"/>
          <p:cNvSpPr/>
          <p:nvPr/>
        </p:nvSpPr>
        <p:spPr>
          <a:xfrm>
            <a:off x="566928" y="3794760"/>
            <a:ext cx="2586300" cy="1453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실험군과 대조군 사이에서 노출·클릭·구매·매출에 유의한 차이가 있는가?</a:t>
            </a:r>
            <a:endParaRPr b="0" i="0" sz="1100" u="none" cap="none" strike="noStrike">
              <a:solidFill>
                <a:schemeClr val="dk1"/>
              </a:solidFill>
              <a:latin typeface="Calibri"/>
              <a:ea typeface="Calibri"/>
              <a:cs typeface="Calibri"/>
              <a:sym typeface="Calibri"/>
            </a:endParaRPr>
          </a:p>
        </p:txBody>
      </p:sp>
      <p:cxnSp>
        <p:nvCxnSpPr>
          <p:cNvPr id="53" name="Google Shape;53;p1"/>
          <p:cNvCxnSpPr/>
          <p:nvPr/>
        </p:nvCxnSpPr>
        <p:spPr>
          <a:xfrm>
            <a:off x="3271952" y="3099816"/>
            <a:ext cx="0" cy="2148900"/>
          </a:xfrm>
          <a:prstGeom prst="straightConnector1">
            <a:avLst/>
          </a:prstGeom>
          <a:noFill/>
          <a:ln cap="flat" cmpd="sng" w="12700">
            <a:solidFill>
              <a:srgbClr val="E0E0E0"/>
            </a:solidFill>
            <a:prstDash val="solid"/>
            <a:round/>
            <a:headEnd len="sm" w="sm" type="none"/>
            <a:tailEnd len="sm" w="sm" type="none"/>
          </a:ln>
        </p:spPr>
      </p:cxnSp>
      <p:sp>
        <p:nvSpPr>
          <p:cNvPr id="54" name="Google Shape;54;p1"/>
          <p:cNvSpPr/>
          <p:nvPr/>
        </p:nvSpPr>
        <p:spPr>
          <a:xfrm>
            <a:off x="3390824" y="3099816"/>
            <a:ext cx="258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575"/>
              <a:buFont typeface="Arial"/>
              <a:buNone/>
            </a:pPr>
            <a:r>
              <a:rPr b="1" i="0" lang="en-US" sz="1575" u="none" cap="none" strike="noStrike">
                <a:solidFill>
                  <a:srgbClr val="0066CC"/>
                </a:solidFill>
                <a:latin typeface="Arial"/>
                <a:ea typeface="Arial"/>
                <a:cs typeface="Arial"/>
                <a:sym typeface="Arial"/>
              </a:rPr>
              <a:t>Q2</a:t>
            </a:r>
            <a:endParaRPr b="0" i="0" sz="1575" u="none" cap="none" strike="noStrike">
              <a:solidFill>
                <a:schemeClr val="dk1"/>
              </a:solidFill>
              <a:latin typeface="Calibri"/>
              <a:ea typeface="Calibri"/>
              <a:cs typeface="Calibri"/>
              <a:sym typeface="Calibri"/>
            </a:endParaRPr>
          </a:p>
        </p:txBody>
      </p:sp>
      <p:sp>
        <p:nvSpPr>
          <p:cNvPr id="55" name="Google Shape;55;p1"/>
          <p:cNvSpPr/>
          <p:nvPr/>
        </p:nvSpPr>
        <p:spPr>
          <a:xfrm>
            <a:off x="3390824" y="3429000"/>
            <a:ext cx="25863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50"/>
              <a:buFont typeface="Arial"/>
              <a:buNone/>
            </a:pPr>
            <a:r>
              <a:rPr b="1" i="0" lang="en-US" sz="1350" u="none" cap="none" strike="noStrike">
                <a:solidFill>
                  <a:srgbClr val="1D1D1F"/>
                </a:solidFill>
                <a:latin typeface="Arial"/>
                <a:ea typeface="Arial"/>
                <a:cs typeface="Arial"/>
                <a:sym typeface="Arial"/>
              </a:rPr>
              <a:t>Funnel Effect</a:t>
            </a:r>
            <a:endParaRPr b="0" i="0" sz="1350" u="none" cap="none" strike="noStrike">
              <a:solidFill>
                <a:schemeClr val="dk1"/>
              </a:solidFill>
              <a:latin typeface="Calibri"/>
              <a:ea typeface="Calibri"/>
              <a:cs typeface="Calibri"/>
              <a:sym typeface="Calibri"/>
            </a:endParaRPr>
          </a:p>
        </p:txBody>
      </p:sp>
      <p:sp>
        <p:nvSpPr>
          <p:cNvPr id="56" name="Google Shape;56;p1"/>
          <p:cNvSpPr/>
          <p:nvPr/>
        </p:nvSpPr>
        <p:spPr>
          <a:xfrm>
            <a:off x="3390825" y="3794760"/>
            <a:ext cx="2586300" cy="1453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실험 효과가 발생했다면 노출 → 클릭 → 구매 → 매출로 이어지는 퍼널 단계 중 어느 지점에서 가장 큰 성과 차이가 발생했는가?</a:t>
            </a:r>
            <a:endParaRPr b="0" i="0" sz="1100" u="none" cap="none" strike="noStrike">
              <a:solidFill>
                <a:schemeClr val="dk1"/>
              </a:solidFill>
              <a:latin typeface="Calibri"/>
              <a:ea typeface="Calibri"/>
              <a:cs typeface="Calibri"/>
              <a:sym typeface="Calibri"/>
            </a:endParaRPr>
          </a:p>
        </p:txBody>
      </p:sp>
      <p:cxnSp>
        <p:nvCxnSpPr>
          <p:cNvPr id="57" name="Google Shape;57;p1"/>
          <p:cNvCxnSpPr/>
          <p:nvPr/>
        </p:nvCxnSpPr>
        <p:spPr>
          <a:xfrm>
            <a:off x="6095848" y="3099816"/>
            <a:ext cx="0" cy="2148900"/>
          </a:xfrm>
          <a:prstGeom prst="straightConnector1">
            <a:avLst/>
          </a:prstGeom>
          <a:noFill/>
          <a:ln cap="flat" cmpd="sng" w="12700">
            <a:solidFill>
              <a:srgbClr val="E0E0E0"/>
            </a:solidFill>
            <a:prstDash val="solid"/>
            <a:round/>
            <a:headEnd len="sm" w="sm" type="none"/>
            <a:tailEnd len="sm" w="sm" type="none"/>
          </a:ln>
        </p:spPr>
      </p:cxnSp>
      <p:sp>
        <p:nvSpPr>
          <p:cNvPr id="58" name="Google Shape;58;p1"/>
          <p:cNvSpPr/>
          <p:nvPr/>
        </p:nvSpPr>
        <p:spPr>
          <a:xfrm>
            <a:off x="6214720" y="3099816"/>
            <a:ext cx="258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575"/>
              <a:buFont typeface="Arial"/>
              <a:buNone/>
            </a:pPr>
            <a:r>
              <a:rPr b="1" i="0" lang="en-US" sz="1575" u="none" cap="none" strike="noStrike">
                <a:solidFill>
                  <a:srgbClr val="0066CC"/>
                </a:solidFill>
                <a:latin typeface="Arial"/>
                <a:ea typeface="Arial"/>
                <a:cs typeface="Arial"/>
                <a:sym typeface="Arial"/>
              </a:rPr>
              <a:t>Q3</a:t>
            </a:r>
            <a:endParaRPr b="0" i="0" sz="1575" u="none" cap="none" strike="noStrike">
              <a:solidFill>
                <a:schemeClr val="dk1"/>
              </a:solidFill>
              <a:latin typeface="Calibri"/>
              <a:ea typeface="Calibri"/>
              <a:cs typeface="Calibri"/>
              <a:sym typeface="Calibri"/>
            </a:endParaRPr>
          </a:p>
        </p:txBody>
      </p:sp>
      <p:sp>
        <p:nvSpPr>
          <p:cNvPr id="59" name="Google Shape;59;p1"/>
          <p:cNvSpPr/>
          <p:nvPr/>
        </p:nvSpPr>
        <p:spPr>
          <a:xfrm>
            <a:off x="6214720" y="3429000"/>
            <a:ext cx="25863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50"/>
              <a:buFont typeface="Arial"/>
              <a:buNone/>
            </a:pPr>
            <a:r>
              <a:rPr b="1" i="0" lang="en-US" sz="1350" u="none" cap="none" strike="noStrike">
                <a:solidFill>
                  <a:srgbClr val="1D1D1F"/>
                </a:solidFill>
                <a:latin typeface="Arial"/>
                <a:ea typeface="Arial"/>
                <a:cs typeface="Arial"/>
                <a:sym typeface="Arial"/>
              </a:rPr>
              <a:t>Segment Effect</a:t>
            </a:r>
            <a:endParaRPr b="0" i="0" sz="1350" u="none" cap="none" strike="noStrike">
              <a:solidFill>
                <a:schemeClr val="dk1"/>
              </a:solidFill>
              <a:latin typeface="Calibri"/>
              <a:ea typeface="Calibri"/>
              <a:cs typeface="Calibri"/>
              <a:sym typeface="Calibri"/>
            </a:endParaRPr>
          </a:p>
        </p:txBody>
      </p:sp>
      <p:sp>
        <p:nvSpPr>
          <p:cNvPr id="60" name="Google Shape;60;p1"/>
          <p:cNvSpPr/>
          <p:nvPr/>
        </p:nvSpPr>
        <p:spPr>
          <a:xfrm>
            <a:off x="6214720" y="3794760"/>
            <a:ext cx="2586300" cy="1453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날짜·연령·성별에 따라 실험 효과가 다르게 나타나는가?</a:t>
            </a:r>
            <a:endParaRPr b="0" i="0" sz="1100" u="none" cap="none" strike="noStrike">
              <a:solidFill>
                <a:schemeClr val="dk1"/>
              </a:solidFill>
              <a:latin typeface="Calibri"/>
              <a:ea typeface="Calibri"/>
              <a:cs typeface="Calibri"/>
              <a:sym typeface="Calibri"/>
            </a:endParaRPr>
          </a:p>
        </p:txBody>
      </p:sp>
      <p:cxnSp>
        <p:nvCxnSpPr>
          <p:cNvPr id="61" name="Google Shape;61;p1"/>
          <p:cNvCxnSpPr/>
          <p:nvPr/>
        </p:nvCxnSpPr>
        <p:spPr>
          <a:xfrm>
            <a:off x="8919743" y="3099816"/>
            <a:ext cx="0" cy="2148900"/>
          </a:xfrm>
          <a:prstGeom prst="straightConnector1">
            <a:avLst/>
          </a:prstGeom>
          <a:noFill/>
          <a:ln cap="flat" cmpd="sng" w="12700">
            <a:solidFill>
              <a:srgbClr val="E0E0E0"/>
            </a:solidFill>
            <a:prstDash val="solid"/>
            <a:round/>
            <a:headEnd len="sm" w="sm" type="none"/>
            <a:tailEnd len="sm" w="sm" type="none"/>
          </a:ln>
        </p:spPr>
      </p:cxnSp>
      <p:sp>
        <p:nvSpPr>
          <p:cNvPr id="62" name="Google Shape;62;p1"/>
          <p:cNvSpPr/>
          <p:nvPr/>
        </p:nvSpPr>
        <p:spPr>
          <a:xfrm>
            <a:off x="9038615" y="3099816"/>
            <a:ext cx="258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575"/>
              <a:buFont typeface="Arial"/>
              <a:buNone/>
            </a:pPr>
            <a:r>
              <a:rPr b="1" i="0" lang="en-US" sz="1575" u="none" cap="none" strike="noStrike">
                <a:solidFill>
                  <a:srgbClr val="0066CC"/>
                </a:solidFill>
                <a:latin typeface="Arial"/>
                <a:ea typeface="Arial"/>
                <a:cs typeface="Arial"/>
                <a:sym typeface="Arial"/>
              </a:rPr>
              <a:t>Q4</a:t>
            </a:r>
            <a:endParaRPr b="0" i="0" sz="1575" u="none" cap="none" strike="noStrike">
              <a:solidFill>
                <a:schemeClr val="dk1"/>
              </a:solidFill>
              <a:latin typeface="Calibri"/>
              <a:ea typeface="Calibri"/>
              <a:cs typeface="Calibri"/>
              <a:sym typeface="Calibri"/>
            </a:endParaRPr>
          </a:p>
        </p:txBody>
      </p:sp>
      <p:sp>
        <p:nvSpPr>
          <p:cNvPr id="63" name="Google Shape;63;p1"/>
          <p:cNvSpPr/>
          <p:nvPr/>
        </p:nvSpPr>
        <p:spPr>
          <a:xfrm>
            <a:off x="9038615" y="3429000"/>
            <a:ext cx="25863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50"/>
              <a:buFont typeface="Arial"/>
              <a:buNone/>
            </a:pPr>
            <a:r>
              <a:rPr b="1" i="0" lang="en-US" sz="1350" u="none" cap="none" strike="noStrike">
                <a:solidFill>
                  <a:srgbClr val="1D1D1F"/>
                </a:solidFill>
                <a:latin typeface="Arial"/>
                <a:ea typeface="Arial"/>
                <a:cs typeface="Arial"/>
                <a:sym typeface="Arial"/>
              </a:rPr>
              <a:t>Business Decision</a:t>
            </a:r>
            <a:endParaRPr b="0" i="0" sz="1350" u="none" cap="none" strike="noStrike">
              <a:solidFill>
                <a:schemeClr val="dk1"/>
              </a:solidFill>
              <a:latin typeface="Calibri"/>
              <a:ea typeface="Calibri"/>
              <a:cs typeface="Calibri"/>
              <a:sym typeface="Calibri"/>
            </a:endParaRPr>
          </a:p>
        </p:txBody>
      </p:sp>
      <p:sp>
        <p:nvSpPr>
          <p:cNvPr id="64" name="Google Shape;64;p1"/>
          <p:cNvSpPr/>
          <p:nvPr/>
        </p:nvSpPr>
        <p:spPr>
          <a:xfrm>
            <a:off x="9038615" y="3794760"/>
            <a:ext cx="2586300" cy="1453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검정 결과를 바탕으로 실험안을 전체 사용자에게 일괄 적용해야 하는가, 아니면 차등 전략이 필요한가?</a:t>
            </a:r>
            <a:endParaRPr b="0" i="0" sz="1100" u="none" cap="none" strike="noStrike">
              <a:solidFill>
                <a:schemeClr val="dk1"/>
              </a:solidFill>
              <a:latin typeface="Calibri"/>
              <a:ea typeface="Calibri"/>
              <a:cs typeface="Calibri"/>
              <a:sym typeface="Calibri"/>
            </a:endParaRPr>
          </a:p>
        </p:txBody>
      </p:sp>
      <p:sp>
        <p:nvSpPr>
          <p:cNvPr id="65" name="Google Shape;65;p1"/>
          <p:cNvSpPr/>
          <p:nvPr/>
        </p:nvSpPr>
        <p:spPr>
          <a:xfrm>
            <a:off x="566928" y="5775960"/>
            <a:ext cx="1828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1" i="0" lang="en-US" sz="900" u="none" cap="none" strike="noStrike">
                <a:solidFill>
                  <a:srgbClr val="7A7A7A"/>
                </a:solidFill>
                <a:latin typeface="Arial"/>
                <a:ea typeface="Arial"/>
                <a:cs typeface="Arial"/>
                <a:sym typeface="Arial"/>
              </a:rPr>
              <a:t>분석 목표</a:t>
            </a:r>
            <a:endParaRPr b="0" i="0" sz="900" u="none" cap="none" strike="noStrike">
              <a:solidFill>
                <a:schemeClr val="dk1"/>
              </a:solidFill>
              <a:latin typeface="Calibri"/>
              <a:ea typeface="Calibri"/>
              <a:cs typeface="Calibri"/>
              <a:sym typeface="Calibri"/>
            </a:endParaRPr>
          </a:p>
        </p:txBody>
      </p:sp>
      <p:sp>
        <p:nvSpPr>
          <p:cNvPr id="66" name="Google Shape;66;p1"/>
          <p:cNvSpPr/>
          <p:nvPr/>
        </p:nvSpPr>
        <p:spPr>
          <a:xfrm>
            <a:off x="0" y="5742432"/>
            <a:ext cx="12191700" cy="731400"/>
          </a:xfrm>
          <a:prstGeom prst="rect">
            <a:avLst/>
          </a:prstGeom>
          <a:solidFill>
            <a:srgbClr val="F5F5F7"/>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300" u="none" cap="none" strike="noStrike">
                <a:solidFill>
                  <a:srgbClr val="0066CC"/>
                </a:solidFill>
                <a:latin typeface="Arial"/>
                <a:ea typeface="Arial"/>
                <a:cs typeface="Arial"/>
                <a:sym typeface="Arial"/>
              </a:rPr>
              <a:t>핵심:</a:t>
            </a:r>
            <a:r>
              <a:rPr b="1" i="0" lang="en-US" sz="1300" u="none" cap="none" strike="noStrike">
                <a:solidFill>
                  <a:srgbClr val="1D1D1F"/>
                </a:solidFill>
                <a:latin typeface="Arial"/>
                <a:ea typeface="Arial"/>
                <a:cs typeface="Arial"/>
                <a:sym typeface="Arial"/>
              </a:rPr>
              <a:t> </a:t>
            </a:r>
            <a:r>
              <a:rPr b="0" i="0" lang="en-US" sz="1300" u="none" cap="none" strike="noStrike">
                <a:solidFill>
                  <a:srgbClr val="1D1D1F"/>
                </a:solidFill>
                <a:latin typeface="Arial"/>
                <a:ea typeface="Arial"/>
                <a:cs typeface="Arial"/>
                <a:sym typeface="Arial"/>
              </a:rPr>
              <a:t>실험 효과의 존재 여부뿐 아니라 “어디에서, 누구에게, 얼마나 유의하게” 나타났는지 의사결정 가능한 형태로 검증한다.</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2"/>
          <p:cNvSpPr/>
          <p:nvPr/>
        </p:nvSpPr>
        <p:spPr>
          <a:xfrm>
            <a:off x="566928" y="420624"/>
            <a:ext cx="54864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PROCESS</a:t>
            </a:r>
            <a:endParaRPr b="0" i="0" sz="1050" u="none" cap="none" strike="noStrike">
              <a:solidFill>
                <a:schemeClr val="dk1"/>
              </a:solidFill>
              <a:latin typeface="Calibri"/>
              <a:ea typeface="Calibri"/>
              <a:cs typeface="Calibri"/>
              <a:sym typeface="Calibri"/>
            </a:endParaRPr>
          </a:p>
        </p:txBody>
      </p:sp>
      <p:sp>
        <p:nvSpPr>
          <p:cNvPr id="74" name="Google Shape;74;p2"/>
          <p:cNvSpPr/>
          <p:nvPr/>
        </p:nvSpPr>
        <p:spPr>
          <a:xfrm>
            <a:off x="566928" y="713232"/>
            <a:ext cx="11057839"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프로젝트 분석 프로세스 (Analysis Roadmap)</a:t>
            </a:r>
            <a:endParaRPr b="0" i="0" sz="3000" u="none" cap="none" strike="noStrike">
              <a:solidFill>
                <a:schemeClr val="dk1"/>
              </a:solidFill>
              <a:latin typeface="Calibri"/>
              <a:ea typeface="Calibri"/>
              <a:cs typeface="Calibri"/>
              <a:sym typeface="Calibri"/>
            </a:endParaRPr>
          </a:p>
        </p:txBody>
      </p:sp>
      <p:sp>
        <p:nvSpPr>
          <p:cNvPr id="75" name="Google Shape;75;p2"/>
          <p:cNvSpPr/>
          <p:nvPr/>
        </p:nvSpPr>
        <p:spPr>
          <a:xfrm>
            <a:off x="566928" y="1316736"/>
            <a:ext cx="1105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원천 데이터 구축부터 통계 검정·대시보드·비즈니스 액션까지 연결한 분석 프로세스</a:t>
            </a:r>
            <a:endParaRPr b="0" i="0" sz="1275" u="none" cap="none" strike="noStrike">
              <a:solidFill>
                <a:schemeClr val="dk1"/>
              </a:solidFill>
              <a:latin typeface="Calibri"/>
              <a:ea typeface="Calibri"/>
              <a:cs typeface="Calibri"/>
              <a:sym typeface="Calibri"/>
            </a:endParaRPr>
          </a:p>
        </p:txBody>
      </p:sp>
      <p:cxnSp>
        <p:nvCxnSpPr>
          <p:cNvPr id="76" name="Google Shape;76;p2"/>
          <p:cNvCxnSpPr/>
          <p:nvPr/>
        </p:nvCxnSpPr>
        <p:spPr>
          <a:xfrm>
            <a:off x="749808" y="2578608"/>
            <a:ext cx="10692000" cy="0"/>
          </a:xfrm>
          <a:prstGeom prst="straightConnector1">
            <a:avLst/>
          </a:prstGeom>
          <a:noFill/>
          <a:ln cap="flat" cmpd="sng" w="12700">
            <a:solidFill>
              <a:srgbClr val="E0E0E0"/>
            </a:solidFill>
            <a:prstDash val="solid"/>
            <a:round/>
            <a:headEnd len="sm" w="sm" type="none"/>
            <a:tailEnd len="sm" w="sm" type="none"/>
          </a:ln>
        </p:spPr>
      </p:cxnSp>
      <p:sp>
        <p:nvSpPr>
          <p:cNvPr id="77" name="Google Shape;77;p2"/>
          <p:cNvSpPr/>
          <p:nvPr/>
        </p:nvSpPr>
        <p:spPr>
          <a:xfrm>
            <a:off x="1188720" y="2377440"/>
            <a:ext cx="402300" cy="4023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1188720" y="2377440"/>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100" u="none" cap="none" strike="noStrike">
                <a:solidFill>
                  <a:srgbClr val="1D1D1F"/>
                </a:solidFill>
                <a:latin typeface="Arial"/>
                <a:ea typeface="Arial"/>
                <a:cs typeface="Arial"/>
                <a:sym typeface="Arial"/>
              </a:rPr>
              <a:t>01</a:t>
            </a:r>
            <a:endParaRPr b="0" i="0" sz="1050" u="none" cap="none" strike="noStrike">
              <a:solidFill>
                <a:schemeClr val="dk1"/>
              </a:solidFill>
              <a:latin typeface="Calibri"/>
              <a:ea typeface="Calibri"/>
              <a:cs typeface="Calibri"/>
              <a:sym typeface="Calibri"/>
            </a:endParaRPr>
          </a:p>
        </p:txBody>
      </p:sp>
      <p:sp>
        <p:nvSpPr>
          <p:cNvPr id="79" name="Google Shape;79;p2"/>
          <p:cNvSpPr/>
          <p:nvPr/>
        </p:nvSpPr>
        <p:spPr>
          <a:xfrm>
            <a:off x="566928" y="3017520"/>
            <a:ext cx="16449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원천 데이터 적재 &amp; DB 구축</a:t>
            </a:r>
            <a:endParaRPr b="0" i="0" sz="1200" u="none" cap="none" strike="noStrike">
              <a:solidFill>
                <a:schemeClr val="dk1"/>
              </a:solidFill>
              <a:latin typeface="Calibri"/>
              <a:ea typeface="Calibri"/>
              <a:cs typeface="Calibri"/>
              <a:sym typeface="Calibri"/>
            </a:endParaRPr>
          </a:p>
        </p:txBody>
      </p:sp>
      <p:sp>
        <p:nvSpPr>
          <p:cNvPr id="80" name="Google Shape;80;p2"/>
          <p:cNvSpPr/>
          <p:nvPr/>
        </p:nvSpPr>
        <p:spPr>
          <a:xfrm>
            <a:off x="566928" y="3648456"/>
            <a:ext cx="1644900" cy="1188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000"/>
              <a:buFont typeface="Arial"/>
              <a:buNone/>
            </a:pPr>
            <a:r>
              <a:rPr b="0" i="0" lang="en-US" sz="1050" u="none" cap="none" strike="noStrike">
                <a:solidFill>
                  <a:srgbClr val="7A7A7A"/>
                </a:solidFill>
                <a:latin typeface="Arial"/>
                <a:ea typeface="Arial"/>
                <a:cs typeface="Arial"/>
                <a:sym typeface="Arial"/>
              </a:rPr>
              <a:t>Amazon S3 기반 외부 CSV 데이터(10,000명 사용자, 97만 건 로그) 수집 및 EDA 후 관계형 스키마 설계</a:t>
            </a:r>
            <a:endParaRPr b="0" i="0" sz="1000" u="none" cap="none" strike="noStrike">
              <a:solidFill>
                <a:schemeClr val="dk1"/>
              </a:solidFill>
              <a:latin typeface="Calibri"/>
              <a:ea typeface="Calibri"/>
              <a:cs typeface="Calibri"/>
              <a:sym typeface="Calibri"/>
            </a:endParaRPr>
          </a:p>
        </p:txBody>
      </p:sp>
      <p:sp>
        <p:nvSpPr>
          <p:cNvPr id="81" name="Google Shape;81;p2"/>
          <p:cNvSpPr/>
          <p:nvPr/>
        </p:nvSpPr>
        <p:spPr>
          <a:xfrm>
            <a:off x="3072384" y="2377440"/>
            <a:ext cx="402300" cy="4023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3072384" y="2377440"/>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100" u="none" cap="none" strike="noStrike">
                <a:solidFill>
                  <a:srgbClr val="1D1D1F"/>
                </a:solidFill>
                <a:latin typeface="Arial"/>
                <a:ea typeface="Arial"/>
                <a:cs typeface="Arial"/>
                <a:sym typeface="Arial"/>
              </a:rPr>
              <a:t>02</a:t>
            </a:r>
            <a:endParaRPr b="0" i="0" sz="1050" u="none" cap="none" strike="noStrike">
              <a:solidFill>
                <a:schemeClr val="dk1"/>
              </a:solidFill>
              <a:latin typeface="Calibri"/>
              <a:ea typeface="Calibri"/>
              <a:cs typeface="Calibri"/>
              <a:sym typeface="Calibri"/>
            </a:endParaRPr>
          </a:p>
        </p:txBody>
      </p:sp>
      <p:sp>
        <p:nvSpPr>
          <p:cNvPr id="83" name="Google Shape;83;p2"/>
          <p:cNvSpPr/>
          <p:nvPr/>
        </p:nvSpPr>
        <p:spPr>
          <a:xfrm>
            <a:off x="2449525" y="3017520"/>
            <a:ext cx="16449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A/A 무작위 배정 &amp; 품질 검증</a:t>
            </a:r>
            <a:endParaRPr b="0" i="0" sz="1200" u="none" cap="none" strike="noStrike">
              <a:solidFill>
                <a:schemeClr val="dk1"/>
              </a:solidFill>
              <a:latin typeface="Calibri"/>
              <a:ea typeface="Calibri"/>
              <a:cs typeface="Calibri"/>
              <a:sym typeface="Calibri"/>
            </a:endParaRPr>
          </a:p>
        </p:txBody>
      </p:sp>
      <p:sp>
        <p:nvSpPr>
          <p:cNvPr id="84" name="Google Shape;84;p2"/>
          <p:cNvSpPr/>
          <p:nvPr/>
        </p:nvSpPr>
        <p:spPr>
          <a:xfrm>
            <a:off x="2449525" y="3648456"/>
            <a:ext cx="1644900" cy="1188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000"/>
              <a:buFont typeface="Arial"/>
              <a:buNone/>
            </a:pPr>
            <a:r>
              <a:rPr b="0" i="0" lang="en-US" sz="1050" u="none" cap="none" strike="noStrike">
                <a:solidFill>
                  <a:srgbClr val="7A7A7A"/>
                </a:solidFill>
                <a:latin typeface="Arial"/>
                <a:ea typeface="Arial"/>
                <a:cs typeface="Arial"/>
                <a:sym typeface="Arial"/>
              </a:rPr>
              <a:t>Hash 기반 50:50 배정 후, 단일표본 t-검정(p=0.127)을 실시하여 실험군/대조군 간 배정 편향이 없음을 검증</a:t>
            </a:r>
            <a:endParaRPr b="0" i="0" sz="1000" u="none" cap="none" strike="noStrike">
              <a:solidFill>
                <a:schemeClr val="dk1"/>
              </a:solidFill>
              <a:latin typeface="Calibri"/>
              <a:ea typeface="Calibri"/>
              <a:cs typeface="Calibri"/>
              <a:sym typeface="Calibri"/>
            </a:endParaRPr>
          </a:p>
        </p:txBody>
      </p:sp>
      <p:sp>
        <p:nvSpPr>
          <p:cNvPr id="85" name="Google Shape;85;p2"/>
          <p:cNvSpPr/>
          <p:nvPr/>
        </p:nvSpPr>
        <p:spPr>
          <a:xfrm>
            <a:off x="4956048" y="2377440"/>
            <a:ext cx="402300" cy="4023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4956048" y="2377440"/>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100" u="none" cap="none" strike="noStrike">
                <a:solidFill>
                  <a:srgbClr val="1D1D1F"/>
                </a:solidFill>
                <a:latin typeface="Arial"/>
                <a:ea typeface="Arial"/>
                <a:cs typeface="Arial"/>
                <a:sym typeface="Arial"/>
              </a:rPr>
              <a:t>03</a:t>
            </a:r>
            <a:endParaRPr b="0" i="0" sz="1050" u="none" cap="none" strike="noStrike">
              <a:solidFill>
                <a:schemeClr val="dk1"/>
              </a:solidFill>
              <a:latin typeface="Calibri"/>
              <a:ea typeface="Calibri"/>
              <a:cs typeface="Calibri"/>
              <a:sym typeface="Calibri"/>
            </a:endParaRPr>
          </a:p>
        </p:txBody>
      </p:sp>
      <p:sp>
        <p:nvSpPr>
          <p:cNvPr id="87" name="Google Shape;87;p2"/>
          <p:cNvSpPr/>
          <p:nvPr/>
        </p:nvSpPr>
        <p:spPr>
          <a:xfrm>
            <a:off x="4332122" y="3017520"/>
            <a:ext cx="16449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전체 사용자 수준 A/B 효과 검정</a:t>
            </a:r>
            <a:endParaRPr b="0" i="0" sz="1200" u="none" cap="none" strike="noStrike">
              <a:solidFill>
                <a:schemeClr val="dk1"/>
              </a:solidFill>
              <a:latin typeface="Calibri"/>
              <a:ea typeface="Calibri"/>
              <a:cs typeface="Calibri"/>
              <a:sym typeface="Calibri"/>
            </a:endParaRPr>
          </a:p>
        </p:txBody>
      </p:sp>
      <p:sp>
        <p:nvSpPr>
          <p:cNvPr id="88" name="Google Shape;88;p2"/>
          <p:cNvSpPr/>
          <p:nvPr/>
        </p:nvSpPr>
        <p:spPr>
          <a:xfrm>
            <a:off x="4332122" y="3648456"/>
            <a:ext cx="1644900" cy="1188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000"/>
              <a:buFont typeface="Arial"/>
              <a:buNone/>
            </a:pPr>
            <a:r>
              <a:rPr b="0" i="0" lang="en-US" sz="1050" u="none" cap="none" strike="noStrike">
                <a:solidFill>
                  <a:srgbClr val="7A7A7A"/>
                </a:solidFill>
                <a:latin typeface="Arial"/>
                <a:ea typeface="Arial"/>
                <a:cs typeface="Arial"/>
                <a:sym typeface="Arial"/>
              </a:rPr>
              <a:t>사용자-일 단위 분석 테이블을 구성하여 노출·클릭·구매·매출 평균 차이에 대해 독립표본 t-검정 수행</a:t>
            </a:r>
            <a:endParaRPr b="0" i="0" sz="1000" u="none" cap="none" strike="noStrike">
              <a:solidFill>
                <a:schemeClr val="dk1"/>
              </a:solidFill>
              <a:latin typeface="Calibri"/>
              <a:ea typeface="Calibri"/>
              <a:cs typeface="Calibri"/>
              <a:sym typeface="Calibri"/>
            </a:endParaRPr>
          </a:p>
        </p:txBody>
      </p:sp>
      <p:sp>
        <p:nvSpPr>
          <p:cNvPr id="89" name="Google Shape;89;p2"/>
          <p:cNvSpPr/>
          <p:nvPr/>
        </p:nvSpPr>
        <p:spPr>
          <a:xfrm>
            <a:off x="6839712" y="2377440"/>
            <a:ext cx="402300" cy="4023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6839712" y="2377440"/>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100" u="none" cap="none" strike="noStrike">
                <a:solidFill>
                  <a:srgbClr val="1D1D1F"/>
                </a:solidFill>
                <a:latin typeface="Arial"/>
                <a:ea typeface="Arial"/>
                <a:cs typeface="Arial"/>
                <a:sym typeface="Arial"/>
              </a:rPr>
              <a:t>04</a:t>
            </a:r>
            <a:endParaRPr b="0" i="0" sz="1050" u="none" cap="none" strike="noStrike">
              <a:solidFill>
                <a:schemeClr val="dk1"/>
              </a:solidFill>
              <a:latin typeface="Calibri"/>
              <a:ea typeface="Calibri"/>
              <a:cs typeface="Calibri"/>
              <a:sym typeface="Calibri"/>
            </a:endParaRPr>
          </a:p>
        </p:txBody>
      </p:sp>
      <p:sp>
        <p:nvSpPr>
          <p:cNvPr id="91" name="Google Shape;91;p2"/>
          <p:cNvSpPr/>
          <p:nvPr/>
        </p:nvSpPr>
        <p:spPr>
          <a:xfrm>
            <a:off x="6214720" y="3017520"/>
            <a:ext cx="16449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OLAP 기반 집계 테이블 구축</a:t>
            </a:r>
            <a:endParaRPr b="0" i="0" sz="1200" u="none" cap="none" strike="noStrike">
              <a:solidFill>
                <a:schemeClr val="dk1"/>
              </a:solidFill>
              <a:latin typeface="Calibri"/>
              <a:ea typeface="Calibri"/>
              <a:cs typeface="Calibri"/>
              <a:sym typeface="Calibri"/>
            </a:endParaRPr>
          </a:p>
        </p:txBody>
      </p:sp>
      <p:sp>
        <p:nvSpPr>
          <p:cNvPr id="92" name="Google Shape;92;p2"/>
          <p:cNvSpPr/>
          <p:nvPr/>
        </p:nvSpPr>
        <p:spPr>
          <a:xfrm>
            <a:off x="6214720" y="3648456"/>
            <a:ext cx="1644900" cy="1188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000"/>
              <a:buFont typeface="Arial"/>
              <a:buNone/>
            </a:pPr>
            <a:r>
              <a:rPr b="0" i="0" lang="en-US" sz="1050" u="none" cap="none" strike="noStrike">
                <a:solidFill>
                  <a:srgbClr val="7A7A7A"/>
                </a:solidFill>
                <a:latin typeface="Arial"/>
                <a:ea typeface="Arial"/>
                <a:cs typeface="Arial"/>
                <a:sym typeface="Arial"/>
              </a:rPr>
              <a:t>세그먼트별 z-test 사전 계산을 위해 날짜×연령×성별 차원 기반 n·sum·sum2 통계량 OLAP CUBE 생성</a:t>
            </a:r>
            <a:endParaRPr b="0" i="0" sz="1000" u="none" cap="none" strike="noStrike">
              <a:solidFill>
                <a:schemeClr val="dk1"/>
              </a:solidFill>
              <a:latin typeface="Calibri"/>
              <a:ea typeface="Calibri"/>
              <a:cs typeface="Calibri"/>
              <a:sym typeface="Calibri"/>
            </a:endParaRPr>
          </a:p>
        </p:txBody>
      </p:sp>
      <p:sp>
        <p:nvSpPr>
          <p:cNvPr id="93" name="Google Shape;93;p2"/>
          <p:cNvSpPr/>
          <p:nvPr/>
        </p:nvSpPr>
        <p:spPr>
          <a:xfrm>
            <a:off x="8723376" y="2377440"/>
            <a:ext cx="402300" cy="4023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8723376" y="2377440"/>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100" u="none" cap="none" strike="noStrike">
                <a:solidFill>
                  <a:srgbClr val="1D1D1F"/>
                </a:solidFill>
                <a:latin typeface="Arial"/>
                <a:ea typeface="Arial"/>
                <a:cs typeface="Arial"/>
                <a:sym typeface="Arial"/>
              </a:rPr>
              <a:t>05</a:t>
            </a:r>
            <a:endParaRPr b="0" i="0" sz="1050" u="none" cap="none" strike="noStrike">
              <a:solidFill>
                <a:schemeClr val="dk1"/>
              </a:solidFill>
              <a:latin typeface="Calibri"/>
              <a:ea typeface="Calibri"/>
              <a:cs typeface="Calibri"/>
              <a:sym typeface="Calibri"/>
            </a:endParaRPr>
          </a:p>
        </p:txBody>
      </p:sp>
      <p:sp>
        <p:nvSpPr>
          <p:cNvPr id="95" name="Google Shape;95;p2"/>
          <p:cNvSpPr/>
          <p:nvPr/>
        </p:nvSpPr>
        <p:spPr>
          <a:xfrm>
            <a:off x="8097317" y="3017520"/>
            <a:ext cx="16449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KPI &amp; 세그먼트 대시보드 구축</a:t>
            </a:r>
            <a:endParaRPr b="0" i="0" sz="1200" u="none" cap="none" strike="noStrike">
              <a:solidFill>
                <a:schemeClr val="dk1"/>
              </a:solidFill>
              <a:latin typeface="Calibri"/>
              <a:ea typeface="Calibri"/>
              <a:cs typeface="Calibri"/>
              <a:sym typeface="Calibri"/>
            </a:endParaRPr>
          </a:p>
        </p:txBody>
      </p:sp>
      <p:sp>
        <p:nvSpPr>
          <p:cNvPr id="96" name="Google Shape;96;p2"/>
          <p:cNvSpPr/>
          <p:nvPr/>
        </p:nvSpPr>
        <p:spPr>
          <a:xfrm>
            <a:off x="8097317" y="3648456"/>
            <a:ext cx="1644900" cy="1188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000"/>
              <a:buFont typeface="Arial"/>
              <a:buNone/>
            </a:pPr>
            <a:r>
              <a:rPr b="0" i="0" lang="en-US" sz="1050" u="none" cap="none" strike="noStrike">
                <a:solidFill>
                  <a:srgbClr val="7A7A7A"/>
                </a:solidFill>
                <a:latin typeface="Arial"/>
                <a:ea typeface="Arial"/>
                <a:cs typeface="Arial"/>
                <a:sym typeface="Arial"/>
              </a:rPr>
              <a:t>Tableau를 통해 CTR·CVR·AOV·ARPU 추이 모니터링 및 Z-test 유의성 동적 색상 탐색 대시보드 구현</a:t>
            </a:r>
            <a:endParaRPr b="0" i="0" sz="1000" u="none" cap="none" strike="noStrike">
              <a:solidFill>
                <a:schemeClr val="dk1"/>
              </a:solidFill>
              <a:latin typeface="Calibri"/>
              <a:ea typeface="Calibri"/>
              <a:cs typeface="Calibri"/>
              <a:sym typeface="Calibri"/>
            </a:endParaRPr>
          </a:p>
        </p:txBody>
      </p:sp>
      <p:sp>
        <p:nvSpPr>
          <p:cNvPr id="97" name="Google Shape;97;p2"/>
          <p:cNvSpPr/>
          <p:nvPr/>
        </p:nvSpPr>
        <p:spPr>
          <a:xfrm>
            <a:off x="10597896" y="2377440"/>
            <a:ext cx="402300" cy="4023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10597896" y="2377440"/>
            <a:ext cx="4023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100" u="none" cap="none" strike="noStrike">
                <a:solidFill>
                  <a:srgbClr val="1D1D1F"/>
                </a:solidFill>
                <a:latin typeface="Arial"/>
                <a:ea typeface="Arial"/>
                <a:cs typeface="Arial"/>
                <a:sym typeface="Arial"/>
              </a:rPr>
              <a:t>06</a:t>
            </a:r>
            <a:endParaRPr b="0" i="0" sz="1050" u="none" cap="none" strike="noStrike">
              <a:solidFill>
                <a:schemeClr val="dk1"/>
              </a:solidFill>
              <a:latin typeface="Calibri"/>
              <a:ea typeface="Calibri"/>
              <a:cs typeface="Calibri"/>
              <a:sym typeface="Calibri"/>
            </a:endParaRPr>
          </a:p>
        </p:txBody>
      </p:sp>
      <p:sp>
        <p:nvSpPr>
          <p:cNvPr id="99" name="Google Shape;99;p2"/>
          <p:cNvSpPr/>
          <p:nvPr/>
        </p:nvSpPr>
        <p:spPr>
          <a:xfrm>
            <a:off x="9979914" y="3017520"/>
            <a:ext cx="16449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1D1F"/>
              </a:buClr>
              <a:buSzPts val="1200"/>
              <a:buFont typeface="Arial"/>
              <a:buNone/>
            </a:pPr>
            <a:r>
              <a:rPr b="1" i="0" lang="en-US" sz="1300" u="none" cap="none" strike="noStrike">
                <a:solidFill>
                  <a:srgbClr val="1D1D1F"/>
                </a:solidFill>
                <a:latin typeface="Arial"/>
                <a:ea typeface="Arial"/>
                <a:cs typeface="Arial"/>
                <a:sym typeface="Arial"/>
              </a:rPr>
              <a:t>인사이트 도출 &amp; 액션 제안</a:t>
            </a:r>
            <a:endParaRPr b="0" i="0" sz="1200" u="none" cap="none" strike="noStrike">
              <a:solidFill>
                <a:schemeClr val="dk1"/>
              </a:solidFill>
              <a:latin typeface="Calibri"/>
              <a:ea typeface="Calibri"/>
              <a:cs typeface="Calibri"/>
              <a:sym typeface="Calibri"/>
            </a:endParaRPr>
          </a:p>
        </p:txBody>
      </p:sp>
      <p:sp>
        <p:nvSpPr>
          <p:cNvPr id="100" name="Google Shape;100;p2"/>
          <p:cNvSpPr/>
          <p:nvPr/>
        </p:nvSpPr>
        <p:spPr>
          <a:xfrm>
            <a:off x="9979914" y="3648456"/>
            <a:ext cx="1644900" cy="1188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A7A7A"/>
              </a:buClr>
              <a:buSzPts val="1000"/>
              <a:buFont typeface="Arial"/>
              <a:buNone/>
            </a:pPr>
            <a:r>
              <a:rPr b="0" i="0" lang="en-US" sz="1050" u="none" cap="none" strike="noStrike">
                <a:solidFill>
                  <a:srgbClr val="7A7A7A"/>
                </a:solidFill>
                <a:latin typeface="Arial"/>
                <a:ea typeface="Arial"/>
                <a:cs typeface="Arial"/>
                <a:sym typeface="Arial"/>
              </a:rPr>
              <a:t>인사이트 기반 세그먼트별 차등 전략 제시</a:t>
            </a:r>
            <a:endParaRPr b="0" i="0" sz="1000" u="none" cap="none" strike="noStrike">
              <a:solidFill>
                <a:schemeClr val="dk1"/>
              </a:solidFill>
              <a:latin typeface="Calibri"/>
              <a:ea typeface="Calibri"/>
              <a:cs typeface="Calibri"/>
              <a:sym typeface="Calibri"/>
            </a:endParaRPr>
          </a:p>
        </p:txBody>
      </p:sp>
      <p:sp>
        <p:nvSpPr>
          <p:cNvPr id="101" name="Google Shape;101;p2"/>
          <p:cNvSpPr/>
          <p:nvPr/>
        </p:nvSpPr>
        <p:spPr>
          <a:xfrm>
            <a:off x="0" y="5742432"/>
            <a:ext cx="12191700" cy="731400"/>
          </a:xfrm>
          <a:prstGeom prst="rect">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p:nvPr/>
        </p:nvSpPr>
        <p:spPr>
          <a:xfrm>
            <a:off x="566928" y="6013704"/>
            <a:ext cx="11057700" cy="749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1D1F"/>
              </a:buClr>
              <a:buSzPts val="145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원천 데이터 적재부터 </a:t>
            </a:r>
            <a:r>
              <a:rPr b="0" i="0" lang="en-US" sz="1300" u="none" cap="none" strike="noStrike">
                <a:solidFill>
                  <a:srgbClr val="0066CC"/>
                </a:solidFill>
                <a:latin typeface="Arial"/>
                <a:ea typeface="Arial"/>
                <a:cs typeface="Arial"/>
                <a:sym typeface="Arial"/>
              </a:rPr>
              <a:t>통계 검정·대시보드·액션 제안</a:t>
            </a:r>
            <a:r>
              <a:rPr b="0" i="0" lang="en-US" sz="1300" u="none" cap="none" strike="noStrike">
                <a:solidFill>
                  <a:srgbClr val="1D1D1F"/>
                </a:solidFill>
                <a:latin typeface="Arial"/>
                <a:ea typeface="Arial"/>
                <a:cs typeface="Arial"/>
                <a:sym typeface="Arial"/>
              </a:rPr>
              <a:t>까지 이어지는 6단계 엔드투엔드 분석 파이프라인이다.</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3"/>
          <p:cNvSpPr/>
          <p:nvPr/>
        </p:nvSpPr>
        <p:spPr>
          <a:xfrm>
            <a:off x="0" y="5742432"/>
            <a:ext cx="12191700" cy="731400"/>
          </a:xfrm>
          <a:prstGeom prst="rect">
            <a:avLst/>
          </a:prstGeom>
          <a:solidFill>
            <a:srgbClr val="F5F5F7"/>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566928" y="420624"/>
            <a:ext cx="54864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DATA OVERVIEW</a:t>
            </a:r>
            <a:endParaRPr b="0" i="0" sz="1050" u="none" cap="none" strike="noStrike">
              <a:solidFill>
                <a:schemeClr val="dk1"/>
              </a:solidFill>
              <a:latin typeface="Calibri"/>
              <a:ea typeface="Calibri"/>
              <a:cs typeface="Calibri"/>
              <a:sym typeface="Calibri"/>
            </a:endParaRPr>
          </a:p>
        </p:txBody>
      </p:sp>
      <p:sp>
        <p:nvSpPr>
          <p:cNvPr id="110" name="Google Shape;110;p3"/>
          <p:cNvSpPr/>
          <p:nvPr/>
        </p:nvSpPr>
        <p:spPr>
          <a:xfrm>
            <a:off x="566928" y="713232"/>
            <a:ext cx="11057839"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1-1. 데이터셋 개요 및 EDA</a:t>
            </a:r>
            <a:endParaRPr b="0" i="0" sz="3000" u="none" cap="none" strike="noStrike">
              <a:solidFill>
                <a:schemeClr val="dk1"/>
              </a:solidFill>
              <a:latin typeface="Calibri"/>
              <a:ea typeface="Calibri"/>
              <a:cs typeface="Calibri"/>
              <a:sym typeface="Calibri"/>
            </a:endParaRPr>
          </a:p>
        </p:txBody>
      </p:sp>
      <p:sp>
        <p:nvSpPr>
          <p:cNvPr id="111" name="Google Shape;111;p3"/>
          <p:cNvSpPr/>
          <p:nvPr/>
        </p:nvSpPr>
        <p:spPr>
          <a:xfrm>
            <a:off x="566928" y="1316736"/>
            <a:ext cx="1105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A/B 테스트 행동 데이터셋의 구조와 실험 트래픽 특성 확인</a:t>
            </a:r>
            <a:endParaRPr b="0" i="0" sz="1275" u="none" cap="none" strike="noStrike">
              <a:solidFill>
                <a:schemeClr val="dk1"/>
              </a:solidFill>
              <a:latin typeface="Calibri"/>
              <a:ea typeface="Calibri"/>
              <a:cs typeface="Calibri"/>
              <a:sym typeface="Calibri"/>
            </a:endParaRPr>
          </a:p>
        </p:txBody>
      </p:sp>
      <p:sp>
        <p:nvSpPr>
          <p:cNvPr id="112" name="Google Shape;112;p3"/>
          <p:cNvSpPr/>
          <p:nvPr/>
        </p:nvSpPr>
        <p:spPr>
          <a:xfrm>
            <a:off x="566928" y="1709928"/>
            <a:ext cx="42063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Dataset Overview</a:t>
            </a:r>
            <a:endParaRPr b="0" i="0" sz="1575" u="none" cap="none" strike="noStrike">
              <a:solidFill>
                <a:schemeClr val="dk1"/>
              </a:solidFill>
              <a:latin typeface="Calibri"/>
              <a:ea typeface="Calibri"/>
              <a:cs typeface="Calibri"/>
              <a:sym typeface="Calibri"/>
            </a:endParaRPr>
          </a:p>
        </p:txBody>
      </p:sp>
      <p:sp>
        <p:nvSpPr>
          <p:cNvPr id="113" name="Google Shape;113;p3"/>
          <p:cNvSpPr/>
          <p:nvPr/>
        </p:nvSpPr>
        <p:spPr>
          <a:xfrm>
            <a:off x="1709928" y="2075688"/>
            <a:ext cx="1920300" cy="292500"/>
          </a:xfrm>
          <a:prstGeom prst="roundRect">
            <a:avLst>
              <a:gd fmla="val 18750" name="adj"/>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a:off x="1709928" y="2075688"/>
            <a:ext cx="19203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10,000 Users</a:t>
            </a:r>
            <a:endParaRPr b="0" i="0" sz="1100" u="none" cap="none" strike="noStrike">
              <a:solidFill>
                <a:schemeClr val="dk1"/>
              </a:solidFill>
              <a:latin typeface="Calibri"/>
              <a:ea typeface="Calibri"/>
              <a:cs typeface="Calibri"/>
              <a:sym typeface="Calibri"/>
            </a:endParaRPr>
          </a:p>
        </p:txBody>
      </p:sp>
      <p:cxnSp>
        <p:nvCxnSpPr>
          <p:cNvPr id="115" name="Google Shape;115;p3"/>
          <p:cNvCxnSpPr/>
          <p:nvPr/>
        </p:nvCxnSpPr>
        <p:spPr>
          <a:xfrm>
            <a:off x="2670048" y="2368296"/>
            <a:ext cx="0" cy="118800"/>
          </a:xfrm>
          <a:prstGeom prst="straightConnector1">
            <a:avLst/>
          </a:prstGeom>
          <a:noFill/>
          <a:ln cap="flat" cmpd="sng" w="12700">
            <a:solidFill>
              <a:srgbClr val="D2D2D7"/>
            </a:solidFill>
            <a:prstDash val="solid"/>
            <a:round/>
            <a:headEnd len="sm" w="sm" type="none"/>
            <a:tailEnd len="sm" w="sm" type="none"/>
          </a:ln>
        </p:spPr>
      </p:cxnSp>
      <p:sp>
        <p:nvSpPr>
          <p:cNvPr id="116" name="Google Shape;116;p3"/>
          <p:cNvSpPr/>
          <p:nvPr/>
        </p:nvSpPr>
        <p:spPr>
          <a:xfrm>
            <a:off x="1709928" y="2487168"/>
            <a:ext cx="1920300" cy="292500"/>
          </a:xfrm>
          <a:prstGeom prst="roundRect">
            <a:avLst>
              <a:gd fmla="val 18750" name="adj"/>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a:off x="1709928" y="2487168"/>
            <a:ext cx="19203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A/B Assignment</a:t>
            </a:r>
            <a:endParaRPr b="0" i="0" sz="1100" u="none" cap="none" strike="noStrike">
              <a:solidFill>
                <a:schemeClr val="dk1"/>
              </a:solidFill>
              <a:latin typeface="Calibri"/>
              <a:ea typeface="Calibri"/>
              <a:cs typeface="Calibri"/>
              <a:sym typeface="Calibri"/>
            </a:endParaRPr>
          </a:p>
        </p:txBody>
      </p:sp>
      <p:cxnSp>
        <p:nvCxnSpPr>
          <p:cNvPr id="118" name="Google Shape;118;p3"/>
          <p:cNvCxnSpPr/>
          <p:nvPr/>
        </p:nvCxnSpPr>
        <p:spPr>
          <a:xfrm>
            <a:off x="2670048" y="2779776"/>
            <a:ext cx="0" cy="118800"/>
          </a:xfrm>
          <a:prstGeom prst="straightConnector1">
            <a:avLst/>
          </a:prstGeom>
          <a:noFill/>
          <a:ln cap="flat" cmpd="sng" w="12700">
            <a:solidFill>
              <a:srgbClr val="D2D2D7"/>
            </a:solidFill>
            <a:prstDash val="solid"/>
            <a:round/>
            <a:headEnd len="sm" w="sm" type="none"/>
            <a:tailEnd len="sm" w="sm" type="none"/>
          </a:ln>
        </p:spPr>
      </p:cxnSp>
      <p:cxnSp>
        <p:nvCxnSpPr>
          <p:cNvPr id="119" name="Google Shape;119;p3"/>
          <p:cNvCxnSpPr/>
          <p:nvPr/>
        </p:nvCxnSpPr>
        <p:spPr>
          <a:xfrm>
            <a:off x="1778508" y="2898648"/>
            <a:ext cx="1783200" cy="0"/>
          </a:xfrm>
          <a:prstGeom prst="straightConnector1">
            <a:avLst/>
          </a:prstGeom>
          <a:noFill/>
          <a:ln cap="flat" cmpd="sng" w="12700">
            <a:solidFill>
              <a:srgbClr val="D2D2D7"/>
            </a:solidFill>
            <a:prstDash val="solid"/>
            <a:round/>
            <a:headEnd len="sm" w="sm" type="none"/>
            <a:tailEnd len="sm" w="sm" type="none"/>
          </a:ln>
        </p:spPr>
      </p:cxnSp>
      <p:cxnSp>
        <p:nvCxnSpPr>
          <p:cNvPr id="120" name="Google Shape;120;p3"/>
          <p:cNvCxnSpPr/>
          <p:nvPr/>
        </p:nvCxnSpPr>
        <p:spPr>
          <a:xfrm>
            <a:off x="1778508" y="2898648"/>
            <a:ext cx="0" cy="118800"/>
          </a:xfrm>
          <a:prstGeom prst="straightConnector1">
            <a:avLst/>
          </a:prstGeom>
          <a:noFill/>
          <a:ln cap="flat" cmpd="sng" w="12700">
            <a:solidFill>
              <a:srgbClr val="D2D2D7"/>
            </a:solidFill>
            <a:prstDash val="solid"/>
            <a:round/>
            <a:headEnd len="sm" w="sm" type="none"/>
            <a:tailEnd len="sm" w="sm" type="none"/>
          </a:ln>
        </p:spPr>
      </p:cxnSp>
      <p:cxnSp>
        <p:nvCxnSpPr>
          <p:cNvPr id="121" name="Google Shape;121;p3"/>
          <p:cNvCxnSpPr/>
          <p:nvPr/>
        </p:nvCxnSpPr>
        <p:spPr>
          <a:xfrm>
            <a:off x="3561588" y="2898648"/>
            <a:ext cx="0" cy="118800"/>
          </a:xfrm>
          <a:prstGeom prst="straightConnector1">
            <a:avLst/>
          </a:prstGeom>
          <a:noFill/>
          <a:ln cap="flat" cmpd="sng" w="12700">
            <a:solidFill>
              <a:srgbClr val="D2D2D7"/>
            </a:solidFill>
            <a:prstDash val="solid"/>
            <a:round/>
            <a:headEnd len="sm" w="sm" type="none"/>
            <a:tailEnd len="sm" w="sm" type="none"/>
          </a:ln>
        </p:spPr>
      </p:cxnSp>
      <p:sp>
        <p:nvSpPr>
          <p:cNvPr id="122" name="Google Shape;122;p3"/>
          <p:cNvSpPr/>
          <p:nvPr/>
        </p:nvSpPr>
        <p:spPr>
          <a:xfrm>
            <a:off x="1069848" y="3017520"/>
            <a:ext cx="1417200" cy="292500"/>
          </a:xfrm>
          <a:prstGeom prst="roundRect">
            <a:avLst>
              <a:gd fmla="val 18750" name="adj"/>
            </a:avLst>
          </a:prstGeom>
          <a:solidFill>
            <a:srgbClr val="0066CC"/>
          </a:solidFill>
          <a:ln cap="flat" cmpd="sng" w="12700">
            <a:solidFill>
              <a:srgbClr val="0066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1069848" y="3017520"/>
            <a:ext cx="14172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Test  50.1%</a:t>
            </a:r>
            <a:endParaRPr b="0" i="0" sz="1100" u="none" cap="none" strike="noStrike">
              <a:solidFill>
                <a:schemeClr val="dk1"/>
              </a:solidFill>
              <a:latin typeface="Calibri"/>
              <a:ea typeface="Calibri"/>
              <a:cs typeface="Calibri"/>
              <a:sym typeface="Calibri"/>
            </a:endParaRPr>
          </a:p>
        </p:txBody>
      </p:sp>
      <p:sp>
        <p:nvSpPr>
          <p:cNvPr id="124" name="Google Shape;124;p3"/>
          <p:cNvSpPr/>
          <p:nvPr/>
        </p:nvSpPr>
        <p:spPr>
          <a:xfrm>
            <a:off x="2852928" y="3017520"/>
            <a:ext cx="1417200" cy="292500"/>
          </a:xfrm>
          <a:prstGeom prst="roundRect">
            <a:avLst>
              <a:gd fmla="val 18750" name="adj"/>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2852928" y="3017520"/>
            <a:ext cx="14172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Control  49.9%</a:t>
            </a:r>
            <a:endParaRPr b="0" i="0" sz="1100" u="none" cap="none" strike="noStrike">
              <a:solidFill>
                <a:schemeClr val="dk1"/>
              </a:solidFill>
              <a:latin typeface="Calibri"/>
              <a:ea typeface="Calibri"/>
              <a:cs typeface="Calibri"/>
              <a:sym typeface="Calibri"/>
            </a:endParaRPr>
          </a:p>
        </p:txBody>
      </p:sp>
      <p:cxnSp>
        <p:nvCxnSpPr>
          <p:cNvPr id="126" name="Google Shape;126;p3"/>
          <p:cNvCxnSpPr/>
          <p:nvPr/>
        </p:nvCxnSpPr>
        <p:spPr>
          <a:xfrm>
            <a:off x="1778508" y="3310128"/>
            <a:ext cx="0" cy="118800"/>
          </a:xfrm>
          <a:prstGeom prst="straightConnector1">
            <a:avLst/>
          </a:prstGeom>
          <a:noFill/>
          <a:ln cap="flat" cmpd="sng" w="12700">
            <a:solidFill>
              <a:srgbClr val="D2D2D7"/>
            </a:solidFill>
            <a:prstDash val="solid"/>
            <a:round/>
            <a:headEnd len="sm" w="sm" type="none"/>
            <a:tailEnd len="sm" w="sm" type="none"/>
          </a:ln>
        </p:spPr>
      </p:cxnSp>
      <p:cxnSp>
        <p:nvCxnSpPr>
          <p:cNvPr id="127" name="Google Shape;127;p3"/>
          <p:cNvCxnSpPr/>
          <p:nvPr/>
        </p:nvCxnSpPr>
        <p:spPr>
          <a:xfrm>
            <a:off x="3561588" y="3310128"/>
            <a:ext cx="0" cy="118800"/>
          </a:xfrm>
          <a:prstGeom prst="straightConnector1">
            <a:avLst/>
          </a:prstGeom>
          <a:noFill/>
          <a:ln cap="flat" cmpd="sng" w="12700">
            <a:solidFill>
              <a:srgbClr val="D2D2D7"/>
            </a:solidFill>
            <a:prstDash val="solid"/>
            <a:round/>
            <a:headEnd len="sm" w="sm" type="none"/>
            <a:tailEnd len="sm" w="sm" type="none"/>
          </a:ln>
        </p:spPr>
      </p:cxnSp>
      <p:cxnSp>
        <p:nvCxnSpPr>
          <p:cNvPr id="128" name="Google Shape;128;p3"/>
          <p:cNvCxnSpPr/>
          <p:nvPr/>
        </p:nvCxnSpPr>
        <p:spPr>
          <a:xfrm>
            <a:off x="1778508" y="3429000"/>
            <a:ext cx="1783200" cy="0"/>
          </a:xfrm>
          <a:prstGeom prst="straightConnector1">
            <a:avLst/>
          </a:prstGeom>
          <a:noFill/>
          <a:ln cap="flat" cmpd="sng" w="12700">
            <a:solidFill>
              <a:srgbClr val="D2D2D7"/>
            </a:solidFill>
            <a:prstDash val="solid"/>
            <a:round/>
            <a:headEnd len="sm" w="sm" type="none"/>
            <a:tailEnd len="sm" w="sm" type="none"/>
          </a:ln>
        </p:spPr>
      </p:cxnSp>
      <p:cxnSp>
        <p:nvCxnSpPr>
          <p:cNvPr id="129" name="Google Shape;129;p3"/>
          <p:cNvCxnSpPr/>
          <p:nvPr/>
        </p:nvCxnSpPr>
        <p:spPr>
          <a:xfrm>
            <a:off x="2670048" y="3429000"/>
            <a:ext cx="0" cy="118800"/>
          </a:xfrm>
          <a:prstGeom prst="straightConnector1">
            <a:avLst/>
          </a:prstGeom>
          <a:noFill/>
          <a:ln cap="flat" cmpd="sng" w="12700">
            <a:solidFill>
              <a:srgbClr val="D2D2D7"/>
            </a:solidFill>
            <a:prstDash val="solid"/>
            <a:round/>
            <a:headEnd len="sm" w="sm" type="none"/>
            <a:tailEnd len="sm" w="sm" type="none"/>
          </a:ln>
        </p:spPr>
      </p:cxnSp>
      <p:sp>
        <p:nvSpPr>
          <p:cNvPr id="130" name="Google Shape;130;p3"/>
          <p:cNvSpPr/>
          <p:nvPr/>
        </p:nvSpPr>
        <p:spPr>
          <a:xfrm>
            <a:off x="566928" y="3547872"/>
            <a:ext cx="42063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Impression  →  Click  →  Purchase  →  Revenue</a:t>
            </a:r>
            <a:endParaRPr b="0" i="0" sz="1050" u="none" cap="none" strike="noStrike">
              <a:solidFill>
                <a:schemeClr val="dk1"/>
              </a:solidFill>
              <a:latin typeface="Calibri"/>
              <a:ea typeface="Calibri"/>
              <a:cs typeface="Calibri"/>
              <a:sym typeface="Calibri"/>
            </a:endParaRPr>
          </a:p>
        </p:txBody>
      </p:sp>
      <p:cxnSp>
        <p:nvCxnSpPr>
          <p:cNvPr id="131" name="Google Shape;131;p3"/>
          <p:cNvCxnSpPr/>
          <p:nvPr/>
        </p:nvCxnSpPr>
        <p:spPr>
          <a:xfrm>
            <a:off x="4749294" y="2578608"/>
            <a:ext cx="0" cy="2285100"/>
          </a:xfrm>
          <a:prstGeom prst="straightConnector1">
            <a:avLst/>
          </a:prstGeom>
          <a:noFill/>
          <a:ln cap="flat" cmpd="sng" w="12700">
            <a:solidFill>
              <a:srgbClr val="E0E0E0"/>
            </a:solidFill>
            <a:prstDash val="solid"/>
            <a:round/>
            <a:headEnd len="sm" w="sm" type="none"/>
            <a:tailEnd len="sm" w="sm" type="none"/>
          </a:ln>
        </p:spPr>
      </p:cxnSp>
      <p:sp>
        <p:nvSpPr>
          <p:cNvPr id="132" name="Google Shape;132;p3"/>
          <p:cNvSpPr/>
          <p:nvPr/>
        </p:nvSpPr>
        <p:spPr>
          <a:xfrm>
            <a:off x="1005436" y="4132845"/>
            <a:ext cx="1965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2100"/>
              <a:buFont typeface="Arial"/>
              <a:buNone/>
            </a:pPr>
            <a:r>
              <a:rPr b="1" i="0" lang="en-US" sz="2100" u="none" cap="none" strike="noStrike">
                <a:solidFill>
                  <a:srgbClr val="1D1D1F"/>
                </a:solidFill>
                <a:latin typeface="Arial"/>
                <a:ea typeface="Arial"/>
                <a:cs typeface="Arial"/>
                <a:sym typeface="Arial"/>
              </a:rPr>
              <a:t>7 Days</a:t>
            </a:r>
            <a:endParaRPr b="0" i="0" sz="2100" u="none" cap="none" strike="noStrike">
              <a:solidFill>
                <a:schemeClr val="dk1"/>
              </a:solidFill>
              <a:latin typeface="Calibri"/>
              <a:ea typeface="Calibri"/>
              <a:cs typeface="Calibri"/>
              <a:sym typeface="Calibri"/>
            </a:endParaRPr>
          </a:p>
        </p:txBody>
      </p:sp>
      <p:sp>
        <p:nvSpPr>
          <p:cNvPr id="133" name="Google Shape;133;p3"/>
          <p:cNvSpPr/>
          <p:nvPr/>
        </p:nvSpPr>
        <p:spPr>
          <a:xfrm>
            <a:off x="1005436" y="4516893"/>
            <a:ext cx="19659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2019.1.11–2019.1.17</a:t>
            </a:r>
            <a:endParaRPr b="0" i="0" sz="900" u="none" cap="none" strike="noStrike">
              <a:solidFill>
                <a:schemeClr val="dk1"/>
              </a:solidFill>
              <a:latin typeface="Calibri"/>
              <a:ea typeface="Calibri"/>
              <a:cs typeface="Calibri"/>
              <a:sym typeface="Calibri"/>
            </a:endParaRPr>
          </a:p>
        </p:txBody>
      </p:sp>
      <p:sp>
        <p:nvSpPr>
          <p:cNvPr id="134" name="Google Shape;134;p3"/>
          <p:cNvSpPr/>
          <p:nvPr/>
        </p:nvSpPr>
        <p:spPr>
          <a:xfrm>
            <a:off x="3245716" y="4132845"/>
            <a:ext cx="1965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2100"/>
              <a:buFont typeface="Arial"/>
              <a:buNone/>
            </a:pPr>
            <a:r>
              <a:rPr b="1" i="0" lang="en-US" sz="2100" u="none" cap="none" strike="noStrike">
                <a:solidFill>
                  <a:srgbClr val="1D1D1F"/>
                </a:solidFill>
                <a:latin typeface="Arial"/>
                <a:ea typeface="Arial"/>
                <a:cs typeface="Arial"/>
                <a:sym typeface="Arial"/>
              </a:rPr>
              <a:t>10,000</a:t>
            </a:r>
            <a:endParaRPr b="0" i="0" sz="2100" u="none" cap="none" strike="noStrike">
              <a:solidFill>
                <a:schemeClr val="dk1"/>
              </a:solidFill>
              <a:latin typeface="Calibri"/>
              <a:ea typeface="Calibri"/>
              <a:cs typeface="Calibri"/>
              <a:sym typeface="Calibri"/>
            </a:endParaRPr>
          </a:p>
        </p:txBody>
      </p:sp>
      <p:sp>
        <p:nvSpPr>
          <p:cNvPr id="135" name="Google Shape;135;p3"/>
          <p:cNvSpPr/>
          <p:nvPr/>
        </p:nvSpPr>
        <p:spPr>
          <a:xfrm>
            <a:off x="3245716" y="4516893"/>
            <a:ext cx="19659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Random User 수</a:t>
            </a:r>
            <a:endParaRPr b="0" i="0" sz="900" u="none" cap="none" strike="noStrike">
              <a:solidFill>
                <a:schemeClr val="dk1"/>
              </a:solidFill>
              <a:latin typeface="Calibri"/>
              <a:ea typeface="Calibri"/>
              <a:cs typeface="Calibri"/>
              <a:sym typeface="Calibri"/>
            </a:endParaRPr>
          </a:p>
        </p:txBody>
      </p:sp>
      <p:sp>
        <p:nvSpPr>
          <p:cNvPr id="136" name="Google Shape;136;p3"/>
          <p:cNvSpPr/>
          <p:nvPr/>
        </p:nvSpPr>
        <p:spPr>
          <a:xfrm>
            <a:off x="1005436" y="4983237"/>
            <a:ext cx="1965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2100"/>
              <a:buFont typeface="Arial"/>
              <a:buNone/>
            </a:pPr>
            <a:r>
              <a:rPr b="1" i="0" lang="en-US" sz="2100" u="none" cap="none" strike="noStrike">
                <a:solidFill>
                  <a:srgbClr val="1D1D1F"/>
                </a:solidFill>
                <a:latin typeface="Arial"/>
                <a:ea typeface="Arial"/>
                <a:cs typeface="Arial"/>
                <a:sym typeface="Arial"/>
              </a:rPr>
              <a:t>100</a:t>
            </a:r>
            <a:endParaRPr b="0" i="0" sz="2100" u="none" cap="none" strike="noStrike">
              <a:solidFill>
                <a:schemeClr val="dk1"/>
              </a:solidFill>
              <a:latin typeface="Calibri"/>
              <a:ea typeface="Calibri"/>
              <a:cs typeface="Calibri"/>
              <a:sym typeface="Calibri"/>
            </a:endParaRPr>
          </a:p>
        </p:txBody>
      </p:sp>
      <p:sp>
        <p:nvSpPr>
          <p:cNvPr id="137" name="Google Shape;137;p3"/>
          <p:cNvSpPr/>
          <p:nvPr/>
        </p:nvSpPr>
        <p:spPr>
          <a:xfrm>
            <a:off x="1005436" y="5367285"/>
            <a:ext cx="19659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실험 대상 상품 수</a:t>
            </a:r>
            <a:endParaRPr b="0" i="0" sz="900" u="none" cap="none" strike="noStrike">
              <a:solidFill>
                <a:schemeClr val="dk1"/>
              </a:solidFill>
              <a:latin typeface="Calibri"/>
              <a:ea typeface="Calibri"/>
              <a:cs typeface="Calibri"/>
              <a:sym typeface="Calibri"/>
            </a:endParaRPr>
          </a:p>
        </p:txBody>
      </p:sp>
      <p:sp>
        <p:nvSpPr>
          <p:cNvPr id="138" name="Google Shape;138;p3"/>
          <p:cNvSpPr/>
          <p:nvPr/>
        </p:nvSpPr>
        <p:spPr>
          <a:xfrm>
            <a:off x="3245716" y="4983237"/>
            <a:ext cx="1965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2100"/>
              <a:buFont typeface="Arial"/>
              <a:buNone/>
            </a:pPr>
            <a:r>
              <a:rPr b="1" i="0" lang="en-US" sz="2100" u="none" cap="none" strike="noStrike">
                <a:solidFill>
                  <a:srgbClr val="1D1D1F"/>
                </a:solidFill>
                <a:latin typeface="Arial"/>
                <a:ea typeface="Arial"/>
                <a:cs typeface="Arial"/>
                <a:sym typeface="Arial"/>
              </a:rPr>
              <a:t>973,190</a:t>
            </a:r>
            <a:endParaRPr b="0" i="0" sz="2100" u="none" cap="none" strike="noStrike">
              <a:solidFill>
                <a:schemeClr val="dk1"/>
              </a:solidFill>
              <a:latin typeface="Calibri"/>
              <a:ea typeface="Calibri"/>
              <a:cs typeface="Calibri"/>
              <a:sym typeface="Calibri"/>
            </a:endParaRPr>
          </a:p>
        </p:txBody>
      </p:sp>
      <p:sp>
        <p:nvSpPr>
          <p:cNvPr id="139" name="Google Shape;139;p3"/>
          <p:cNvSpPr/>
          <p:nvPr/>
        </p:nvSpPr>
        <p:spPr>
          <a:xfrm>
            <a:off x="3245716" y="5367285"/>
            <a:ext cx="19659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전체 행동 로그 수</a:t>
            </a:r>
            <a:endParaRPr b="0" i="0" sz="900" u="none" cap="none" strike="noStrike">
              <a:solidFill>
                <a:schemeClr val="dk1"/>
              </a:solidFill>
              <a:latin typeface="Calibri"/>
              <a:ea typeface="Calibri"/>
              <a:cs typeface="Calibri"/>
              <a:sym typeface="Calibri"/>
            </a:endParaRPr>
          </a:p>
        </p:txBody>
      </p:sp>
      <p:sp>
        <p:nvSpPr>
          <p:cNvPr id="140" name="Google Shape;140;p3"/>
          <p:cNvSpPr/>
          <p:nvPr/>
        </p:nvSpPr>
        <p:spPr>
          <a:xfrm>
            <a:off x="5010912" y="1709928"/>
            <a:ext cx="6613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Exploratory Data Analysis</a:t>
            </a:r>
            <a:endParaRPr b="0" i="0" sz="1575" u="none" cap="none" strike="noStrike">
              <a:solidFill>
                <a:schemeClr val="dk1"/>
              </a:solidFill>
              <a:latin typeface="Calibri"/>
              <a:ea typeface="Calibri"/>
              <a:cs typeface="Calibri"/>
              <a:sym typeface="Calibri"/>
            </a:endParaRPr>
          </a:p>
        </p:txBody>
      </p:sp>
      <p:sp>
        <p:nvSpPr>
          <p:cNvPr id="141" name="Google Shape;141;p3"/>
          <p:cNvSpPr/>
          <p:nvPr/>
        </p:nvSpPr>
        <p:spPr>
          <a:xfrm>
            <a:off x="5139938" y="2228088"/>
            <a:ext cx="6613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100" u="none" cap="none" strike="noStrike">
                <a:solidFill>
                  <a:srgbClr val="1D1D1F"/>
                </a:solidFill>
                <a:latin typeface="Arial"/>
                <a:ea typeface="Arial"/>
                <a:cs typeface="Arial"/>
                <a:sym typeface="Arial"/>
              </a:rPr>
              <a:t>Daily Event Volume</a:t>
            </a:r>
            <a:endParaRPr b="0" i="0" sz="1100" u="none" cap="none" strike="noStrike">
              <a:solidFill>
                <a:schemeClr val="dk1"/>
              </a:solidFill>
              <a:latin typeface="Calibri"/>
              <a:ea typeface="Calibri"/>
              <a:cs typeface="Calibri"/>
              <a:sym typeface="Calibri"/>
            </a:endParaRPr>
          </a:p>
        </p:txBody>
      </p:sp>
      <p:sp>
        <p:nvSpPr>
          <p:cNvPr id="142" name="Google Shape;142;p3"/>
          <p:cNvSpPr/>
          <p:nvPr/>
        </p:nvSpPr>
        <p:spPr>
          <a:xfrm>
            <a:off x="5010912" y="4315968"/>
            <a:ext cx="20217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Variant Distribution</a:t>
            </a:r>
            <a:endParaRPr b="0" i="0" sz="1100" u="none" cap="none" strike="noStrike">
              <a:solidFill>
                <a:schemeClr val="dk1"/>
              </a:solidFill>
              <a:latin typeface="Calibri"/>
              <a:ea typeface="Calibri"/>
              <a:cs typeface="Calibri"/>
              <a:sym typeface="Calibri"/>
            </a:endParaRPr>
          </a:p>
        </p:txBody>
      </p:sp>
      <p:graphicFrame>
        <p:nvGraphicFramePr>
          <p:cNvPr id="143" name="Google Shape;143;p3"/>
          <p:cNvGraphicFramePr/>
          <p:nvPr/>
        </p:nvGraphicFramePr>
        <p:xfrm>
          <a:off x="5010912" y="4572000"/>
          <a:ext cx="2021700" cy="1051500"/>
        </p:xfrm>
        <a:graphic>
          <a:graphicData uri="http://schemas.openxmlformats.org/drawingml/2006/chart">
            <c:chart r:id="rId3"/>
          </a:graphicData>
        </a:graphic>
      </p:graphicFrame>
      <p:cxnSp>
        <p:nvCxnSpPr>
          <p:cNvPr id="144" name="Google Shape;144;p3"/>
          <p:cNvCxnSpPr/>
          <p:nvPr/>
        </p:nvCxnSpPr>
        <p:spPr>
          <a:xfrm>
            <a:off x="7169810" y="4315968"/>
            <a:ext cx="0" cy="1307700"/>
          </a:xfrm>
          <a:prstGeom prst="straightConnector1">
            <a:avLst/>
          </a:prstGeom>
          <a:noFill/>
          <a:ln cap="flat" cmpd="sng" w="12700">
            <a:solidFill>
              <a:srgbClr val="E0E0E0"/>
            </a:solidFill>
            <a:prstDash val="solid"/>
            <a:round/>
            <a:headEnd len="sm" w="sm" type="none"/>
            <a:tailEnd len="sm" w="sm" type="none"/>
          </a:ln>
        </p:spPr>
      </p:cxnSp>
      <p:sp>
        <p:nvSpPr>
          <p:cNvPr id="145" name="Google Shape;145;p3"/>
          <p:cNvSpPr/>
          <p:nvPr/>
        </p:nvSpPr>
        <p:spPr>
          <a:xfrm>
            <a:off x="7306970" y="4315968"/>
            <a:ext cx="20217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Age Distribution</a:t>
            </a:r>
            <a:endParaRPr b="0" i="0" sz="1100" u="none" cap="none" strike="noStrike">
              <a:solidFill>
                <a:schemeClr val="dk1"/>
              </a:solidFill>
              <a:latin typeface="Calibri"/>
              <a:ea typeface="Calibri"/>
              <a:cs typeface="Calibri"/>
              <a:sym typeface="Calibri"/>
            </a:endParaRPr>
          </a:p>
        </p:txBody>
      </p:sp>
      <p:graphicFrame>
        <p:nvGraphicFramePr>
          <p:cNvPr id="146" name="Google Shape;146;p3"/>
          <p:cNvGraphicFramePr/>
          <p:nvPr/>
        </p:nvGraphicFramePr>
        <p:xfrm>
          <a:off x="7306970" y="4572000"/>
          <a:ext cx="2021700" cy="1051500"/>
        </p:xfrm>
        <a:graphic>
          <a:graphicData uri="http://schemas.openxmlformats.org/drawingml/2006/chart">
            <c:chart r:id="rId4"/>
          </a:graphicData>
        </a:graphic>
      </p:graphicFrame>
      <p:cxnSp>
        <p:nvCxnSpPr>
          <p:cNvPr id="147" name="Google Shape;147;p3"/>
          <p:cNvCxnSpPr/>
          <p:nvPr/>
        </p:nvCxnSpPr>
        <p:spPr>
          <a:xfrm>
            <a:off x="9465869" y="4315968"/>
            <a:ext cx="0" cy="1307700"/>
          </a:xfrm>
          <a:prstGeom prst="straightConnector1">
            <a:avLst/>
          </a:prstGeom>
          <a:noFill/>
          <a:ln cap="flat" cmpd="sng" w="12700">
            <a:solidFill>
              <a:srgbClr val="E0E0E0"/>
            </a:solidFill>
            <a:prstDash val="solid"/>
            <a:round/>
            <a:headEnd len="sm" w="sm" type="none"/>
            <a:tailEnd len="sm" w="sm" type="none"/>
          </a:ln>
        </p:spPr>
      </p:cxnSp>
      <p:sp>
        <p:nvSpPr>
          <p:cNvPr id="148" name="Google Shape;148;p3"/>
          <p:cNvSpPr/>
          <p:nvPr/>
        </p:nvSpPr>
        <p:spPr>
          <a:xfrm>
            <a:off x="9603029" y="4315968"/>
            <a:ext cx="20217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Gender Distribution</a:t>
            </a:r>
            <a:endParaRPr b="0" i="0" sz="1100" u="none" cap="none" strike="noStrike">
              <a:solidFill>
                <a:schemeClr val="dk1"/>
              </a:solidFill>
              <a:latin typeface="Calibri"/>
              <a:ea typeface="Calibri"/>
              <a:cs typeface="Calibri"/>
              <a:sym typeface="Calibri"/>
            </a:endParaRPr>
          </a:p>
        </p:txBody>
      </p:sp>
      <p:graphicFrame>
        <p:nvGraphicFramePr>
          <p:cNvPr id="149" name="Google Shape;149;p3"/>
          <p:cNvGraphicFramePr/>
          <p:nvPr/>
        </p:nvGraphicFramePr>
        <p:xfrm>
          <a:off x="9603029" y="4572000"/>
          <a:ext cx="2021700" cy="1051500"/>
        </p:xfrm>
        <a:graphic>
          <a:graphicData uri="http://schemas.openxmlformats.org/drawingml/2006/chart">
            <c:chart r:id="rId5"/>
          </a:graphicData>
        </a:graphic>
      </p:graphicFrame>
      <p:sp>
        <p:nvSpPr>
          <p:cNvPr id="150" name="Google Shape;150;p3"/>
          <p:cNvSpPr/>
          <p:nvPr/>
        </p:nvSpPr>
        <p:spPr>
          <a:xfrm>
            <a:off x="566928" y="6013704"/>
            <a:ext cx="11057700" cy="749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1D1F"/>
              </a:buClr>
              <a:buSzPts val="145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일별 이벤트 볼륨은 안정적으로 유지되었으며, 실험 배정비율은 균등하다. 반면, 연령대와 성별 세그먼트 크기에 차이가 있어 후속 세그먼트별 해석이 필요하다.</a:t>
            </a:r>
            <a:endParaRPr b="0" i="0" sz="1300" u="none" cap="none" strike="noStrike">
              <a:solidFill>
                <a:schemeClr val="dk1"/>
              </a:solidFill>
              <a:latin typeface="Calibri"/>
              <a:ea typeface="Calibri"/>
              <a:cs typeface="Calibri"/>
              <a:sym typeface="Calibri"/>
            </a:endParaRPr>
          </a:p>
        </p:txBody>
      </p:sp>
      <p:sp>
        <p:nvSpPr>
          <p:cNvPr id="151" name="Google Shape;151;p3"/>
          <p:cNvSpPr/>
          <p:nvPr/>
        </p:nvSpPr>
        <p:spPr>
          <a:xfrm rot="-5400000">
            <a:off x="4587300" y="2994600"/>
            <a:ext cx="914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850"/>
              <a:buFont typeface="Arial"/>
              <a:buNone/>
            </a:pPr>
            <a:r>
              <a:rPr b="0" i="0" lang="en-US" sz="850" u="none" cap="none" strike="noStrike">
                <a:solidFill>
                  <a:srgbClr val="7A7A7A"/>
                </a:solidFill>
                <a:latin typeface="Arial"/>
                <a:ea typeface="Arial"/>
                <a:cs typeface="Arial"/>
                <a:sym typeface="Arial"/>
              </a:rPr>
              <a:t>Events</a:t>
            </a:r>
            <a:endParaRPr b="0" i="0" sz="850" u="none" cap="none" strike="noStrike">
              <a:solidFill>
                <a:schemeClr val="dk1"/>
              </a:solidFill>
              <a:latin typeface="Calibri"/>
              <a:ea typeface="Calibri"/>
              <a:cs typeface="Calibri"/>
              <a:sym typeface="Calibri"/>
            </a:endParaRPr>
          </a:p>
        </p:txBody>
      </p:sp>
      <p:cxnSp>
        <p:nvCxnSpPr>
          <p:cNvPr id="152" name="Google Shape;152;p3"/>
          <p:cNvCxnSpPr/>
          <p:nvPr/>
        </p:nvCxnSpPr>
        <p:spPr>
          <a:xfrm flipH="1" rot="10800000">
            <a:off x="5266944" y="3093152"/>
            <a:ext cx="1052100" cy="29400"/>
          </a:xfrm>
          <a:prstGeom prst="straightConnector1">
            <a:avLst/>
          </a:prstGeom>
          <a:noFill/>
          <a:ln cap="flat" cmpd="sng" w="28575">
            <a:solidFill>
              <a:srgbClr val="0066CC"/>
            </a:solidFill>
            <a:prstDash val="solid"/>
            <a:round/>
            <a:headEnd len="sm" w="sm" type="none"/>
            <a:tailEnd len="sm" w="sm" type="none"/>
          </a:ln>
        </p:spPr>
      </p:cxnSp>
      <p:cxnSp>
        <p:nvCxnSpPr>
          <p:cNvPr id="153" name="Google Shape;153;p3"/>
          <p:cNvCxnSpPr/>
          <p:nvPr/>
        </p:nvCxnSpPr>
        <p:spPr>
          <a:xfrm>
            <a:off x="6318961" y="3093176"/>
            <a:ext cx="1052100" cy="53400"/>
          </a:xfrm>
          <a:prstGeom prst="straightConnector1">
            <a:avLst/>
          </a:prstGeom>
          <a:noFill/>
          <a:ln cap="flat" cmpd="sng" w="28575">
            <a:solidFill>
              <a:srgbClr val="0066CC"/>
            </a:solidFill>
            <a:prstDash val="solid"/>
            <a:round/>
            <a:headEnd len="sm" w="sm" type="none"/>
            <a:tailEnd len="sm" w="sm" type="none"/>
          </a:ln>
        </p:spPr>
      </p:cxnSp>
      <p:cxnSp>
        <p:nvCxnSpPr>
          <p:cNvPr id="154" name="Google Shape;154;p3"/>
          <p:cNvCxnSpPr/>
          <p:nvPr/>
        </p:nvCxnSpPr>
        <p:spPr>
          <a:xfrm flipH="1" rot="10800000">
            <a:off x="7370978" y="3118608"/>
            <a:ext cx="1052100" cy="27900"/>
          </a:xfrm>
          <a:prstGeom prst="straightConnector1">
            <a:avLst/>
          </a:prstGeom>
          <a:noFill/>
          <a:ln cap="flat" cmpd="sng" w="28575">
            <a:solidFill>
              <a:srgbClr val="0066CC"/>
            </a:solidFill>
            <a:prstDash val="solid"/>
            <a:round/>
            <a:headEnd len="sm" w="sm" type="none"/>
            <a:tailEnd len="sm" w="sm" type="none"/>
          </a:ln>
        </p:spPr>
      </p:cxnSp>
      <p:cxnSp>
        <p:nvCxnSpPr>
          <p:cNvPr id="155" name="Google Shape;155;p3"/>
          <p:cNvCxnSpPr/>
          <p:nvPr/>
        </p:nvCxnSpPr>
        <p:spPr>
          <a:xfrm flipH="1" rot="10800000">
            <a:off x="8422996" y="3098924"/>
            <a:ext cx="1052100" cy="19800"/>
          </a:xfrm>
          <a:prstGeom prst="straightConnector1">
            <a:avLst/>
          </a:prstGeom>
          <a:noFill/>
          <a:ln cap="flat" cmpd="sng" w="28575">
            <a:solidFill>
              <a:srgbClr val="0066CC"/>
            </a:solidFill>
            <a:prstDash val="solid"/>
            <a:round/>
            <a:headEnd len="sm" w="sm" type="none"/>
            <a:tailEnd len="sm" w="sm" type="none"/>
          </a:ln>
        </p:spPr>
      </p:cxnSp>
      <p:cxnSp>
        <p:nvCxnSpPr>
          <p:cNvPr id="156" name="Google Shape;156;p3"/>
          <p:cNvCxnSpPr/>
          <p:nvPr/>
        </p:nvCxnSpPr>
        <p:spPr>
          <a:xfrm>
            <a:off x="9475013" y="3098966"/>
            <a:ext cx="1052100" cy="6300"/>
          </a:xfrm>
          <a:prstGeom prst="straightConnector1">
            <a:avLst/>
          </a:prstGeom>
          <a:noFill/>
          <a:ln cap="flat" cmpd="sng" w="28575">
            <a:solidFill>
              <a:srgbClr val="0066CC"/>
            </a:solidFill>
            <a:prstDash val="solid"/>
            <a:round/>
            <a:headEnd len="sm" w="sm" type="none"/>
            <a:tailEnd len="sm" w="sm" type="none"/>
          </a:ln>
        </p:spPr>
      </p:cxnSp>
      <p:cxnSp>
        <p:nvCxnSpPr>
          <p:cNvPr id="157" name="Google Shape;157;p3"/>
          <p:cNvCxnSpPr/>
          <p:nvPr/>
        </p:nvCxnSpPr>
        <p:spPr>
          <a:xfrm>
            <a:off x="10527030" y="3105337"/>
            <a:ext cx="1052100" cy="20700"/>
          </a:xfrm>
          <a:prstGeom prst="straightConnector1">
            <a:avLst/>
          </a:prstGeom>
          <a:noFill/>
          <a:ln cap="flat" cmpd="sng" w="28575">
            <a:solidFill>
              <a:srgbClr val="0066CC"/>
            </a:solidFill>
            <a:prstDash val="solid"/>
            <a:round/>
            <a:headEnd len="sm" w="sm" type="none"/>
            <a:tailEnd len="sm" w="sm" type="none"/>
          </a:ln>
        </p:spPr>
      </p:cxnSp>
      <p:sp>
        <p:nvSpPr>
          <p:cNvPr id="158" name="Google Shape;158;p3"/>
          <p:cNvSpPr/>
          <p:nvPr/>
        </p:nvSpPr>
        <p:spPr>
          <a:xfrm>
            <a:off x="5225796" y="3081405"/>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5266944" y="2829945"/>
            <a:ext cx="525900" cy="183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138,810</a:t>
            </a:r>
            <a:endParaRPr b="0" i="0" sz="1050" u="none" cap="none" strike="noStrike">
              <a:solidFill>
                <a:schemeClr val="dk1"/>
              </a:solidFill>
              <a:latin typeface="Calibri"/>
              <a:ea typeface="Calibri"/>
              <a:cs typeface="Calibri"/>
              <a:sym typeface="Calibri"/>
            </a:endParaRPr>
          </a:p>
        </p:txBody>
      </p:sp>
      <p:sp>
        <p:nvSpPr>
          <p:cNvPr id="160" name="Google Shape;160;p3"/>
          <p:cNvSpPr/>
          <p:nvPr/>
        </p:nvSpPr>
        <p:spPr>
          <a:xfrm>
            <a:off x="4740935"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11</a:t>
            </a:r>
            <a:endParaRPr b="0" i="0" sz="1000" u="none" cap="none" strike="noStrike">
              <a:solidFill>
                <a:schemeClr val="dk1"/>
              </a:solidFill>
              <a:latin typeface="Calibri"/>
              <a:ea typeface="Calibri"/>
              <a:cs typeface="Calibri"/>
              <a:sym typeface="Calibri"/>
            </a:endParaRPr>
          </a:p>
        </p:txBody>
      </p:sp>
      <p:sp>
        <p:nvSpPr>
          <p:cNvPr id="161" name="Google Shape;161;p3"/>
          <p:cNvSpPr/>
          <p:nvPr/>
        </p:nvSpPr>
        <p:spPr>
          <a:xfrm>
            <a:off x="6277813" y="3052028"/>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5792953" y="2800568"/>
            <a:ext cx="1052100" cy="1830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139,769</a:t>
            </a:r>
            <a:endParaRPr b="0" i="0" sz="1050" u="none" cap="none" strike="noStrike">
              <a:solidFill>
                <a:schemeClr val="dk1"/>
              </a:solidFill>
              <a:latin typeface="Calibri"/>
              <a:ea typeface="Calibri"/>
              <a:cs typeface="Calibri"/>
              <a:sym typeface="Calibri"/>
            </a:endParaRPr>
          </a:p>
        </p:txBody>
      </p:sp>
      <p:sp>
        <p:nvSpPr>
          <p:cNvPr id="163" name="Google Shape;163;p3"/>
          <p:cNvSpPr/>
          <p:nvPr/>
        </p:nvSpPr>
        <p:spPr>
          <a:xfrm>
            <a:off x="5792953"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12</a:t>
            </a:r>
            <a:endParaRPr b="0" i="0" sz="1000" u="none" cap="none" strike="noStrike">
              <a:solidFill>
                <a:schemeClr val="dk1"/>
              </a:solidFill>
              <a:latin typeface="Calibri"/>
              <a:ea typeface="Calibri"/>
              <a:cs typeface="Calibri"/>
              <a:sym typeface="Calibri"/>
            </a:endParaRPr>
          </a:p>
        </p:txBody>
      </p:sp>
      <p:sp>
        <p:nvSpPr>
          <p:cNvPr id="164" name="Google Shape;164;p3"/>
          <p:cNvSpPr/>
          <p:nvPr/>
        </p:nvSpPr>
        <p:spPr>
          <a:xfrm>
            <a:off x="7329830" y="3105359"/>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6844970" y="2853899"/>
            <a:ext cx="1052100" cy="1830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138,028</a:t>
            </a:r>
            <a:endParaRPr b="0" i="0" sz="1050" u="none" cap="none" strike="noStrike">
              <a:solidFill>
                <a:schemeClr val="dk1"/>
              </a:solidFill>
              <a:latin typeface="Calibri"/>
              <a:ea typeface="Calibri"/>
              <a:cs typeface="Calibri"/>
              <a:sym typeface="Calibri"/>
            </a:endParaRPr>
          </a:p>
        </p:txBody>
      </p:sp>
      <p:sp>
        <p:nvSpPr>
          <p:cNvPr id="166" name="Google Shape;166;p3"/>
          <p:cNvSpPr/>
          <p:nvPr/>
        </p:nvSpPr>
        <p:spPr>
          <a:xfrm>
            <a:off x="6844970"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13</a:t>
            </a:r>
            <a:endParaRPr b="0" i="0" sz="1000" u="none" cap="none" strike="noStrike">
              <a:solidFill>
                <a:schemeClr val="dk1"/>
              </a:solidFill>
              <a:latin typeface="Calibri"/>
              <a:ea typeface="Calibri"/>
              <a:cs typeface="Calibri"/>
              <a:sym typeface="Calibri"/>
            </a:endParaRPr>
          </a:p>
        </p:txBody>
      </p:sp>
      <p:sp>
        <p:nvSpPr>
          <p:cNvPr id="167" name="Google Shape;167;p3"/>
          <p:cNvSpPr/>
          <p:nvPr/>
        </p:nvSpPr>
        <p:spPr>
          <a:xfrm>
            <a:off x="8381848" y="3077576"/>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7896987" y="2826116"/>
            <a:ext cx="1052100" cy="1830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138,935</a:t>
            </a:r>
            <a:endParaRPr b="0" i="0" sz="1050" u="none" cap="none" strike="noStrike">
              <a:solidFill>
                <a:schemeClr val="dk1"/>
              </a:solidFill>
              <a:latin typeface="Calibri"/>
              <a:ea typeface="Calibri"/>
              <a:cs typeface="Calibri"/>
              <a:sym typeface="Calibri"/>
            </a:endParaRPr>
          </a:p>
        </p:txBody>
      </p:sp>
      <p:sp>
        <p:nvSpPr>
          <p:cNvPr id="169" name="Google Shape;169;p3"/>
          <p:cNvSpPr/>
          <p:nvPr/>
        </p:nvSpPr>
        <p:spPr>
          <a:xfrm>
            <a:off x="7896987"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14</a:t>
            </a:r>
            <a:endParaRPr b="0" i="0" sz="1000" u="none" cap="none" strike="noStrike">
              <a:solidFill>
                <a:schemeClr val="dk1"/>
              </a:solidFill>
              <a:latin typeface="Calibri"/>
              <a:ea typeface="Calibri"/>
              <a:cs typeface="Calibri"/>
              <a:sym typeface="Calibri"/>
            </a:endParaRPr>
          </a:p>
        </p:txBody>
      </p:sp>
      <p:sp>
        <p:nvSpPr>
          <p:cNvPr id="170" name="Google Shape;170;p3"/>
          <p:cNvSpPr/>
          <p:nvPr/>
        </p:nvSpPr>
        <p:spPr>
          <a:xfrm>
            <a:off x="9433865" y="3057818"/>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8949004" y="2806358"/>
            <a:ext cx="1052100" cy="1830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139,580</a:t>
            </a:r>
            <a:endParaRPr b="0" i="0" sz="1050" u="none" cap="none" strike="noStrike">
              <a:solidFill>
                <a:schemeClr val="dk1"/>
              </a:solidFill>
              <a:latin typeface="Calibri"/>
              <a:ea typeface="Calibri"/>
              <a:cs typeface="Calibri"/>
              <a:sym typeface="Calibri"/>
            </a:endParaRPr>
          </a:p>
        </p:txBody>
      </p:sp>
      <p:sp>
        <p:nvSpPr>
          <p:cNvPr id="172" name="Google Shape;172;p3"/>
          <p:cNvSpPr/>
          <p:nvPr/>
        </p:nvSpPr>
        <p:spPr>
          <a:xfrm>
            <a:off x="8949004"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15</a:t>
            </a:r>
            <a:endParaRPr b="0" i="0" sz="1000" u="none" cap="none" strike="noStrike">
              <a:solidFill>
                <a:schemeClr val="dk1"/>
              </a:solidFill>
              <a:latin typeface="Calibri"/>
              <a:ea typeface="Calibri"/>
              <a:cs typeface="Calibri"/>
              <a:sym typeface="Calibri"/>
            </a:endParaRPr>
          </a:p>
        </p:txBody>
      </p:sp>
      <p:sp>
        <p:nvSpPr>
          <p:cNvPr id="173" name="Google Shape;173;p3"/>
          <p:cNvSpPr/>
          <p:nvPr/>
        </p:nvSpPr>
        <p:spPr>
          <a:xfrm>
            <a:off x="10485882" y="3064189"/>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10001021" y="2812729"/>
            <a:ext cx="1052100" cy="1830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139,372</a:t>
            </a:r>
            <a:endParaRPr b="0" i="0" sz="1050" u="none" cap="none" strike="noStrike">
              <a:solidFill>
                <a:schemeClr val="dk1"/>
              </a:solidFill>
              <a:latin typeface="Calibri"/>
              <a:ea typeface="Calibri"/>
              <a:cs typeface="Calibri"/>
              <a:sym typeface="Calibri"/>
            </a:endParaRPr>
          </a:p>
        </p:txBody>
      </p:sp>
      <p:sp>
        <p:nvSpPr>
          <p:cNvPr id="175" name="Google Shape;175;p3"/>
          <p:cNvSpPr/>
          <p:nvPr/>
        </p:nvSpPr>
        <p:spPr>
          <a:xfrm>
            <a:off x="10001021"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16</a:t>
            </a:r>
            <a:endParaRPr b="0" i="0" sz="1000" u="none" cap="none" strike="noStrike">
              <a:solidFill>
                <a:schemeClr val="dk1"/>
              </a:solidFill>
              <a:latin typeface="Calibri"/>
              <a:ea typeface="Calibri"/>
              <a:cs typeface="Calibri"/>
              <a:sym typeface="Calibri"/>
            </a:endParaRPr>
          </a:p>
        </p:txBody>
      </p:sp>
      <p:sp>
        <p:nvSpPr>
          <p:cNvPr id="176" name="Google Shape;176;p3"/>
          <p:cNvSpPr/>
          <p:nvPr/>
        </p:nvSpPr>
        <p:spPr>
          <a:xfrm>
            <a:off x="11537899" y="3084897"/>
            <a:ext cx="82200" cy="82200"/>
          </a:xfrm>
          <a:prstGeom prst="ellipse">
            <a:avLst/>
          </a:prstGeom>
          <a:solidFill>
            <a:srgbClr val="0066C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11053039" y="2833437"/>
            <a:ext cx="525900" cy="1830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138,696</a:t>
            </a:r>
            <a:endParaRPr b="0" i="0" sz="1050" u="none" cap="none" strike="noStrike">
              <a:solidFill>
                <a:schemeClr val="dk1"/>
              </a:solidFill>
              <a:latin typeface="Calibri"/>
              <a:ea typeface="Calibri"/>
              <a:cs typeface="Calibri"/>
              <a:sym typeface="Calibri"/>
            </a:endParaRPr>
          </a:p>
        </p:txBody>
      </p:sp>
      <p:sp>
        <p:nvSpPr>
          <p:cNvPr id="178" name="Google Shape;178;p3"/>
          <p:cNvSpPr/>
          <p:nvPr/>
        </p:nvSpPr>
        <p:spPr>
          <a:xfrm>
            <a:off x="11053039" y="3447288"/>
            <a:ext cx="1052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Jan 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g3f72ffb808c_3_34"/>
          <p:cNvSpPr/>
          <p:nvPr/>
        </p:nvSpPr>
        <p:spPr>
          <a:xfrm>
            <a:off x="0" y="5742432"/>
            <a:ext cx="12191700" cy="731400"/>
          </a:xfrm>
          <a:prstGeom prst="rect">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f72ffb808c_3_34"/>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DATA ENGINEERING</a:t>
            </a:r>
            <a:endParaRPr b="0" i="0" sz="1050" u="none" cap="none" strike="noStrike">
              <a:solidFill>
                <a:schemeClr val="dk1"/>
              </a:solidFill>
              <a:latin typeface="Calibri"/>
              <a:ea typeface="Calibri"/>
              <a:cs typeface="Calibri"/>
              <a:sym typeface="Calibri"/>
            </a:endParaRPr>
          </a:p>
        </p:txBody>
      </p:sp>
      <p:sp>
        <p:nvSpPr>
          <p:cNvPr id="186" name="Google Shape;186;g3f72ffb808c_3_34"/>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1-2. 외부 원천 데이터 수집 및 스키마 구축</a:t>
            </a:r>
            <a:endParaRPr b="0" i="0" sz="3000" u="none" cap="none" strike="noStrike">
              <a:solidFill>
                <a:schemeClr val="dk1"/>
              </a:solidFill>
              <a:latin typeface="Calibri"/>
              <a:ea typeface="Calibri"/>
              <a:cs typeface="Calibri"/>
              <a:sym typeface="Calibri"/>
            </a:endParaRPr>
          </a:p>
        </p:txBody>
      </p:sp>
      <p:sp>
        <p:nvSpPr>
          <p:cNvPr id="187" name="Google Shape;187;g3f72ffb808c_3_34"/>
          <p:cNvSpPr/>
          <p:nvPr/>
        </p:nvSpPr>
        <p:spPr>
          <a:xfrm>
            <a:off x="566928" y="1389888"/>
            <a:ext cx="329100" cy="3291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g3f72ffb808c_3_34"/>
          <p:cNvSpPr/>
          <p:nvPr/>
        </p:nvSpPr>
        <p:spPr>
          <a:xfrm>
            <a:off x="566928" y="1389888"/>
            <a:ext cx="3291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cxnSp>
        <p:nvCxnSpPr>
          <p:cNvPr id="189" name="Google Shape;189;g3f72ffb808c_3_34"/>
          <p:cNvCxnSpPr/>
          <p:nvPr/>
        </p:nvCxnSpPr>
        <p:spPr>
          <a:xfrm>
            <a:off x="950976" y="1554480"/>
            <a:ext cx="3338400" cy="0"/>
          </a:xfrm>
          <a:prstGeom prst="straightConnector1">
            <a:avLst/>
          </a:prstGeom>
          <a:noFill/>
          <a:ln cap="flat" cmpd="sng" w="12700">
            <a:solidFill>
              <a:srgbClr val="D2D2D7"/>
            </a:solidFill>
            <a:prstDash val="solid"/>
            <a:round/>
            <a:headEnd len="sm" w="sm" type="none"/>
            <a:tailEnd len="sm" w="sm" type="none"/>
          </a:ln>
        </p:spPr>
      </p:cxnSp>
      <p:sp>
        <p:nvSpPr>
          <p:cNvPr id="190" name="Google Shape;190;g3f72ffb808c_3_34"/>
          <p:cNvSpPr/>
          <p:nvPr/>
        </p:nvSpPr>
        <p:spPr>
          <a:xfrm>
            <a:off x="566928" y="1847088"/>
            <a:ext cx="3503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Arial"/>
              <a:buNone/>
            </a:pPr>
            <a:r>
              <a:rPr b="1" i="0" lang="en-US" sz="1300" u="none" cap="none" strike="noStrike">
                <a:solidFill>
                  <a:srgbClr val="1D1D1F"/>
                </a:solidFill>
                <a:latin typeface="Arial"/>
                <a:ea typeface="Arial"/>
                <a:cs typeface="Arial"/>
                <a:sym typeface="Arial"/>
              </a:rPr>
              <a:t>외부 데이터 수집</a:t>
            </a:r>
            <a:endParaRPr b="0" i="0" sz="1300" u="none" cap="none" strike="noStrike">
              <a:solidFill>
                <a:schemeClr val="dk1"/>
              </a:solidFill>
              <a:latin typeface="Calibri"/>
              <a:ea typeface="Calibri"/>
              <a:cs typeface="Calibri"/>
              <a:sym typeface="Calibri"/>
            </a:endParaRPr>
          </a:p>
        </p:txBody>
      </p:sp>
      <p:sp>
        <p:nvSpPr>
          <p:cNvPr id="191" name="Google Shape;191;g3f72ffb808c_3_34"/>
          <p:cNvSpPr/>
          <p:nvPr/>
        </p:nvSpPr>
        <p:spPr>
          <a:xfrm>
            <a:off x="566928" y="2121408"/>
            <a:ext cx="3503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50"/>
              <a:buFont typeface="Arial"/>
              <a:buNone/>
            </a:pPr>
            <a:r>
              <a:rPr b="0" i="0" lang="en-US" sz="1250" u="none" cap="none" strike="noStrike">
                <a:solidFill>
                  <a:srgbClr val="7A7A7A"/>
                </a:solidFill>
                <a:latin typeface="Arial"/>
                <a:ea typeface="Arial"/>
                <a:cs typeface="Arial"/>
                <a:sym typeface="Arial"/>
              </a:rPr>
              <a:t>Amazon S3에서 CSV 파일 다운로드</a:t>
            </a:r>
            <a:endParaRPr b="0" i="0" sz="1250" u="none" cap="none" strike="noStrike">
              <a:solidFill>
                <a:schemeClr val="dk1"/>
              </a:solidFill>
              <a:latin typeface="Calibri"/>
              <a:ea typeface="Calibri"/>
              <a:cs typeface="Calibri"/>
              <a:sym typeface="Calibri"/>
            </a:endParaRPr>
          </a:p>
        </p:txBody>
      </p:sp>
      <p:sp>
        <p:nvSpPr>
          <p:cNvPr id="192" name="Google Shape;192;g3f72ffb808c_3_34"/>
          <p:cNvSpPr/>
          <p:nvPr/>
        </p:nvSpPr>
        <p:spPr>
          <a:xfrm>
            <a:off x="4344314" y="1389888"/>
            <a:ext cx="329100" cy="3291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f72ffb808c_3_34"/>
          <p:cNvSpPr/>
          <p:nvPr/>
        </p:nvSpPr>
        <p:spPr>
          <a:xfrm>
            <a:off x="4344314" y="1389888"/>
            <a:ext cx="3291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cxnSp>
        <p:nvCxnSpPr>
          <p:cNvPr id="194" name="Google Shape;194;g3f72ffb808c_3_34"/>
          <p:cNvCxnSpPr/>
          <p:nvPr/>
        </p:nvCxnSpPr>
        <p:spPr>
          <a:xfrm>
            <a:off x="4728362" y="1554480"/>
            <a:ext cx="3338400" cy="0"/>
          </a:xfrm>
          <a:prstGeom prst="straightConnector1">
            <a:avLst/>
          </a:prstGeom>
          <a:noFill/>
          <a:ln cap="flat" cmpd="sng" w="12700">
            <a:solidFill>
              <a:srgbClr val="D2D2D7"/>
            </a:solidFill>
            <a:prstDash val="solid"/>
            <a:round/>
            <a:headEnd len="sm" w="sm" type="none"/>
            <a:tailEnd len="sm" w="sm" type="none"/>
          </a:ln>
        </p:spPr>
      </p:cxnSp>
      <p:sp>
        <p:nvSpPr>
          <p:cNvPr id="195" name="Google Shape;195;g3f72ffb808c_3_34"/>
          <p:cNvSpPr/>
          <p:nvPr/>
        </p:nvSpPr>
        <p:spPr>
          <a:xfrm>
            <a:off x="4344314" y="1847088"/>
            <a:ext cx="3503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Arial"/>
              <a:buNone/>
            </a:pPr>
            <a:r>
              <a:rPr b="1" i="0" lang="en-US" sz="1300" u="none" cap="none" strike="noStrike">
                <a:solidFill>
                  <a:srgbClr val="1D1D1F"/>
                </a:solidFill>
                <a:latin typeface="Arial"/>
                <a:ea typeface="Arial"/>
                <a:cs typeface="Arial"/>
                <a:sym typeface="Arial"/>
              </a:rPr>
              <a:t>관계형 스키마 설계</a:t>
            </a:r>
            <a:endParaRPr b="0" i="0" sz="1300" u="none" cap="none" strike="noStrike">
              <a:solidFill>
                <a:schemeClr val="dk1"/>
              </a:solidFill>
              <a:latin typeface="Calibri"/>
              <a:ea typeface="Calibri"/>
              <a:cs typeface="Calibri"/>
              <a:sym typeface="Calibri"/>
            </a:endParaRPr>
          </a:p>
        </p:txBody>
      </p:sp>
      <p:sp>
        <p:nvSpPr>
          <p:cNvPr id="196" name="Google Shape;196;g3f72ffb808c_3_34"/>
          <p:cNvSpPr/>
          <p:nvPr/>
        </p:nvSpPr>
        <p:spPr>
          <a:xfrm>
            <a:off x="4344314" y="2121408"/>
            <a:ext cx="3503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50"/>
              <a:buFont typeface="Arial"/>
              <a:buNone/>
            </a:pPr>
            <a:r>
              <a:rPr b="0" i="0" lang="en-US" sz="1250" u="none" cap="none" strike="noStrike">
                <a:solidFill>
                  <a:srgbClr val="7A7A7A"/>
                </a:solidFill>
                <a:latin typeface="Arial"/>
                <a:ea typeface="Arial"/>
                <a:cs typeface="Arial"/>
                <a:sym typeface="Arial"/>
              </a:rPr>
              <a:t>사용자·배정·이벤트 정보를 분리해 설계</a:t>
            </a:r>
            <a:endParaRPr b="0" i="0" sz="1250" u="none" cap="none" strike="noStrike">
              <a:solidFill>
                <a:schemeClr val="dk1"/>
              </a:solidFill>
              <a:latin typeface="Calibri"/>
              <a:ea typeface="Calibri"/>
              <a:cs typeface="Calibri"/>
              <a:sym typeface="Calibri"/>
            </a:endParaRPr>
          </a:p>
        </p:txBody>
      </p:sp>
      <p:sp>
        <p:nvSpPr>
          <p:cNvPr id="197" name="Google Shape;197;g3f72ffb808c_3_34"/>
          <p:cNvSpPr/>
          <p:nvPr/>
        </p:nvSpPr>
        <p:spPr>
          <a:xfrm>
            <a:off x="8121701" y="1389888"/>
            <a:ext cx="329100" cy="3291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f72ffb808c_3_34"/>
          <p:cNvSpPr/>
          <p:nvPr/>
        </p:nvSpPr>
        <p:spPr>
          <a:xfrm>
            <a:off x="8121701" y="1389888"/>
            <a:ext cx="3291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sp>
        <p:nvSpPr>
          <p:cNvPr id="199" name="Google Shape;199;g3f72ffb808c_3_34"/>
          <p:cNvSpPr/>
          <p:nvPr/>
        </p:nvSpPr>
        <p:spPr>
          <a:xfrm>
            <a:off x="8121701" y="1847088"/>
            <a:ext cx="3503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Arial"/>
              <a:buNone/>
            </a:pPr>
            <a:r>
              <a:rPr b="1" i="0" lang="en-US" sz="1300" u="none" cap="none" strike="noStrike">
                <a:solidFill>
                  <a:srgbClr val="1D1D1F"/>
                </a:solidFill>
                <a:latin typeface="Arial"/>
                <a:ea typeface="Arial"/>
                <a:cs typeface="Arial"/>
                <a:sym typeface="Arial"/>
              </a:rPr>
              <a:t>원천 테이블 적재</a:t>
            </a:r>
            <a:endParaRPr b="0" i="0" sz="1300" u="none" cap="none" strike="noStrike">
              <a:solidFill>
                <a:schemeClr val="dk1"/>
              </a:solidFill>
              <a:latin typeface="Calibri"/>
              <a:ea typeface="Calibri"/>
              <a:cs typeface="Calibri"/>
              <a:sym typeface="Calibri"/>
            </a:endParaRPr>
          </a:p>
        </p:txBody>
      </p:sp>
      <p:sp>
        <p:nvSpPr>
          <p:cNvPr id="200" name="Google Shape;200;g3f72ffb808c_3_34"/>
          <p:cNvSpPr/>
          <p:nvPr/>
        </p:nvSpPr>
        <p:spPr>
          <a:xfrm>
            <a:off x="8121700" y="2121400"/>
            <a:ext cx="38973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50"/>
              <a:buFont typeface="Arial"/>
              <a:buNone/>
            </a:pPr>
            <a:r>
              <a:rPr b="0" i="0" lang="en-US" sz="1250" u="none" cap="none" strike="noStrike">
                <a:solidFill>
                  <a:srgbClr val="7A7A7A"/>
                </a:solidFill>
                <a:latin typeface="Arial"/>
                <a:ea typeface="Arial"/>
                <a:cs typeface="Arial"/>
                <a:sym typeface="Arial"/>
              </a:rPr>
              <a:t>CREATE SCHEMA → CREATE TABLE → INSERT</a:t>
            </a:r>
            <a:endParaRPr b="0" i="0" sz="1250" u="none" cap="none" strike="noStrike">
              <a:solidFill>
                <a:schemeClr val="dk1"/>
              </a:solidFill>
              <a:latin typeface="Calibri"/>
              <a:ea typeface="Calibri"/>
              <a:cs typeface="Calibri"/>
              <a:sym typeface="Calibri"/>
            </a:endParaRPr>
          </a:p>
        </p:txBody>
      </p:sp>
      <p:sp>
        <p:nvSpPr>
          <p:cNvPr id="201" name="Google Shape;201;g3f72ffb808c_3_34"/>
          <p:cNvSpPr/>
          <p:nvPr/>
        </p:nvSpPr>
        <p:spPr>
          <a:xfrm>
            <a:off x="566928" y="2761488"/>
            <a:ext cx="4572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Raw Data Schema</a:t>
            </a:r>
            <a:endParaRPr b="0" i="0" sz="1575" u="none" cap="none" strike="noStrike">
              <a:solidFill>
                <a:schemeClr val="dk1"/>
              </a:solidFill>
              <a:latin typeface="Calibri"/>
              <a:ea typeface="Calibri"/>
              <a:cs typeface="Calibri"/>
              <a:sym typeface="Calibri"/>
            </a:endParaRPr>
          </a:p>
        </p:txBody>
      </p:sp>
      <p:sp>
        <p:nvSpPr>
          <p:cNvPr id="202" name="Google Shape;202;g3f72ffb808c_3_34"/>
          <p:cNvSpPr/>
          <p:nvPr/>
        </p:nvSpPr>
        <p:spPr>
          <a:xfrm>
            <a:off x="566928" y="5329239"/>
            <a:ext cx="45720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user_id를 기준으로 사용자 속성, 실험 배정, 행동 로그를 결합</a:t>
            </a:r>
            <a:endParaRPr b="0" i="0" sz="1000" u="none" cap="none" strike="noStrike">
              <a:solidFill>
                <a:schemeClr val="dk1"/>
              </a:solidFill>
              <a:latin typeface="Calibri"/>
              <a:ea typeface="Calibri"/>
              <a:cs typeface="Calibri"/>
              <a:sym typeface="Calibri"/>
            </a:endParaRPr>
          </a:p>
        </p:txBody>
      </p:sp>
      <p:sp>
        <p:nvSpPr>
          <p:cNvPr id="203" name="Google Shape;203;g3f72ffb808c_3_34"/>
          <p:cNvSpPr/>
          <p:nvPr/>
        </p:nvSpPr>
        <p:spPr>
          <a:xfrm>
            <a:off x="5376672" y="2761488"/>
            <a:ext cx="6248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테이블 역할</a:t>
            </a:r>
            <a:endParaRPr b="0" i="0" sz="1575" u="none" cap="none" strike="noStrike">
              <a:solidFill>
                <a:schemeClr val="dk1"/>
              </a:solidFill>
              <a:latin typeface="Calibri"/>
              <a:ea typeface="Calibri"/>
              <a:cs typeface="Calibri"/>
              <a:sym typeface="Calibri"/>
            </a:endParaRPr>
          </a:p>
        </p:txBody>
      </p:sp>
      <p:sp>
        <p:nvSpPr>
          <p:cNvPr id="204" name="Google Shape;204;g3f72ffb808c_3_34"/>
          <p:cNvSpPr/>
          <p:nvPr/>
        </p:nvSpPr>
        <p:spPr>
          <a:xfrm>
            <a:off x="5376672" y="3273552"/>
            <a:ext cx="17373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250" u="none" cap="none" strike="noStrike">
                <a:solidFill>
                  <a:srgbClr val="1D1D1F"/>
                </a:solidFill>
                <a:latin typeface="Arial"/>
                <a:ea typeface="Arial"/>
                <a:cs typeface="Arial"/>
                <a:sym typeface="Arial"/>
              </a:rPr>
              <a:t>users</a:t>
            </a:r>
            <a:endParaRPr b="0" i="0" sz="1250" u="none" cap="none" strike="noStrike">
              <a:solidFill>
                <a:schemeClr val="dk1"/>
              </a:solidFill>
              <a:latin typeface="Calibri"/>
              <a:ea typeface="Calibri"/>
              <a:cs typeface="Calibri"/>
              <a:sym typeface="Calibri"/>
            </a:endParaRPr>
          </a:p>
        </p:txBody>
      </p:sp>
      <p:sp>
        <p:nvSpPr>
          <p:cNvPr id="205" name="Google Shape;205;g3f72ffb808c_3_34"/>
          <p:cNvSpPr/>
          <p:nvPr/>
        </p:nvSpPr>
        <p:spPr>
          <a:xfrm>
            <a:off x="7114032" y="3273552"/>
            <a:ext cx="45108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사용자 기준 키 제공</a:t>
            </a:r>
            <a:endParaRPr b="0" i="0" sz="1100" u="none" cap="none" strike="noStrike">
              <a:solidFill>
                <a:schemeClr val="dk1"/>
              </a:solidFill>
              <a:latin typeface="Calibri"/>
              <a:ea typeface="Calibri"/>
              <a:cs typeface="Calibri"/>
              <a:sym typeface="Calibri"/>
            </a:endParaRPr>
          </a:p>
        </p:txBody>
      </p:sp>
      <p:cxnSp>
        <p:nvCxnSpPr>
          <p:cNvPr id="206" name="Google Shape;206;g3f72ffb808c_3_34"/>
          <p:cNvCxnSpPr/>
          <p:nvPr/>
        </p:nvCxnSpPr>
        <p:spPr>
          <a:xfrm>
            <a:off x="5376672" y="3790188"/>
            <a:ext cx="6248100" cy="0"/>
          </a:xfrm>
          <a:prstGeom prst="straightConnector1">
            <a:avLst/>
          </a:prstGeom>
          <a:noFill/>
          <a:ln cap="flat" cmpd="sng" w="12700">
            <a:solidFill>
              <a:srgbClr val="E0E0E0"/>
            </a:solidFill>
            <a:prstDash val="solid"/>
            <a:round/>
            <a:headEnd len="sm" w="sm" type="none"/>
            <a:tailEnd len="sm" w="sm" type="none"/>
          </a:ln>
        </p:spPr>
      </p:cxnSp>
      <p:sp>
        <p:nvSpPr>
          <p:cNvPr id="207" name="Google Shape;207;g3f72ffb808c_3_34"/>
          <p:cNvSpPr/>
          <p:nvPr/>
        </p:nvSpPr>
        <p:spPr>
          <a:xfrm>
            <a:off x="5376672" y="3845052"/>
            <a:ext cx="17373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250" u="none" cap="none" strike="noStrike">
                <a:solidFill>
                  <a:srgbClr val="1D1D1F"/>
                </a:solidFill>
                <a:latin typeface="Arial"/>
                <a:ea typeface="Arial"/>
                <a:cs typeface="Arial"/>
                <a:sym typeface="Arial"/>
              </a:rPr>
              <a:t>user_metadata</a:t>
            </a:r>
            <a:endParaRPr b="0" i="0" sz="1250" u="none" cap="none" strike="noStrike">
              <a:solidFill>
                <a:schemeClr val="dk1"/>
              </a:solidFill>
              <a:latin typeface="Calibri"/>
              <a:ea typeface="Calibri"/>
              <a:cs typeface="Calibri"/>
              <a:sym typeface="Calibri"/>
            </a:endParaRPr>
          </a:p>
        </p:txBody>
      </p:sp>
      <p:sp>
        <p:nvSpPr>
          <p:cNvPr id="208" name="Google Shape;208;g3f72ffb808c_3_34"/>
          <p:cNvSpPr/>
          <p:nvPr/>
        </p:nvSpPr>
        <p:spPr>
          <a:xfrm>
            <a:off x="7114032" y="3845052"/>
            <a:ext cx="45108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연령·성별 등 사용자 속성 저장</a:t>
            </a:r>
            <a:endParaRPr b="0" i="0" sz="1100" u="none" cap="none" strike="noStrike">
              <a:solidFill>
                <a:schemeClr val="dk1"/>
              </a:solidFill>
              <a:latin typeface="Calibri"/>
              <a:ea typeface="Calibri"/>
              <a:cs typeface="Calibri"/>
              <a:sym typeface="Calibri"/>
            </a:endParaRPr>
          </a:p>
        </p:txBody>
      </p:sp>
      <p:cxnSp>
        <p:nvCxnSpPr>
          <p:cNvPr id="209" name="Google Shape;209;g3f72ffb808c_3_34"/>
          <p:cNvCxnSpPr/>
          <p:nvPr/>
        </p:nvCxnSpPr>
        <p:spPr>
          <a:xfrm>
            <a:off x="5376672" y="4361688"/>
            <a:ext cx="6248100" cy="0"/>
          </a:xfrm>
          <a:prstGeom prst="straightConnector1">
            <a:avLst/>
          </a:prstGeom>
          <a:noFill/>
          <a:ln cap="flat" cmpd="sng" w="12700">
            <a:solidFill>
              <a:srgbClr val="E0E0E0"/>
            </a:solidFill>
            <a:prstDash val="solid"/>
            <a:round/>
            <a:headEnd len="sm" w="sm" type="none"/>
            <a:tailEnd len="sm" w="sm" type="none"/>
          </a:ln>
        </p:spPr>
      </p:cxnSp>
      <p:sp>
        <p:nvSpPr>
          <p:cNvPr id="210" name="Google Shape;210;g3f72ffb808c_3_34"/>
          <p:cNvSpPr/>
          <p:nvPr/>
        </p:nvSpPr>
        <p:spPr>
          <a:xfrm>
            <a:off x="5376672" y="4416552"/>
            <a:ext cx="17373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250" u="none" cap="none" strike="noStrike">
                <a:solidFill>
                  <a:srgbClr val="1D1D1F"/>
                </a:solidFill>
                <a:latin typeface="Arial"/>
                <a:ea typeface="Arial"/>
                <a:cs typeface="Arial"/>
                <a:sym typeface="Arial"/>
              </a:rPr>
              <a:t>user_variant</a:t>
            </a:r>
            <a:endParaRPr b="0" i="0" sz="1250" u="none" cap="none" strike="noStrike">
              <a:solidFill>
                <a:schemeClr val="dk1"/>
              </a:solidFill>
              <a:latin typeface="Calibri"/>
              <a:ea typeface="Calibri"/>
              <a:cs typeface="Calibri"/>
              <a:sym typeface="Calibri"/>
            </a:endParaRPr>
          </a:p>
        </p:txBody>
      </p:sp>
      <p:sp>
        <p:nvSpPr>
          <p:cNvPr id="211" name="Google Shape;211;g3f72ffb808c_3_34"/>
          <p:cNvSpPr/>
          <p:nvPr/>
        </p:nvSpPr>
        <p:spPr>
          <a:xfrm>
            <a:off x="7114032" y="4416552"/>
            <a:ext cx="45108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사용자별 실험군·대조군 배정 정보 저장</a:t>
            </a:r>
            <a:endParaRPr b="0" i="0" sz="1100" u="none" cap="none" strike="noStrike">
              <a:solidFill>
                <a:schemeClr val="dk1"/>
              </a:solidFill>
              <a:latin typeface="Calibri"/>
              <a:ea typeface="Calibri"/>
              <a:cs typeface="Calibri"/>
              <a:sym typeface="Calibri"/>
            </a:endParaRPr>
          </a:p>
        </p:txBody>
      </p:sp>
      <p:cxnSp>
        <p:nvCxnSpPr>
          <p:cNvPr id="212" name="Google Shape;212;g3f72ffb808c_3_34"/>
          <p:cNvCxnSpPr/>
          <p:nvPr/>
        </p:nvCxnSpPr>
        <p:spPr>
          <a:xfrm>
            <a:off x="5376672" y="4933188"/>
            <a:ext cx="6248100" cy="0"/>
          </a:xfrm>
          <a:prstGeom prst="straightConnector1">
            <a:avLst/>
          </a:prstGeom>
          <a:noFill/>
          <a:ln cap="flat" cmpd="sng" w="12700">
            <a:solidFill>
              <a:srgbClr val="E0E0E0"/>
            </a:solidFill>
            <a:prstDash val="solid"/>
            <a:round/>
            <a:headEnd len="sm" w="sm" type="none"/>
            <a:tailEnd len="sm" w="sm" type="none"/>
          </a:ln>
        </p:spPr>
      </p:cxnSp>
      <p:sp>
        <p:nvSpPr>
          <p:cNvPr id="213" name="Google Shape;213;g3f72ffb808c_3_34"/>
          <p:cNvSpPr/>
          <p:nvPr/>
        </p:nvSpPr>
        <p:spPr>
          <a:xfrm>
            <a:off x="5376672" y="4988052"/>
            <a:ext cx="17373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250" u="none" cap="none" strike="noStrike">
                <a:solidFill>
                  <a:srgbClr val="1D1D1F"/>
                </a:solidFill>
                <a:latin typeface="Arial"/>
                <a:ea typeface="Arial"/>
                <a:cs typeface="Arial"/>
                <a:sym typeface="Arial"/>
              </a:rPr>
              <a:t>user_event</a:t>
            </a:r>
            <a:endParaRPr b="0" i="0" sz="1250" u="none" cap="none" strike="noStrike">
              <a:solidFill>
                <a:schemeClr val="dk1"/>
              </a:solidFill>
              <a:latin typeface="Calibri"/>
              <a:ea typeface="Calibri"/>
              <a:cs typeface="Calibri"/>
              <a:sym typeface="Calibri"/>
            </a:endParaRPr>
          </a:p>
        </p:txBody>
      </p:sp>
      <p:sp>
        <p:nvSpPr>
          <p:cNvPr id="214" name="Google Shape;214;g3f72ffb808c_3_34"/>
          <p:cNvSpPr/>
          <p:nvPr/>
        </p:nvSpPr>
        <p:spPr>
          <a:xfrm>
            <a:off x="7114032" y="4988052"/>
            <a:ext cx="4510800" cy="461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날짜별 노출·클릭·구매·결제 행동 로그 저장</a:t>
            </a:r>
            <a:endParaRPr b="0" i="0" sz="1100" u="none" cap="none" strike="noStrike">
              <a:solidFill>
                <a:schemeClr val="dk1"/>
              </a:solidFill>
              <a:latin typeface="Calibri"/>
              <a:ea typeface="Calibri"/>
              <a:cs typeface="Calibri"/>
              <a:sym typeface="Calibri"/>
            </a:endParaRPr>
          </a:p>
        </p:txBody>
      </p:sp>
      <p:cxnSp>
        <p:nvCxnSpPr>
          <p:cNvPr id="215" name="Google Shape;215;g3f72ffb808c_3_34"/>
          <p:cNvCxnSpPr/>
          <p:nvPr/>
        </p:nvCxnSpPr>
        <p:spPr>
          <a:xfrm>
            <a:off x="2620124" y="3771819"/>
            <a:ext cx="0" cy="78300"/>
          </a:xfrm>
          <a:prstGeom prst="straightConnector1">
            <a:avLst/>
          </a:prstGeom>
          <a:noFill/>
          <a:ln cap="flat" cmpd="sng" w="9525">
            <a:solidFill>
              <a:srgbClr val="D2D2D7"/>
            </a:solidFill>
            <a:prstDash val="solid"/>
            <a:round/>
            <a:headEnd len="sm" w="sm" type="none"/>
            <a:tailEnd len="sm" w="sm" type="none"/>
          </a:ln>
        </p:spPr>
      </p:cxnSp>
      <p:cxnSp>
        <p:nvCxnSpPr>
          <p:cNvPr id="216" name="Google Shape;216;g3f72ffb808c_3_34"/>
          <p:cNvCxnSpPr/>
          <p:nvPr/>
        </p:nvCxnSpPr>
        <p:spPr>
          <a:xfrm>
            <a:off x="1206416" y="3849996"/>
            <a:ext cx="2827500" cy="0"/>
          </a:xfrm>
          <a:prstGeom prst="straightConnector1">
            <a:avLst/>
          </a:prstGeom>
          <a:noFill/>
          <a:ln cap="flat" cmpd="sng" w="9525">
            <a:solidFill>
              <a:srgbClr val="D2D2D7"/>
            </a:solidFill>
            <a:prstDash val="solid"/>
            <a:round/>
            <a:headEnd len="sm" w="sm" type="none"/>
            <a:tailEnd len="sm" w="sm" type="none"/>
          </a:ln>
        </p:spPr>
      </p:cxnSp>
      <p:cxnSp>
        <p:nvCxnSpPr>
          <p:cNvPr id="217" name="Google Shape;217;g3f72ffb808c_3_34"/>
          <p:cNvCxnSpPr/>
          <p:nvPr/>
        </p:nvCxnSpPr>
        <p:spPr>
          <a:xfrm>
            <a:off x="1206416" y="3849996"/>
            <a:ext cx="0" cy="78300"/>
          </a:xfrm>
          <a:prstGeom prst="straightConnector1">
            <a:avLst/>
          </a:prstGeom>
          <a:noFill/>
          <a:ln cap="flat" cmpd="sng" w="9525">
            <a:solidFill>
              <a:srgbClr val="D2D2D7"/>
            </a:solidFill>
            <a:prstDash val="solid"/>
            <a:round/>
            <a:headEnd len="sm" w="sm" type="none"/>
            <a:tailEnd len="sm" w="sm" type="none"/>
          </a:ln>
        </p:spPr>
      </p:cxnSp>
      <p:cxnSp>
        <p:nvCxnSpPr>
          <p:cNvPr id="218" name="Google Shape;218;g3f72ffb808c_3_34"/>
          <p:cNvCxnSpPr/>
          <p:nvPr/>
        </p:nvCxnSpPr>
        <p:spPr>
          <a:xfrm>
            <a:off x="2620124" y="3849996"/>
            <a:ext cx="0" cy="78300"/>
          </a:xfrm>
          <a:prstGeom prst="straightConnector1">
            <a:avLst/>
          </a:prstGeom>
          <a:noFill/>
          <a:ln cap="flat" cmpd="sng" w="9525">
            <a:solidFill>
              <a:srgbClr val="D2D2D7"/>
            </a:solidFill>
            <a:prstDash val="solid"/>
            <a:round/>
            <a:headEnd len="sm" w="sm" type="none"/>
            <a:tailEnd len="sm" w="sm" type="none"/>
          </a:ln>
        </p:spPr>
      </p:cxnSp>
      <p:cxnSp>
        <p:nvCxnSpPr>
          <p:cNvPr id="219" name="Google Shape;219;g3f72ffb808c_3_34"/>
          <p:cNvCxnSpPr/>
          <p:nvPr/>
        </p:nvCxnSpPr>
        <p:spPr>
          <a:xfrm>
            <a:off x="4033831" y="3849996"/>
            <a:ext cx="0" cy="78300"/>
          </a:xfrm>
          <a:prstGeom prst="straightConnector1">
            <a:avLst/>
          </a:prstGeom>
          <a:noFill/>
          <a:ln cap="flat" cmpd="sng" w="9525">
            <a:solidFill>
              <a:srgbClr val="D2D2D7"/>
            </a:solidFill>
            <a:prstDash val="solid"/>
            <a:round/>
            <a:headEnd len="sm" w="sm" type="none"/>
            <a:tailEnd len="sm" w="sm" type="none"/>
          </a:ln>
        </p:spPr>
      </p:cxnSp>
      <p:sp>
        <p:nvSpPr>
          <p:cNvPr id="220" name="Google Shape;220;g3f72ffb808c_3_34"/>
          <p:cNvSpPr/>
          <p:nvPr/>
        </p:nvSpPr>
        <p:spPr>
          <a:xfrm>
            <a:off x="571225" y="3928173"/>
            <a:ext cx="1270500" cy="589500"/>
          </a:xfrm>
          <a:prstGeom prst="rect">
            <a:avLst/>
          </a:prstGeom>
          <a:solidFill>
            <a:srgbClr val="FFFFFF"/>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f72ffb808c_3_34"/>
          <p:cNvSpPr/>
          <p:nvPr/>
        </p:nvSpPr>
        <p:spPr>
          <a:xfrm>
            <a:off x="571225" y="3928173"/>
            <a:ext cx="1270500" cy="169200"/>
          </a:xfrm>
          <a:prstGeom prst="rect">
            <a:avLst/>
          </a:prstGeom>
          <a:solidFill>
            <a:srgbClr val="0066CC"/>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3f72ffb808c_3_34"/>
          <p:cNvSpPr/>
          <p:nvPr/>
        </p:nvSpPr>
        <p:spPr>
          <a:xfrm>
            <a:off x="636373" y="4097557"/>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1" i="0" lang="en-US" sz="623" u="none" cap="none" strike="noStrike">
                <a:solidFill>
                  <a:srgbClr val="1D1D1F"/>
                </a:solidFill>
                <a:latin typeface="Arial"/>
                <a:ea typeface="Arial"/>
                <a:cs typeface="Arial"/>
                <a:sym typeface="Arial"/>
              </a:rPr>
              <a:t>🔑 user_id</a:t>
            </a:r>
            <a:endParaRPr b="0" i="0" sz="623" u="none" cap="none" strike="noStrike">
              <a:solidFill>
                <a:schemeClr val="dk1"/>
              </a:solidFill>
              <a:latin typeface="Calibri"/>
              <a:ea typeface="Calibri"/>
              <a:cs typeface="Calibri"/>
              <a:sym typeface="Calibri"/>
            </a:endParaRPr>
          </a:p>
        </p:txBody>
      </p:sp>
      <p:sp>
        <p:nvSpPr>
          <p:cNvPr id="223" name="Google Shape;223;g3f72ffb808c_3_34"/>
          <p:cNvSpPr/>
          <p:nvPr/>
        </p:nvSpPr>
        <p:spPr>
          <a:xfrm>
            <a:off x="1257231" y="4097557"/>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24" name="Google Shape;224;g3f72ffb808c_3_34"/>
          <p:cNvSpPr/>
          <p:nvPr/>
        </p:nvSpPr>
        <p:spPr>
          <a:xfrm>
            <a:off x="636373" y="4237624"/>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age</a:t>
            </a:r>
            <a:endParaRPr b="0" i="0" sz="623" u="none" cap="none" strike="noStrike">
              <a:solidFill>
                <a:schemeClr val="dk1"/>
              </a:solidFill>
              <a:latin typeface="Calibri"/>
              <a:ea typeface="Calibri"/>
              <a:cs typeface="Calibri"/>
              <a:sym typeface="Calibri"/>
            </a:endParaRPr>
          </a:p>
        </p:txBody>
      </p:sp>
      <p:sp>
        <p:nvSpPr>
          <p:cNvPr id="225" name="Google Shape;225;g3f72ffb808c_3_34"/>
          <p:cNvSpPr/>
          <p:nvPr/>
        </p:nvSpPr>
        <p:spPr>
          <a:xfrm>
            <a:off x="1257231" y="4237624"/>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varchar(16)</a:t>
            </a:r>
            <a:endParaRPr b="0" i="0" sz="570" u="none" cap="none" strike="noStrike">
              <a:solidFill>
                <a:schemeClr val="dk1"/>
              </a:solidFill>
              <a:latin typeface="Calibri"/>
              <a:ea typeface="Calibri"/>
              <a:cs typeface="Calibri"/>
              <a:sym typeface="Calibri"/>
            </a:endParaRPr>
          </a:p>
        </p:txBody>
      </p:sp>
      <p:sp>
        <p:nvSpPr>
          <p:cNvPr id="226" name="Google Shape;226;g3f72ffb808c_3_34"/>
          <p:cNvSpPr/>
          <p:nvPr/>
        </p:nvSpPr>
        <p:spPr>
          <a:xfrm>
            <a:off x="636373" y="4377691"/>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gender</a:t>
            </a:r>
            <a:endParaRPr b="0" i="0" sz="623" u="none" cap="none" strike="noStrike">
              <a:solidFill>
                <a:schemeClr val="dk1"/>
              </a:solidFill>
              <a:latin typeface="Calibri"/>
              <a:ea typeface="Calibri"/>
              <a:cs typeface="Calibri"/>
              <a:sym typeface="Calibri"/>
            </a:endParaRPr>
          </a:p>
        </p:txBody>
      </p:sp>
      <p:sp>
        <p:nvSpPr>
          <p:cNvPr id="227" name="Google Shape;227;g3f72ffb808c_3_34"/>
          <p:cNvSpPr/>
          <p:nvPr/>
        </p:nvSpPr>
        <p:spPr>
          <a:xfrm>
            <a:off x="1257231" y="4377691"/>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varchar(32)</a:t>
            </a:r>
            <a:endParaRPr b="0" i="0" sz="570" u="none" cap="none" strike="noStrike">
              <a:solidFill>
                <a:schemeClr val="dk1"/>
              </a:solidFill>
              <a:latin typeface="Calibri"/>
              <a:ea typeface="Calibri"/>
              <a:cs typeface="Calibri"/>
              <a:sym typeface="Calibri"/>
            </a:endParaRPr>
          </a:p>
        </p:txBody>
      </p:sp>
      <p:sp>
        <p:nvSpPr>
          <p:cNvPr id="228" name="Google Shape;228;g3f72ffb808c_3_34"/>
          <p:cNvSpPr/>
          <p:nvPr/>
        </p:nvSpPr>
        <p:spPr>
          <a:xfrm>
            <a:off x="1984933" y="3928173"/>
            <a:ext cx="1270500" cy="449400"/>
          </a:xfrm>
          <a:prstGeom prst="rect">
            <a:avLst/>
          </a:prstGeom>
          <a:solidFill>
            <a:srgbClr val="FFFFFF"/>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3f72ffb808c_3_34"/>
          <p:cNvSpPr/>
          <p:nvPr/>
        </p:nvSpPr>
        <p:spPr>
          <a:xfrm>
            <a:off x="1984933" y="3928173"/>
            <a:ext cx="1270500" cy="169200"/>
          </a:xfrm>
          <a:prstGeom prst="rect">
            <a:avLst/>
          </a:prstGeom>
          <a:solidFill>
            <a:srgbClr val="0066CC"/>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f72ffb808c_3_34"/>
          <p:cNvSpPr/>
          <p:nvPr/>
        </p:nvSpPr>
        <p:spPr>
          <a:xfrm>
            <a:off x="2050080" y="4097557"/>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1" i="0" lang="en-US" sz="623" u="none" cap="none" strike="noStrike">
                <a:solidFill>
                  <a:srgbClr val="1D1D1F"/>
                </a:solidFill>
                <a:latin typeface="Arial"/>
                <a:ea typeface="Arial"/>
                <a:cs typeface="Arial"/>
                <a:sym typeface="Arial"/>
              </a:rPr>
              <a:t>🔑 user_id</a:t>
            </a:r>
            <a:endParaRPr b="0" i="0" sz="623" u="none" cap="none" strike="noStrike">
              <a:solidFill>
                <a:schemeClr val="dk1"/>
              </a:solidFill>
              <a:latin typeface="Calibri"/>
              <a:ea typeface="Calibri"/>
              <a:cs typeface="Calibri"/>
              <a:sym typeface="Calibri"/>
            </a:endParaRPr>
          </a:p>
        </p:txBody>
      </p:sp>
      <p:sp>
        <p:nvSpPr>
          <p:cNvPr id="231" name="Google Shape;231;g3f72ffb808c_3_34"/>
          <p:cNvSpPr/>
          <p:nvPr/>
        </p:nvSpPr>
        <p:spPr>
          <a:xfrm>
            <a:off x="2670939" y="4097557"/>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32" name="Google Shape;232;g3f72ffb808c_3_34"/>
          <p:cNvSpPr/>
          <p:nvPr/>
        </p:nvSpPr>
        <p:spPr>
          <a:xfrm>
            <a:off x="2050080" y="4237624"/>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variant_id</a:t>
            </a:r>
            <a:endParaRPr b="0" i="0" sz="623" u="none" cap="none" strike="noStrike">
              <a:solidFill>
                <a:schemeClr val="dk1"/>
              </a:solidFill>
              <a:latin typeface="Calibri"/>
              <a:ea typeface="Calibri"/>
              <a:cs typeface="Calibri"/>
              <a:sym typeface="Calibri"/>
            </a:endParaRPr>
          </a:p>
        </p:txBody>
      </p:sp>
      <p:sp>
        <p:nvSpPr>
          <p:cNvPr id="233" name="Google Shape;233;g3f72ffb808c_3_34"/>
          <p:cNvSpPr/>
          <p:nvPr/>
        </p:nvSpPr>
        <p:spPr>
          <a:xfrm>
            <a:off x="2670939" y="4237624"/>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varchar(32)</a:t>
            </a:r>
            <a:endParaRPr b="0" i="0" sz="570" u="none" cap="none" strike="noStrike">
              <a:solidFill>
                <a:schemeClr val="dk1"/>
              </a:solidFill>
              <a:latin typeface="Calibri"/>
              <a:ea typeface="Calibri"/>
              <a:cs typeface="Calibri"/>
              <a:sym typeface="Calibri"/>
            </a:endParaRPr>
          </a:p>
        </p:txBody>
      </p:sp>
      <p:sp>
        <p:nvSpPr>
          <p:cNvPr id="234" name="Google Shape;234;g3f72ffb808c_3_34"/>
          <p:cNvSpPr/>
          <p:nvPr/>
        </p:nvSpPr>
        <p:spPr>
          <a:xfrm>
            <a:off x="3398640" y="3928173"/>
            <a:ext cx="1270500" cy="1149900"/>
          </a:xfrm>
          <a:prstGeom prst="rect">
            <a:avLst/>
          </a:prstGeom>
          <a:solidFill>
            <a:srgbClr val="FFFFFF"/>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f72ffb808c_3_34"/>
          <p:cNvSpPr/>
          <p:nvPr/>
        </p:nvSpPr>
        <p:spPr>
          <a:xfrm>
            <a:off x="3398640" y="3928173"/>
            <a:ext cx="1270500" cy="169200"/>
          </a:xfrm>
          <a:prstGeom prst="rect">
            <a:avLst/>
          </a:prstGeom>
          <a:solidFill>
            <a:srgbClr val="0066CC"/>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f72ffb808c_3_34"/>
          <p:cNvSpPr/>
          <p:nvPr/>
        </p:nvSpPr>
        <p:spPr>
          <a:xfrm>
            <a:off x="3463788" y="4097557"/>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1" i="0" lang="en-US" sz="623" u="none" cap="none" strike="noStrike">
                <a:solidFill>
                  <a:srgbClr val="1D1D1F"/>
                </a:solidFill>
                <a:latin typeface="Arial"/>
                <a:ea typeface="Arial"/>
                <a:cs typeface="Arial"/>
                <a:sym typeface="Arial"/>
              </a:rPr>
              <a:t>🔑 event_id</a:t>
            </a:r>
            <a:endParaRPr b="0" i="0" sz="623" u="none" cap="none" strike="noStrike">
              <a:solidFill>
                <a:schemeClr val="dk1"/>
              </a:solidFill>
              <a:latin typeface="Calibri"/>
              <a:ea typeface="Calibri"/>
              <a:cs typeface="Calibri"/>
              <a:sym typeface="Calibri"/>
            </a:endParaRPr>
          </a:p>
        </p:txBody>
      </p:sp>
      <p:sp>
        <p:nvSpPr>
          <p:cNvPr id="237" name="Google Shape;237;g3f72ffb808c_3_34"/>
          <p:cNvSpPr/>
          <p:nvPr/>
        </p:nvSpPr>
        <p:spPr>
          <a:xfrm>
            <a:off x="4084647" y="4097557"/>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bigserial</a:t>
            </a:r>
            <a:endParaRPr b="0" i="0" sz="570" u="none" cap="none" strike="noStrike">
              <a:solidFill>
                <a:schemeClr val="dk1"/>
              </a:solidFill>
              <a:latin typeface="Calibri"/>
              <a:ea typeface="Calibri"/>
              <a:cs typeface="Calibri"/>
              <a:sym typeface="Calibri"/>
            </a:endParaRPr>
          </a:p>
        </p:txBody>
      </p:sp>
      <p:sp>
        <p:nvSpPr>
          <p:cNvPr id="238" name="Google Shape;238;g3f72ffb808c_3_34"/>
          <p:cNvSpPr/>
          <p:nvPr/>
        </p:nvSpPr>
        <p:spPr>
          <a:xfrm>
            <a:off x="3463788" y="4237624"/>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user_id</a:t>
            </a:r>
            <a:endParaRPr b="0" i="0" sz="623" u="none" cap="none" strike="noStrike">
              <a:solidFill>
                <a:schemeClr val="dk1"/>
              </a:solidFill>
              <a:latin typeface="Calibri"/>
              <a:ea typeface="Calibri"/>
              <a:cs typeface="Calibri"/>
              <a:sym typeface="Calibri"/>
            </a:endParaRPr>
          </a:p>
        </p:txBody>
      </p:sp>
      <p:sp>
        <p:nvSpPr>
          <p:cNvPr id="239" name="Google Shape;239;g3f72ffb808c_3_34"/>
          <p:cNvSpPr/>
          <p:nvPr/>
        </p:nvSpPr>
        <p:spPr>
          <a:xfrm>
            <a:off x="4084647" y="4237624"/>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40" name="Google Shape;240;g3f72ffb808c_3_34"/>
          <p:cNvSpPr/>
          <p:nvPr/>
        </p:nvSpPr>
        <p:spPr>
          <a:xfrm>
            <a:off x="3463788" y="4377691"/>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datestamp</a:t>
            </a:r>
            <a:endParaRPr b="0" i="0" sz="623" u="none" cap="none" strike="noStrike">
              <a:solidFill>
                <a:schemeClr val="dk1"/>
              </a:solidFill>
              <a:latin typeface="Calibri"/>
              <a:ea typeface="Calibri"/>
              <a:cs typeface="Calibri"/>
              <a:sym typeface="Calibri"/>
            </a:endParaRPr>
          </a:p>
        </p:txBody>
      </p:sp>
      <p:sp>
        <p:nvSpPr>
          <p:cNvPr id="241" name="Google Shape;241;g3f72ffb808c_3_34"/>
          <p:cNvSpPr/>
          <p:nvPr/>
        </p:nvSpPr>
        <p:spPr>
          <a:xfrm>
            <a:off x="4084647" y="4377691"/>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timestamp</a:t>
            </a:r>
            <a:endParaRPr b="0" i="0" sz="570" u="none" cap="none" strike="noStrike">
              <a:solidFill>
                <a:schemeClr val="dk1"/>
              </a:solidFill>
              <a:latin typeface="Calibri"/>
              <a:ea typeface="Calibri"/>
              <a:cs typeface="Calibri"/>
              <a:sym typeface="Calibri"/>
            </a:endParaRPr>
          </a:p>
        </p:txBody>
      </p:sp>
      <p:sp>
        <p:nvSpPr>
          <p:cNvPr id="242" name="Google Shape;242;g3f72ffb808c_3_34"/>
          <p:cNvSpPr/>
          <p:nvPr/>
        </p:nvSpPr>
        <p:spPr>
          <a:xfrm>
            <a:off x="3463788" y="4517759"/>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item_id</a:t>
            </a:r>
            <a:endParaRPr b="0" i="0" sz="623" u="none" cap="none" strike="noStrike">
              <a:solidFill>
                <a:schemeClr val="dk1"/>
              </a:solidFill>
              <a:latin typeface="Calibri"/>
              <a:ea typeface="Calibri"/>
              <a:cs typeface="Calibri"/>
              <a:sym typeface="Calibri"/>
            </a:endParaRPr>
          </a:p>
        </p:txBody>
      </p:sp>
      <p:sp>
        <p:nvSpPr>
          <p:cNvPr id="243" name="Google Shape;243;g3f72ffb808c_3_34"/>
          <p:cNvSpPr/>
          <p:nvPr/>
        </p:nvSpPr>
        <p:spPr>
          <a:xfrm>
            <a:off x="4084647" y="4517759"/>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44" name="Google Shape;244;g3f72ffb808c_3_34"/>
          <p:cNvSpPr/>
          <p:nvPr/>
        </p:nvSpPr>
        <p:spPr>
          <a:xfrm>
            <a:off x="3463788" y="4657826"/>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clicked</a:t>
            </a:r>
            <a:endParaRPr b="0" i="0" sz="623" u="none" cap="none" strike="noStrike">
              <a:solidFill>
                <a:schemeClr val="dk1"/>
              </a:solidFill>
              <a:latin typeface="Calibri"/>
              <a:ea typeface="Calibri"/>
              <a:cs typeface="Calibri"/>
              <a:sym typeface="Calibri"/>
            </a:endParaRPr>
          </a:p>
        </p:txBody>
      </p:sp>
      <p:sp>
        <p:nvSpPr>
          <p:cNvPr id="245" name="Google Shape;245;g3f72ffb808c_3_34"/>
          <p:cNvSpPr/>
          <p:nvPr/>
        </p:nvSpPr>
        <p:spPr>
          <a:xfrm>
            <a:off x="4084647" y="4657826"/>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46" name="Google Shape;246;g3f72ffb808c_3_34"/>
          <p:cNvSpPr/>
          <p:nvPr/>
        </p:nvSpPr>
        <p:spPr>
          <a:xfrm>
            <a:off x="3463788" y="4797893"/>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0" i="0" lang="en-US" sz="623" u="none" cap="none" strike="noStrike">
                <a:solidFill>
                  <a:srgbClr val="1D1D1F"/>
                </a:solidFill>
                <a:latin typeface="Arial"/>
                <a:ea typeface="Arial"/>
                <a:cs typeface="Arial"/>
                <a:sym typeface="Arial"/>
              </a:rPr>
              <a:t>purchased</a:t>
            </a:r>
            <a:endParaRPr b="0" i="0" sz="623" u="none" cap="none" strike="noStrike">
              <a:solidFill>
                <a:schemeClr val="dk1"/>
              </a:solidFill>
              <a:latin typeface="Calibri"/>
              <a:ea typeface="Calibri"/>
              <a:cs typeface="Calibri"/>
              <a:sym typeface="Calibri"/>
            </a:endParaRPr>
          </a:p>
        </p:txBody>
      </p:sp>
      <p:sp>
        <p:nvSpPr>
          <p:cNvPr id="247" name="Google Shape;247;g3f72ffb808c_3_34"/>
          <p:cNvSpPr/>
          <p:nvPr/>
        </p:nvSpPr>
        <p:spPr>
          <a:xfrm>
            <a:off x="4084647" y="4797893"/>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48" name="Google Shape;248;g3f72ffb808c_3_34"/>
          <p:cNvSpPr/>
          <p:nvPr/>
        </p:nvSpPr>
        <p:spPr>
          <a:xfrm>
            <a:off x="1984925" y="3394775"/>
            <a:ext cx="1270500" cy="329100"/>
          </a:xfrm>
          <a:prstGeom prst="rect">
            <a:avLst/>
          </a:prstGeom>
          <a:solidFill>
            <a:srgbClr val="FFFFFF"/>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3f72ffb808c_3_34"/>
          <p:cNvSpPr/>
          <p:nvPr/>
        </p:nvSpPr>
        <p:spPr>
          <a:xfrm>
            <a:off x="1984933" y="3394773"/>
            <a:ext cx="1270500" cy="169200"/>
          </a:xfrm>
          <a:prstGeom prst="rect">
            <a:avLst/>
          </a:prstGeom>
          <a:solidFill>
            <a:srgbClr val="0066CC"/>
          </a:solidFill>
          <a:ln cap="flat" cmpd="sng" w="9525">
            <a:solidFill>
              <a:srgbClr val="D2D2D7"/>
            </a:solidFill>
            <a:prstDash val="solid"/>
            <a:round/>
            <a:headEnd len="sm" w="sm" type="none"/>
            <a:tailEnd len="sm" w="sm" type="none"/>
          </a:ln>
        </p:spPr>
        <p:txBody>
          <a:bodyPr anchorCtr="0" anchor="ctr" bIns="65125" lIns="65125" spcFirstLastPara="1" rIns="65125" wrap="square" tIns="6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f72ffb808c_3_34"/>
          <p:cNvSpPr/>
          <p:nvPr/>
        </p:nvSpPr>
        <p:spPr>
          <a:xfrm>
            <a:off x="2050080" y="3564157"/>
            <a:ext cx="711300" cy="13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623"/>
              <a:buFont typeface="Arial"/>
              <a:buNone/>
            </a:pPr>
            <a:r>
              <a:rPr b="1" i="0" lang="en-US" sz="623" u="none" cap="none" strike="noStrike">
                <a:solidFill>
                  <a:srgbClr val="1D1D1F"/>
                </a:solidFill>
                <a:latin typeface="Arial"/>
                <a:ea typeface="Arial"/>
                <a:cs typeface="Arial"/>
                <a:sym typeface="Arial"/>
              </a:rPr>
              <a:t>🔑 user_id</a:t>
            </a:r>
            <a:endParaRPr b="0" i="0" sz="623" u="none" cap="none" strike="noStrike">
              <a:solidFill>
                <a:schemeClr val="dk1"/>
              </a:solidFill>
              <a:latin typeface="Calibri"/>
              <a:ea typeface="Calibri"/>
              <a:cs typeface="Calibri"/>
              <a:sym typeface="Calibri"/>
            </a:endParaRPr>
          </a:p>
        </p:txBody>
      </p:sp>
      <p:sp>
        <p:nvSpPr>
          <p:cNvPr id="251" name="Google Shape;251;g3f72ffb808c_3_34"/>
          <p:cNvSpPr/>
          <p:nvPr/>
        </p:nvSpPr>
        <p:spPr>
          <a:xfrm>
            <a:off x="2670939" y="3564157"/>
            <a:ext cx="519300" cy="139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570"/>
              <a:buFont typeface="Arial"/>
              <a:buNone/>
            </a:pPr>
            <a:r>
              <a:rPr b="0" i="0" lang="en-US" sz="570" u="none" cap="none" strike="noStrike">
                <a:solidFill>
                  <a:srgbClr val="7A7A7A"/>
                </a:solidFill>
                <a:latin typeface="Arial"/>
                <a:ea typeface="Arial"/>
                <a:cs typeface="Arial"/>
                <a:sym typeface="Arial"/>
              </a:rPr>
              <a:t>int</a:t>
            </a:r>
            <a:endParaRPr b="0" i="0" sz="570" u="none" cap="none" strike="noStrike">
              <a:solidFill>
                <a:schemeClr val="dk1"/>
              </a:solidFill>
              <a:latin typeface="Calibri"/>
              <a:ea typeface="Calibri"/>
              <a:cs typeface="Calibri"/>
              <a:sym typeface="Calibri"/>
            </a:endParaRPr>
          </a:p>
        </p:txBody>
      </p:sp>
      <p:sp>
        <p:nvSpPr>
          <p:cNvPr id="252" name="Google Shape;252;g3f72ffb808c_3_34"/>
          <p:cNvSpPr/>
          <p:nvPr/>
        </p:nvSpPr>
        <p:spPr>
          <a:xfrm>
            <a:off x="566925" y="6013700"/>
            <a:ext cx="11452200" cy="749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1D1F"/>
              </a:buClr>
              <a:buSzPts val="145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외부 CSV 데이터를 수집한 뒤, 사용자·배정·이벤트 정보를 관계형 구조로 분리해 중복을 줄이고 user_id 기준으로 유연하게 결합할 수 있는 원천 데이터베이스를 구축했다.</a:t>
            </a:r>
            <a:endParaRPr b="0" i="0" sz="1300" u="none" cap="none" strike="noStrike">
              <a:solidFill>
                <a:schemeClr val="dk1"/>
              </a:solidFill>
              <a:latin typeface="Calibri"/>
              <a:ea typeface="Calibri"/>
              <a:cs typeface="Calibri"/>
              <a:sym typeface="Calibri"/>
            </a:endParaRPr>
          </a:p>
        </p:txBody>
      </p:sp>
      <p:sp>
        <p:nvSpPr>
          <p:cNvPr id="253" name="Google Shape;253;g3f72ffb808c_3_34"/>
          <p:cNvSpPr/>
          <p:nvPr/>
        </p:nvSpPr>
        <p:spPr>
          <a:xfrm>
            <a:off x="2050080" y="3394773"/>
            <a:ext cx="1140300" cy="16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748"/>
              <a:buFont typeface="Arial"/>
              <a:buNone/>
            </a:pPr>
            <a:r>
              <a:rPr b="1" i="0" lang="en-US" sz="748" u="none" cap="none" strike="noStrike">
                <a:solidFill>
                  <a:schemeClr val="lt1"/>
                </a:solidFill>
                <a:latin typeface="Arial"/>
                <a:ea typeface="Arial"/>
                <a:cs typeface="Arial"/>
                <a:sym typeface="Arial"/>
              </a:rPr>
              <a:t>user_variant</a:t>
            </a:r>
            <a:endParaRPr b="0" i="0" sz="748" u="none" cap="none" strike="noStrike">
              <a:solidFill>
                <a:schemeClr val="lt1"/>
              </a:solidFill>
              <a:latin typeface="Calibri"/>
              <a:ea typeface="Calibri"/>
              <a:cs typeface="Calibri"/>
              <a:sym typeface="Calibri"/>
            </a:endParaRPr>
          </a:p>
        </p:txBody>
      </p:sp>
      <p:sp>
        <p:nvSpPr>
          <p:cNvPr id="254" name="Google Shape;254;g3f72ffb808c_3_34"/>
          <p:cNvSpPr/>
          <p:nvPr/>
        </p:nvSpPr>
        <p:spPr>
          <a:xfrm>
            <a:off x="636373" y="3928173"/>
            <a:ext cx="1140300" cy="16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748"/>
              <a:buFont typeface="Arial"/>
              <a:buNone/>
            </a:pPr>
            <a:r>
              <a:rPr b="1" i="0" lang="en-US" sz="748" u="none" cap="none" strike="noStrike">
                <a:solidFill>
                  <a:schemeClr val="lt1"/>
                </a:solidFill>
                <a:latin typeface="Arial"/>
                <a:ea typeface="Arial"/>
                <a:cs typeface="Arial"/>
                <a:sym typeface="Arial"/>
              </a:rPr>
              <a:t>user_metadata</a:t>
            </a:r>
            <a:endParaRPr b="0" i="0" sz="748" u="none" cap="none" strike="noStrike">
              <a:solidFill>
                <a:schemeClr val="lt1"/>
              </a:solidFill>
              <a:latin typeface="Calibri"/>
              <a:ea typeface="Calibri"/>
              <a:cs typeface="Calibri"/>
              <a:sym typeface="Calibri"/>
            </a:endParaRPr>
          </a:p>
        </p:txBody>
      </p:sp>
      <p:sp>
        <p:nvSpPr>
          <p:cNvPr id="255" name="Google Shape;255;g3f72ffb808c_3_34"/>
          <p:cNvSpPr/>
          <p:nvPr/>
        </p:nvSpPr>
        <p:spPr>
          <a:xfrm>
            <a:off x="2050080" y="3928173"/>
            <a:ext cx="1140300" cy="16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748"/>
              <a:buFont typeface="Arial"/>
              <a:buNone/>
            </a:pPr>
            <a:r>
              <a:rPr b="1" i="0" lang="en-US" sz="748" u="none" cap="none" strike="noStrike">
                <a:solidFill>
                  <a:schemeClr val="lt1"/>
                </a:solidFill>
                <a:latin typeface="Arial"/>
                <a:ea typeface="Arial"/>
                <a:cs typeface="Arial"/>
                <a:sym typeface="Arial"/>
              </a:rPr>
              <a:t>user_variant</a:t>
            </a:r>
            <a:endParaRPr b="0" i="0" sz="748" u="none" cap="none" strike="noStrike">
              <a:solidFill>
                <a:schemeClr val="lt1"/>
              </a:solidFill>
              <a:latin typeface="Calibri"/>
              <a:ea typeface="Calibri"/>
              <a:cs typeface="Calibri"/>
              <a:sym typeface="Calibri"/>
            </a:endParaRPr>
          </a:p>
        </p:txBody>
      </p:sp>
      <p:sp>
        <p:nvSpPr>
          <p:cNvPr id="256" name="Google Shape;256;g3f72ffb808c_3_34"/>
          <p:cNvSpPr/>
          <p:nvPr/>
        </p:nvSpPr>
        <p:spPr>
          <a:xfrm>
            <a:off x="3463788" y="3928173"/>
            <a:ext cx="1140300" cy="16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748"/>
              <a:buFont typeface="Arial"/>
              <a:buNone/>
            </a:pPr>
            <a:r>
              <a:rPr b="1" i="0" lang="en-US" sz="748" u="none" cap="none" strike="noStrike">
                <a:solidFill>
                  <a:schemeClr val="lt1"/>
                </a:solidFill>
                <a:latin typeface="Arial"/>
                <a:ea typeface="Arial"/>
                <a:cs typeface="Arial"/>
                <a:sym typeface="Arial"/>
              </a:rPr>
              <a:t>user_event</a:t>
            </a:r>
            <a:endParaRPr b="0" i="0" sz="748"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g3f72ffb808c_3_0"/>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DATA VALIDATION</a:t>
            </a:r>
            <a:endParaRPr b="0" i="0" sz="1050" u="none" cap="none" strike="noStrike">
              <a:solidFill>
                <a:schemeClr val="dk1"/>
              </a:solidFill>
              <a:latin typeface="Calibri"/>
              <a:ea typeface="Calibri"/>
              <a:cs typeface="Calibri"/>
              <a:sym typeface="Calibri"/>
            </a:endParaRPr>
          </a:p>
        </p:txBody>
      </p:sp>
      <p:sp>
        <p:nvSpPr>
          <p:cNvPr id="263" name="Google Shape;263;g3f72ffb808c_3_0"/>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2. A/A 그룹 배정 균형 검증</a:t>
            </a:r>
            <a:endParaRPr b="0" i="0" sz="3000" u="none" cap="none" strike="noStrike">
              <a:solidFill>
                <a:schemeClr val="dk1"/>
              </a:solidFill>
              <a:latin typeface="Calibri"/>
              <a:ea typeface="Calibri"/>
              <a:cs typeface="Calibri"/>
              <a:sym typeface="Calibri"/>
            </a:endParaRPr>
          </a:p>
        </p:txBody>
      </p:sp>
      <p:sp>
        <p:nvSpPr>
          <p:cNvPr id="264" name="Google Shape;264;g3f72ffb808c_3_0"/>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실험 전 해시 기반 그룹 배정의 균형 여부 확인</a:t>
            </a:r>
            <a:endParaRPr b="0" i="0" sz="1275" u="none" cap="none" strike="noStrike">
              <a:solidFill>
                <a:schemeClr val="dk1"/>
              </a:solidFill>
              <a:latin typeface="Calibri"/>
              <a:ea typeface="Calibri"/>
              <a:cs typeface="Calibri"/>
              <a:sym typeface="Calibri"/>
            </a:endParaRPr>
          </a:p>
        </p:txBody>
      </p:sp>
      <p:cxnSp>
        <p:nvCxnSpPr>
          <p:cNvPr id="265" name="Google Shape;265;g3f72ffb808c_3_0"/>
          <p:cNvCxnSpPr/>
          <p:nvPr/>
        </p:nvCxnSpPr>
        <p:spPr>
          <a:xfrm>
            <a:off x="4213247" y="1828800"/>
            <a:ext cx="0" cy="3123900"/>
          </a:xfrm>
          <a:prstGeom prst="straightConnector1">
            <a:avLst/>
          </a:prstGeom>
          <a:noFill/>
          <a:ln cap="flat" cmpd="sng" w="12700">
            <a:solidFill>
              <a:srgbClr val="E0E0E0"/>
            </a:solidFill>
            <a:prstDash val="solid"/>
            <a:round/>
            <a:headEnd len="sm" w="sm" type="none"/>
            <a:tailEnd len="sm" w="sm" type="none"/>
          </a:ln>
        </p:spPr>
      </p:cxnSp>
      <p:cxnSp>
        <p:nvCxnSpPr>
          <p:cNvPr id="266" name="Google Shape;266;g3f72ffb808c_3_0"/>
          <p:cNvCxnSpPr/>
          <p:nvPr/>
        </p:nvCxnSpPr>
        <p:spPr>
          <a:xfrm>
            <a:off x="7978443" y="1828800"/>
            <a:ext cx="0" cy="3123900"/>
          </a:xfrm>
          <a:prstGeom prst="straightConnector1">
            <a:avLst/>
          </a:prstGeom>
          <a:noFill/>
          <a:ln cap="flat" cmpd="sng" w="12700">
            <a:solidFill>
              <a:srgbClr val="E0E0E0"/>
            </a:solidFill>
            <a:prstDash val="solid"/>
            <a:round/>
            <a:headEnd len="sm" w="sm" type="none"/>
            <a:tailEnd len="sm" w="sm" type="none"/>
          </a:ln>
        </p:spPr>
      </p:cxnSp>
      <p:sp>
        <p:nvSpPr>
          <p:cNvPr id="267" name="Google Shape;267;g3f72ffb808c_3_0"/>
          <p:cNvSpPr/>
          <p:nvPr/>
        </p:nvSpPr>
        <p:spPr>
          <a:xfrm>
            <a:off x="566925" y="1828800"/>
            <a:ext cx="3527400" cy="4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가설</a:t>
            </a:r>
            <a:endParaRPr b="0" i="0" sz="1575" u="none" cap="none" strike="noStrike">
              <a:solidFill>
                <a:schemeClr val="dk1"/>
              </a:solidFill>
              <a:latin typeface="Calibri"/>
              <a:ea typeface="Calibri"/>
              <a:cs typeface="Calibri"/>
              <a:sym typeface="Calibri"/>
            </a:endParaRPr>
          </a:p>
        </p:txBody>
      </p:sp>
      <p:sp>
        <p:nvSpPr>
          <p:cNvPr id="268" name="Google Shape;268;g3f72ffb808c_3_0"/>
          <p:cNvSpPr/>
          <p:nvPr/>
        </p:nvSpPr>
        <p:spPr>
          <a:xfrm>
            <a:off x="566950" y="2426533"/>
            <a:ext cx="3527400" cy="37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000"/>
              <a:buFont typeface="Arial"/>
              <a:buNone/>
            </a:pPr>
            <a:r>
              <a:rPr b="0" i="0" lang="en-US" sz="1100" u="none" cap="none" strike="noStrike">
                <a:solidFill>
                  <a:srgbClr val="7A7A7A"/>
                </a:solidFill>
                <a:latin typeface="Arial"/>
                <a:ea typeface="Arial"/>
                <a:cs typeface="Arial"/>
                <a:sym typeface="Arial"/>
              </a:rPr>
              <a:t>variant_id = MOD(HASH(user_id), 2)</a:t>
            </a:r>
            <a:endParaRPr b="0" i="0" sz="1100" u="none" cap="none" strike="noStrike">
              <a:solidFill>
                <a:schemeClr val="dk1"/>
              </a:solidFill>
              <a:latin typeface="Calibri"/>
              <a:ea typeface="Calibri"/>
              <a:cs typeface="Calibri"/>
              <a:sym typeface="Calibri"/>
            </a:endParaRPr>
          </a:p>
        </p:txBody>
      </p:sp>
      <p:sp>
        <p:nvSpPr>
          <p:cNvPr id="269" name="Google Shape;269;g3f72ffb808c_3_0"/>
          <p:cNvSpPr/>
          <p:nvPr/>
        </p:nvSpPr>
        <p:spPr>
          <a:xfrm>
            <a:off x="566975" y="3469880"/>
            <a:ext cx="3527400" cy="37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H₀  </a:t>
            </a:r>
            <a:r>
              <a:rPr b="0" i="0" lang="en-US" sz="1150" u="none" cap="none" strike="noStrike">
                <a:solidFill>
                  <a:srgbClr val="1D1D1F"/>
                </a:solidFill>
                <a:latin typeface="Arial"/>
                <a:ea typeface="Arial"/>
                <a:cs typeface="Arial"/>
                <a:sym typeface="Arial"/>
              </a:rPr>
              <a:t>실험군 배정 비율 = 50%</a:t>
            </a:r>
            <a:endParaRPr b="0" i="0" sz="1150" u="none" cap="none" strike="noStrike">
              <a:solidFill>
                <a:schemeClr val="dk1"/>
              </a:solidFill>
              <a:latin typeface="Calibri"/>
              <a:ea typeface="Calibri"/>
              <a:cs typeface="Calibri"/>
              <a:sym typeface="Calibri"/>
            </a:endParaRPr>
          </a:p>
        </p:txBody>
      </p:sp>
      <p:sp>
        <p:nvSpPr>
          <p:cNvPr id="270" name="Google Shape;270;g3f72ffb808c_3_0"/>
          <p:cNvSpPr/>
          <p:nvPr/>
        </p:nvSpPr>
        <p:spPr>
          <a:xfrm>
            <a:off x="566975" y="3924260"/>
            <a:ext cx="3527400" cy="37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H₁  </a:t>
            </a:r>
            <a:r>
              <a:rPr b="0" i="0" lang="en-US" sz="1150" u="none" cap="none" strike="noStrike">
                <a:solidFill>
                  <a:srgbClr val="1D1D1F"/>
                </a:solidFill>
                <a:latin typeface="Arial"/>
                <a:ea typeface="Arial"/>
                <a:cs typeface="Arial"/>
                <a:sym typeface="Arial"/>
              </a:rPr>
              <a:t>실험군 배정 비율 ≠ 50%</a:t>
            </a:r>
            <a:endParaRPr b="0" i="0" sz="1150" u="none" cap="none" strike="noStrike">
              <a:solidFill>
                <a:schemeClr val="dk1"/>
              </a:solidFill>
              <a:latin typeface="Calibri"/>
              <a:ea typeface="Calibri"/>
              <a:cs typeface="Calibri"/>
              <a:sym typeface="Calibri"/>
            </a:endParaRPr>
          </a:p>
        </p:txBody>
      </p:sp>
      <p:sp>
        <p:nvSpPr>
          <p:cNvPr id="271" name="Google Shape;271;g3f72ffb808c_3_0"/>
          <p:cNvSpPr/>
          <p:nvPr/>
        </p:nvSpPr>
        <p:spPr>
          <a:xfrm>
            <a:off x="4332119" y="1828800"/>
            <a:ext cx="3527400" cy="4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배정 비율</a:t>
            </a:r>
            <a:endParaRPr b="0" i="0" sz="1575" u="none" cap="none" strike="noStrike">
              <a:solidFill>
                <a:schemeClr val="dk1"/>
              </a:solidFill>
              <a:latin typeface="Calibri"/>
              <a:ea typeface="Calibri"/>
              <a:cs typeface="Calibri"/>
              <a:sym typeface="Calibri"/>
            </a:endParaRPr>
          </a:p>
        </p:txBody>
      </p:sp>
      <p:sp>
        <p:nvSpPr>
          <p:cNvPr id="272" name="Google Shape;272;g3f72ffb808c_3_0"/>
          <p:cNvSpPr/>
          <p:nvPr/>
        </p:nvSpPr>
        <p:spPr>
          <a:xfrm>
            <a:off x="4332144" y="2422371"/>
            <a:ext cx="35274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000"/>
              <a:buFont typeface="Arial"/>
              <a:buNone/>
            </a:pPr>
            <a:r>
              <a:rPr b="0" i="0" lang="en-US" sz="1100" u="none" cap="none" strike="noStrike">
                <a:solidFill>
                  <a:srgbClr val="7A7A7A"/>
                </a:solidFill>
                <a:latin typeface="Arial"/>
                <a:ea typeface="Arial"/>
                <a:cs typeface="Arial"/>
                <a:sym typeface="Arial"/>
              </a:rPr>
              <a:t>목표 비율 50:50과 유사</a:t>
            </a:r>
            <a:endParaRPr b="0" i="0" sz="1100" u="none" cap="none" strike="noStrike">
              <a:solidFill>
                <a:schemeClr val="dk1"/>
              </a:solidFill>
              <a:latin typeface="Calibri"/>
              <a:ea typeface="Calibri"/>
              <a:cs typeface="Calibri"/>
              <a:sym typeface="Calibri"/>
            </a:endParaRPr>
          </a:p>
        </p:txBody>
      </p:sp>
      <p:sp>
        <p:nvSpPr>
          <p:cNvPr id="273" name="Google Shape;273;g3f72ffb808c_3_0"/>
          <p:cNvSpPr/>
          <p:nvPr/>
        </p:nvSpPr>
        <p:spPr>
          <a:xfrm>
            <a:off x="4332119" y="3282696"/>
            <a:ext cx="704100" cy="62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Control</a:t>
            </a:r>
            <a:endParaRPr b="0" i="0" sz="1100" u="none" cap="none" strike="noStrike">
              <a:solidFill>
                <a:schemeClr val="dk1"/>
              </a:solidFill>
              <a:latin typeface="Calibri"/>
              <a:ea typeface="Calibri"/>
              <a:cs typeface="Calibri"/>
              <a:sym typeface="Calibri"/>
            </a:endParaRPr>
          </a:p>
        </p:txBody>
      </p:sp>
      <p:sp>
        <p:nvSpPr>
          <p:cNvPr id="274" name="Google Shape;274;g3f72ffb808c_3_0"/>
          <p:cNvSpPr/>
          <p:nvPr/>
        </p:nvSpPr>
        <p:spPr>
          <a:xfrm>
            <a:off x="5109359" y="3282696"/>
            <a:ext cx="2065200" cy="624600"/>
          </a:xfrm>
          <a:prstGeom prst="rect">
            <a:avLst/>
          </a:prstGeom>
          <a:solidFill>
            <a:srgbClr val="D2D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3f72ffb808c_3_0"/>
          <p:cNvSpPr/>
          <p:nvPr/>
        </p:nvSpPr>
        <p:spPr>
          <a:xfrm>
            <a:off x="5182511" y="3282696"/>
            <a:ext cx="1918800" cy="624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48.81%</a:t>
            </a:r>
            <a:endParaRPr b="0" i="0" sz="1100" u="none" cap="none" strike="noStrike">
              <a:solidFill>
                <a:schemeClr val="dk1"/>
              </a:solidFill>
              <a:latin typeface="Calibri"/>
              <a:ea typeface="Calibri"/>
              <a:cs typeface="Calibri"/>
              <a:sym typeface="Calibri"/>
            </a:endParaRPr>
          </a:p>
        </p:txBody>
      </p:sp>
      <p:sp>
        <p:nvSpPr>
          <p:cNvPr id="276" name="Google Shape;276;g3f72ffb808c_3_0"/>
          <p:cNvSpPr/>
          <p:nvPr/>
        </p:nvSpPr>
        <p:spPr>
          <a:xfrm>
            <a:off x="4332119" y="4233672"/>
            <a:ext cx="704100" cy="62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Test</a:t>
            </a:r>
            <a:endParaRPr b="0" i="0" sz="1100" u="none" cap="none" strike="noStrike">
              <a:solidFill>
                <a:schemeClr val="dk1"/>
              </a:solidFill>
              <a:latin typeface="Calibri"/>
              <a:ea typeface="Calibri"/>
              <a:cs typeface="Calibri"/>
              <a:sym typeface="Calibri"/>
            </a:endParaRPr>
          </a:p>
        </p:txBody>
      </p:sp>
      <p:sp>
        <p:nvSpPr>
          <p:cNvPr id="277" name="Google Shape;277;g3f72ffb808c_3_0"/>
          <p:cNvSpPr/>
          <p:nvPr/>
        </p:nvSpPr>
        <p:spPr>
          <a:xfrm>
            <a:off x="5109359" y="4233672"/>
            <a:ext cx="2166000" cy="624600"/>
          </a:xfrm>
          <a:prstGeom prst="rect">
            <a:avLst/>
          </a:prstGeom>
          <a:solidFill>
            <a:srgbClr val="006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3f72ffb808c_3_0"/>
          <p:cNvSpPr/>
          <p:nvPr/>
        </p:nvSpPr>
        <p:spPr>
          <a:xfrm>
            <a:off x="5182511" y="4233672"/>
            <a:ext cx="2019600" cy="624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51.19%</a:t>
            </a:r>
            <a:endParaRPr b="0" i="0" sz="1100" u="none" cap="none" strike="noStrike">
              <a:solidFill>
                <a:schemeClr val="dk1"/>
              </a:solidFill>
              <a:latin typeface="Calibri"/>
              <a:ea typeface="Calibri"/>
              <a:cs typeface="Calibri"/>
              <a:sym typeface="Calibri"/>
            </a:endParaRPr>
          </a:p>
        </p:txBody>
      </p:sp>
      <p:sp>
        <p:nvSpPr>
          <p:cNvPr id="279" name="Google Shape;279;g3f72ffb808c_3_0"/>
          <p:cNvSpPr/>
          <p:nvPr/>
        </p:nvSpPr>
        <p:spPr>
          <a:xfrm>
            <a:off x="8097315" y="1828800"/>
            <a:ext cx="3527400" cy="4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통계 검정 결과</a:t>
            </a:r>
            <a:endParaRPr b="0" i="0" sz="1575" u="none" cap="none" strike="noStrike">
              <a:solidFill>
                <a:schemeClr val="dk1"/>
              </a:solidFill>
              <a:latin typeface="Calibri"/>
              <a:ea typeface="Calibri"/>
              <a:cs typeface="Calibri"/>
              <a:sym typeface="Calibri"/>
            </a:endParaRPr>
          </a:p>
        </p:txBody>
      </p:sp>
      <p:sp>
        <p:nvSpPr>
          <p:cNvPr id="280" name="Google Shape;280;g3f72ffb808c_3_0"/>
          <p:cNvSpPr/>
          <p:nvPr/>
        </p:nvSpPr>
        <p:spPr>
          <a:xfrm>
            <a:off x="8097315" y="2422375"/>
            <a:ext cx="3527400" cy="34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000"/>
              <a:buFont typeface="Arial"/>
              <a:buNone/>
            </a:pPr>
            <a:r>
              <a:rPr b="0" i="0" lang="en-US" sz="1100" u="none" cap="none" strike="noStrike">
                <a:solidFill>
                  <a:srgbClr val="7A7A7A"/>
                </a:solidFill>
                <a:latin typeface="Arial"/>
                <a:ea typeface="Arial"/>
                <a:cs typeface="Arial"/>
                <a:sym typeface="Arial"/>
              </a:rPr>
              <a:t>One-sample t-test (α = 0.05)</a:t>
            </a:r>
            <a:endParaRPr b="0" i="0" sz="1100" u="none" cap="none" strike="noStrike">
              <a:solidFill>
                <a:schemeClr val="dk1"/>
              </a:solidFill>
              <a:latin typeface="Calibri"/>
              <a:ea typeface="Calibri"/>
              <a:cs typeface="Calibri"/>
              <a:sym typeface="Calibri"/>
            </a:endParaRPr>
          </a:p>
        </p:txBody>
      </p:sp>
      <p:sp>
        <p:nvSpPr>
          <p:cNvPr id="281" name="Google Shape;281;g3f72ffb808c_3_0"/>
          <p:cNvSpPr/>
          <p:nvPr/>
        </p:nvSpPr>
        <p:spPr>
          <a:xfrm>
            <a:off x="8097315" y="3195078"/>
            <a:ext cx="1626600" cy="7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2100"/>
              <a:buFont typeface="Arial"/>
              <a:buNone/>
            </a:pPr>
            <a:r>
              <a:rPr b="1" i="0" lang="en-US" sz="2100" u="none" cap="none" strike="noStrike">
                <a:solidFill>
                  <a:srgbClr val="1D1D1F"/>
                </a:solidFill>
                <a:latin typeface="Arial"/>
                <a:ea typeface="Arial"/>
                <a:cs typeface="Arial"/>
                <a:sym typeface="Arial"/>
              </a:rPr>
              <a:t>t = -1.526</a:t>
            </a:r>
            <a:endParaRPr b="0" i="0" sz="2100" u="none" cap="none" strike="noStrike">
              <a:solidFill>
                <a:schemeClr val="dk1"/>
              </a:solidFill>
              <a:latin typeface="Calibri"/>
              <a:ea typeface="Calibri"/>
              <a:cs typeface="Calibri"/>
              <a:sym typeface="Calibri"/>
            </a:endParaRPr>
          </a:p>
        </p:txBody>
      </p:sp>
      <p:sp>
        <p:nvSpPr>
          <p:cNvPr id="282" name="Google Shape;282;g3f72ffb808c_3_0"/>
          <p:cNvSpPr/>
          <p:nvPr/>
        </p:nvSpPr>
        <p:spPr>
          <a:xfrm>
            <a:off x="9998200" y="3195078"/>
            <a:ext cx="1626600" cy="7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2100"/>
              <a:buFont typeface="Arial"/>
              <a:buNone/>
            </a:pPr>
            <a:r>
              <a:rPr b="1" i="0" lang="en-US" sz="2100" u="none" cap="none" strike="noStrike">
                <a:solidFill>
                  <a:srgbClr val="0066CC"/>
                </a:solidFill>
                <a:latin typeface="Arial"/>
                <a:ea typeface="Arial"/>
                <a:cs typeface="Arial"/>
                <a:sym typeface="Arial"/>
              </a:rPr>
              <a:t>p = 0.127</a:t>
            </a:r>
            <a:endParaRPr b="0" i="0" sz="2100" u="none" cap="none" strike="noStrike">
              <a:solidFill>
                <a:schemeClr val="dk1"/>
              </a:solidFill>
              <a:latin typeface="Calibri"/>
              <a:ea typeface="Calibri"/>
              <a:cs typeface="Calibri"/>
              <a:sym typeface="Calibri"/>
            </a:endParaRPr>
          </a:p>
        </p:txBody>
      </p:sp>
      <p:sp>
        <p:nvSpPr>
          <p:cNvPr id="283" name="Google Shape;283;g3f72ffb808c_3_0"/>
          <p:cNvSpPr/>
          <p:nvPr/>
        </p:nvSpPr>
        <p:spPr>
          <a:xfrm>
            <a:off x="8115553" y="3063493"/>
            <a:ext cx="1626600" cy="312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검정 통계량</a:t>
            </a:r>
            <a:endParaRPr b="0" i="0" sz="900" u="none" cap="none" strike="noStrike">
              <a:solidFill>
                <a:schemeClr val="dk1"/>
              </a:solidFill>
              <a:latin typeface="Calibri"/>
              <a:ea typeface="Calibri"/>
              <a:cs typeface="Calibri"/>
              <a:sym typeface="Calibri"/>
            </a:endParaRPr>
          </a:p>
        </p:txBody>
      </p:sp>
      <p:sp>
        <p:nvSpPr>
          <p:cNvPr id="284" name="Google Shape;284;g3f72ffb808c_3_0"/>
          <p:cNvSpPr/>
          <p:nvPr/>
        </p:nvSpPr>
        <p:spPr>
          <a:xfrm>
            <a:off x="9998200" y="3066893"/>
            <a:ext cx="1626600" cy="312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유의확률</a:t>
            </a:r>
            <a:endParaRPr b="0" i="0" sz="900" u="none" cap="none" strike="noStrike">
              <a:solidFill>
                <a:schemeClr val="dk1"/>
              </a:solidFill>
              <a:latin typeface="Calibri"/>
              <a:ea typeface="Calibri"/>
              <a:cs typeface="Calibri"/>
              <a:sym typeface="Calibri"/>
            </a:endParaRPr>
          </a:p>
        </p:txBody>
      </p:sp>
      <p:sp>
        <p:nvSpPr>
          <p:cNvPr id="285" name="Google Shape;285;g3f72ffb808c_3_0"/>
          <p:cNvSpPr/>
          <p:nvPr/>
        </p:nvSpPr>
        <p:spPr>
          <a:xfrm>
            <a:off x="8047418" y="4008247"/>
            <a:ext cx="2690400" cy="46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Arial"/>
              <a:buNone/>
            </a:pPr>
            <a:r>
              <a:rPr b="1" i="0" lang="en-US" sz="1200" u="none" cap="none" strike="noStrike">
                <a:solidFill>
                  <a:srgbClr val="1D1D1F"/>
                </a:solidFill>
                <a:latin typeface="Arial"/>
                <a:ea typeface="Arial"/>
                <a:cs typeface="Arial"/>
                <a:sym typeface="Arial"/>
              </a:rPr>
              <a:t> -1.96 &lt; t &lt; 1.96</a:t>
            </a:r>
            <a:r>
              <a:rPr b="0" i="0" lang="en-US" sz="1200" u="none" cap="none" strike="noStrike">
                <a:solidFill>
                  <a:schemeClr val="dk1"/>
                </a:solidFill>
                <a:latin typeface="Calibri"/>
                <a:ea typeface="Calibri"/>
                <a:cs typeface="Calibri"/>
                <a:sym typeface="Calibri"/>
              </a:rPr>
              <a:t>		    </a:t>
            </a:r>
            <a:r>
              <a:rPr b="1" i="0" lang="en-US" sz="1200" u="none" cap="none" strike="noStrike">
                <a:solidFill>
                  <a:srgbClr val="1D1D1F"/>
                </a:solidFill>
                <a:latin typeface="Arial"/>
                <a:ea typeface="Arial"/>
                <a:cs typeface="Arial"/>
                <a:sym typeface="Arial"/>
              </a:rPr>
              <a:t>p &gt; 0.05  </a:t>
            </a:r>
            <a:endParaRPr b="0" i="0" sz="1200" u="none" cap="none" strike="noStrike">
              <a:solidFill>
                <a:schemeClr val="dk1"/>
              </a:solidFill>
              <a:latin typeface="Calibri"/>
              <a:ea typeface="Calibri"/>
              <a:cs typeface="Calibri"/>
              <a:sym typeface="Calibri"/>
            </a:endParaRPr>
          </a:p>
        </p:txBody>
      </p:sp>
      <p:sp>
        <p:nvSpPr>
          <p:cNvPr id="286" name="Google Shape;286;g3f72ffb808c_3_0"/>
          <p:cNvSpPr/>
          <p:nvPr/>
        </p:nvSpPr>
        <p:spPr>
          <a:xfrm>
            <a:off x="566928" y="5769864"/>
            <a:ext cx="10974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900"/>
              <a:buFont typeface="Arial"/>
              <a:buNone/>
            </a:pPr>
            <a:r>
              <a:rPr b="1" i="0" lang="en-US" sz="900" u="none" cap="none" strike="noStrike">
                <a:solidFill>
                  <a:srgbClr val="0066CC"/>
                </a:solidFill>
                <a:latin typeface="Arial"/>
                <a:ea typeface="Arial"/>
                <a:cs typeface="Arial"/>
                <a:sym typeface="Arial"/>
              </a:rPr>
              <a:t>결론</a:t>
            </a:r>
            <a:endParaRPr b="0" i="0" sz="900" u="none" cap="none" strike="noStrike">
              <a:solidFill>
                <a:schemeClr val="dk1"/>
              </a:solidFill>
              <a:latin typeface="Calibri"/>
              <a:ea typeface="Calibri"/>
              <a:cs typeface="Calibri"/>
              <a:sym typeface="Calibri"/>
            </a:endParaRPr>
          </a:p>
        </p:txBody>
      </p:sp>
      <p:sp>
        <p:nvSpPr>
          <p:cNvPr id="287" name="Google Shape;287;g3f72ffb808c_3_0"/>
          <p:cNvSpPr/>
          <p:nvPr/>
        </p:nvSpPr>
        <p:spPr>
          <a:xfrm>
            <a:off x="0" y="5742432"/>
            <a:ext cx="12191700" cy="731400"/>
          </a:xfrm>
          <a:prstGeom prst="rect">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f72ffb808c_3_0"/>
          <p:cNvSpPr txBox="1"/>
          <p:nvPr/>
        </p:nvSpPr>
        <p:spPr>
          <a:xfrm>
            <a:off x="8681555" y="4659097"/>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66CC"/>
                </a:solidFill>
                <a:latin typeface="Arial"/>
                <a:ea typeface="Arial"/>
                <a:cs typeface="Arial"/>
                <a:sym typeface="Arial"/>
              </a:rPr>
              <a:t>→ 귀무가설 기각 실패</a:t>
            </a:r>
            <a:endParaRPr b="1" i="0" sz="1400" u="none" cap="none" strike="noStrike">
              <a:solidFill>
                <a:srgbClr val="0066CC"/>
              </a:solidFill>
              <a:latin typeface="Arial"/>
              <a:ea typeface="Arial"/>
              <a:cs typeface="Arial"/>
              <a:sym typeface="Arial"/>
            </a:endParaRPr>
          </a:p>
        </p:txBody>
      </p:sp>
      <p:sp>
        <p:nvSpPr>
          <p:cNvPr id="289" name="Google Shape;289;g3f72ffb808c_3_0"/>
          <p:cNvSpPr/>
          <p:nvPr/>
        </p:nvSpPr>
        <p:spPr>
          <a:xfrm>
            <a:off x="566928" y="5957922"/>
            <a:ext cx="1105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50"/>
              <a:buFont typeface="Arial"/>
              <a:buNone/>
            </a:pPr>
            <a:r>
              <a:rPr b="1" i="0" lang="en-US" sz="1300" u="none" cap="none" strike="noStrike">
                <a:solidFill>
                  <a:srgbClr val="0066CC"/>
                </a:solidFill>
                <a:latin typeface="Arial"/>
                <a:ea typeface="Arial"/>
                <a:cs typeface="Arial"/>
                <a:sym typeface="Arial"/>
              </a:rPr>
              <a:t>결론:</a:t>
            </a:r>
            <a:r>
              <a:rPr b="0" i="0" lang="en-US" sz="1300" u="none" cap="none" strike="noStrike">
                <a:solidFill>
                  <a:srgbClr val="0066CC"/>
                </a:solidFill>
                <a:latin typeface="Arial"/>
                <a:ea typeface="Arial"/>
                <a:cs typeface="Arial"/>
                <a:sym typeface="Arial"/>
              </a:rPr>
              <a:t> </a:t>
            </a:r>
            <a:r>
              <a:rPr b="0" i="0" lang="en-US" sz="1300" u="none" cap="none" strike="noStrike">
                <a:solidFill>
                  <a:srgbClr val="1D1D1F"/>
                </a:solidFill>
                <a:latin typeface="Arial"/>
                <a:ea typeface="Arial"/>
                <a:cs typeface="Arial"/>
                <a:sym typeface="Arial"/>
              </a:rPr>
              <a:t>실험군과 대조군이 균형있게 배정되어 A/B test를 진행하기 적절하다.</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g3f72ffb808c_3_231"/>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TEST DESIGN</a:t>
            </a:r>
            <a:endParaRPr b="0" i="0" sz="1050" u="none" cap="none" strike="noStrike">
              <a:solidFill>
                <a:schemeClr val="dk1"/>
              </a:solidFill>
              <a:latin typeface="Calibri"/>
              <a:ea typeface="Calibri"/>
              <a:cs typeface="Calibri"/>
              <a:sym typeface="Calibri"/>
            </a:endParaRPr>
          </a:p>
        </p:txBody>
      </p:sp>
      <p:sp>
        <p:nvSpPr>
          <p:cNvPr id="296" name="Google Shape;296;g3f72ffb808c_3_231"/>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3-1. 전체 기간 사용자-일 단위 A/B 테스트 설계</a:t>
            </a:r>
            <a:endParaRPr b="0" i="0" sz="3000" u="none" cap="none" strike="noStrike">
              <a:solidFill>
                <a:schemeClr val="dk1"/>
              </a:solidFill>
              <a:latin typeface="Calibri"/>
              <a:ea typeface="Calibri"/>
              <a:cs typeface="Calibri"/>
              <a:sym typeface="Calibri"/>
            </a:endParaRPr>
          </a:p>
        </p:txBody>
      </p:sp>
      <p:sp>
        <p:nvSpPr>
          <p:cNvPr id="297" name="Google Shape;297;g3f72ffb808c_3_231"/>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성별·연령대 구분 없이 사용자-일 단위로 전체 실험 효과를 우선 검정</a:t>
            </a:r>
            <a:endParaRPr b="0" i="0" sz="1275" u="none" cap="none" strike="noStrike">
              <a:solidFill>
                <a:schemeClr val="dk1"/>
              </a:solidFill>
              <a:latin typeface="Calibri"/>
              <a:ea typeface="Calibri"/>
              <a:cs typeface="Calibri"/>
              <a:sym typeface="Calibri"/>
            </a:endParaRPr>
          </a:p>
        </p:txBody>
      </p:sp>
      <p:sp>
        <p:nvSpPr>
          <p:cNvPr id="298" name="Google Shape;298;g3f72ffb808c_3_231"/>
          <p:cNvSpPr/>
          <p:nvPr/>
        </p:nvSpPr>
        <p:spPr>
          <a:xfrm>
            <a:off x="566928" y="1828800"/>
            <a:ext cx="292500" cy="2925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f72ffb808c_3_231"/>
          <p:cNvSpPr/>
          <p:nvPr/>
        </p:nvSpPr>
        <p:spPr>
          <a:xfrm>
            <a:off x="566928" y="1828800"/>
            <a:ext cx="2925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cxnSp>
        <p:nvCxnSpPr>
          <p:cNvPr id="300" name="Google Shape;300;g3f72ffb808c_3_231"/>
          <p:cNvCxnSpPr/>
          <p:nvPr/>
        </p:nvCxnSpPr>
        <p:spPr>
          <a:xfrm>
            <a:off x="914400" y="1975104"/>
            <a:ext cx="2439900" cy="0"/>
          </a:xfrm>
          <a:prstGeom prst="straightConnector1">
            <a:avLst/>
          </a:prstGeom>
          <a:noFill/>
          <a:ln cap="flat" cmpd="sng" w="12700">
            <a:solidFill>
              <a:srgbClr val="D2D2D7"/>
            </a:solidFill>
            <a:prstDash val="solid"/>
            <a:round/>
            <a:headEnd len="sm" w="sm" type="none"/>
            <a:tailEnd len="sm" w="sm" type="none"/>
          </a:ln>
        </p:spPr>
      </p:cxnSp>
      <p:sp>
        <p:nvSpPr>
          <p:cNvPr id="301" name="Google Shape;301;g3f72ffb808c_3_231"/>
          <p:cNvSpPr/>
          <p:nvPr/>
        </p:nvSpPr>
        <p:spPr>
          <a:xfrm>
            <a:off x="566928" y="2231136"/>
            <a:ext cx="25863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300" u="none" cap="none" strike="noStrike">
                <a:solidFill>
                  <a:srgbClr val="1D1D1F"/>
                </a:solidFill>
                <a:latin typeface="Arial"/>
                <a:ea typeface="Arial"/>
                <a:cs typeface="Arial"/>
                <a:sym typeface="Arial"/>
              </a:rPr>
              <a:t>관심 질문</a:t>
            </a:r>
            <a:endParaRPr b="0" i="0" sz="1250" u="none" cap="none" strike="noStrike">
              <a:solidFill>
                <a:schemeClr val="dk1"/>
              </a:solidFill>
              <a:latin typeface="Calibri"/>
              <a:ea typeface="Calibri"/>
              <a:cs typeface="Calibri"/>
              <a:sym typeface="Calibri"/>
            </a:endParaRPr>
          </a:p>
        </p:txBody>
      </p:sp>
      <p:sp>
        <p:nvSpPr>
          <p:cNvPr id="302" name="Google Shape;302;g3f72ffb808c_3_231"/>
          <p:cNvSpPr/>
          <p:nvPr/>
        </p:nvSpPr>
        <p:spPr>
          <a:xfrm>
            <a:off x="566928" y="2487168"/>
            <a:ext cx="2586300" cy="548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실험 적용 후 실험군과 대조군 간</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핵심 행동 지표의 평균 차이가 존재하는가?</a:t>
            </a:r>
            <a:endParaRPr b="0" i="0" sz="1000" u="none" cap="none" strike="noStrike">
              <a:solidFill>
                <a:schemeClr val="dk1"/>
              </a:solidFill>
              <a:latin typeface="Calibri"/>
              <a:ea typeface="Calibri"/>
              <a:cs typeface="Calibri"/>
              <a:sym typeface="Calibri"/>
            </a:endParaRPr>
          </a:p>
        </p:txBody>
      </p:sp>
      <p:sp>
        <p:nvSpPr>
          <p:cNvPr id="303" name="Google Shape;303;g3f72ffb808c_3_231"/>
          <p:cNvSpPr/>
          <p:nvPr/>
        </p:nvSpPr>
        <p:spPr>
          <a:xfrm>
            <a:off x="3390824" y="1828800"/>
            <a:ext cx="292500" cy="2925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f72ffb808c_3_231"/>
          <p:cNvSpPr/>
          <p:nvPr/>
        </p:nvSpPr>
        <p:spPr>
          <a:xfrm>
            <a:off x="3390824" y="1828800"/>
            <a:ext cx="2925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cxnSp>
        <p:nvCxnSpPr>
          <p:cNvPr id="305" name="Google Shape;305;g3f72ffb808c_3_231"/>
          <p:cNvCxnSpPr/>
          <p:nvPr/>
        </p:nvCxnSpPr>
        <p:spPr>
          <a:xfrm>
            <a:off x="3738296" y="1975104"/>
            <a:ext cx="2439900" cy="0"/>
          </a:xfrm>
          <a:prstGeom prst="straightConnector1">
            <a:avLst/>
          </a:prstGeom>
          <a:noFill/>
          <a:ln cap="flat" cmpd="sng" w="12700">
            <a:solidFill>
              <a:srgbClr val="D2D2D7"/>
            </a:solidFill>
            <a:prstDash val="solid"/>
            <a:round/>
            <a:headEnd len="sm" w="sm" type="none"/>
            <a:tailEnd len="sm" w="sm" type="none"/>
          </a:ln>
        </p:spPr>
      </p:cxnSp>
      <p:sp>
        <p:nvSpPr>
          <p:cNvPr id="306" name="Google Shape;306;g3f72ffb808c_3_231"/>
          <p:cNvSpPr/>
          <p:nvPr/>
        </p:nvSpPr>
        <p:spPr>
          <a:xfrm>
            <a:off x="3390824" y="2231136"/>
            <a:ext cx="25863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300" u="none" cap="none" strike="noStrike">
                <a:solidFill>
                  <a:srgbClr val="1D1D1F"/>
                </a:solidFill>
                <a:latin typeface="Arial"/>
                <a:ea typeface="Arial"/>
                <a:cs typeface="Arial"/>
                <a:sym typeface="Arial"/>
              </a:rPr>
              <a:t>지표 설정</a:t>
            </a:r>
            <a:endParaRPr b="0" i="0" sz="1250" u="none" cap="none" strike="noStrike">
              <a:solidFill>
                <a:schemeClr val="dk1"/>
              </a:solidFill>
              <a:latin typeface="Calibri"/>
              <a:ea typeface="Calibri"/>
              <a:cs typeface="Calibri"/>
              <a:sym typeface="Calibri"/>
            </a:endParaRPr>
          </a:p>
        </p:txBody>
      </p:sp>
      <p:sp>
        <p:nvSpPr>
          <p:cNvPr id="307" name="Google Shape;307;g3f72ffb808c_3_231"/>
          <p:cNvSpPr/>
          <p:nvPr/>
        </p:nvSpPr>
        <p:spPr>
          <a:xfrm>
            <a:off x="3390824" y="2487168"/>
            <a:ext cx="2586300" cy="548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퍼널 단계별 핵심 지표 정의</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노출 수 · 클릭 수 · 구매 수 · 매출</a:t>
            </a:r>
            <a:endParaRPr b="0" i="0" sz="1000" u="none" cap="none" strike="noStrike">
              <a:solidFill>
                <a:schemeClr val="dk1"/>
              </a:solidFill>
              <a:latin typeface="Calibri"/>
              <a:ea typeface="Calibri"/>
              <a:cs typeface="Calibri"/>
              <a:sym typeface="Calibri"/>
            </a:endParaRPr>
          </a:p>
        </p:txBody>
      </p:sp>
      <p:sp>
        <p:nvSpPr>
          <p:cNvPr id="308" name="Google Shape;308;g3f72ffb808c_3_231"/>
          <p:cNvSpPr/>
          <p:nvPr/>
        </p:nvSpPr>
        <p:spPr>
          <a:xfrm>
            <a:off x="6214720" y="1828800"/>
            <a:ext cx="292500" cy="2925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3f72ffb808c_3_231"/>
          <p:cNvSpPr/>
          <p:nvPr/>
        </p:nvSpPr>
        <p:spPr>
          <a:xfrm>
            <a:off x="6214720" y="1828800"/>
            <a:ext cx="2925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cxnSp>
        <p:nvCxnSpPr>
          <p:cNvPr id="310" name="Google Shape;310;g3f72ffb808c_3_231"/>
          <p:cNvCxnSpPr/>
          <p:nvPr/>
        </p:nvCxnSpPr>
        <p:spPr>
          <a:xfrm>
            <a:off x="6562192" y="1975104"/>
            <a:ext cx="2439900" cy="0"/>
          </a:xfrm>
          <a:prstGeom prst="straightConnector1">
            <a:avLst/>
          </a:prstGeom>
          <a:noFill/>
          <a:ln cap="flat" cmpd="sng" w="12700">
            <a:solidFill>
              <a:srgbClr val="D2D2D7"/>
            </a:solidFill>
            <a:prstDash val="solid"/>
            <a:round/>
            <a:headEnd len="sm" w="sm" type="none"/>
            <a:tailEnd len="sm" w="sm" type="none"/>
          </a:ln>
        </p:spPr>
      </p:cxnSp>
      <p:sp>
        <p:nvSpPr>
          <p:cNvPr id="311" name="Google Shape;311;g3f72ffb808c_3_231"/>
          <p:cNvSpPr/>
          <p:nvPr/>
        </p:nvSpPr>
        <p:spPr>
          <a:xfrm>
            <a:off x="6214720" y="2231136"/>
            <a:ext cx="25863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300" u="none" cap="none" strike="noStrike">
                <a:solidFill>
                  <a:srgbClr val="1D1D1F"/>
                </a:solidFill>
                <a:latin typeface="Arial"/>
                <a:ea typeface="Arial"/>
                <a:cs typeface="Arial"/>
                <a:sym typeface="Arial"/>
              </a:rPr>
              <a:t>테이블 구축</a:t>
            </a:r>
            <a:endParaRPr b="0" i="0" sz="1250" u="none" cap="none" strike="noStrike">
              <a:solidFill>
                <a:schemeClr val="dk1"/>
              </a:solidFill>
              <a:latin typeface="Calibri"/>
              <a:ea typeface="Calibri"/>
              <a:cs typeface="Calibri"/>
              <a:sym typeface="Calibri"/>
            </a:endParaRPr>
          </a:p>
        </p:txBody>
      </p:sp>
      <p:sp>
        <p:nvSpPr>
          <p:cNvPr id="312" name="Google Shape;312;g3f72ffb808c_3_231"/>
          <p:cNvSpPr/>
          <p:nvPr/>
        </p:nvSpPr>
        <p:spPr>
          <a:xfrm>
            <a:off x="6214720" y="2487168"/>
            <a:ext cx="2586300" cy="548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한 사람의 일별 행동을 먼저 집계</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variant_id × user_id × datestamp</a:t>
            </a:r>
            <a:endParaRPr b="0" i="0" sz="1000" u="none" cap="none" strike="noStrike">
              <a:solidFill>
                <a:schemeClr val="dk1"/>
              </a:solidFill>
              <a:latin typeface="Calibri"/>
              <a:ea typeface="Calibri"/>
              <a:cs typeface="Calibri"/>
              <a:sym typeface="Calibri"/>
            </a:endParaRPr>
          </a:p>
        </p:txBody>
      </p:sp>
      <p:sp>
        <p:nvSpPr>
          <p:cNvPr id="313" name="Google Shape;313;g3f72ffb808c_3_231"/>
          <p:cNvSpPr/>
          <p:nvPr/>
        </p:nvSpPr>
        <p:spPr>
          <a:xfrm>
            <a:off x="9038615" y="1828800"/>
            <a:ext cx="292500" cy="2925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3f72ffb808c_3_231"/>
          <p:cNvSpPr/>
          <p:nvPr/>
        </p:nvSpPr>
        <p:spPr>
          <a:xfrm>
            <a:off x="9038615" y="1828800"/>
            <a:ext cx="2925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4</a:t>
            </a:r>
            <a:endParaRPr b="0" i="0" sz="1100" u="none" cap="none" strike="noStrike">
              <a:solidFill>
                <a:schemeClr val="dk1"/>
              </a:solidFill>
              <a:latin typeface="Calibri"/>
              <a:ea typeface="Calibri"/>
              <a:cs typeface="Calibri"/>
              <a:sym typeface="Calibri"/>
            </a:endParaRPr>
          </a:p>
        </p:txBody>
      </p:sp>
      <p:sp>
        <p:nvSpPr>
          <p:cNvPr id="315" name="Google Shape;315;g3f72ffb808c_3_231"/>
          <p:cNvSpPr/>
          <p:nvPr/>
        </p:nvSpPr>
        <p:spPr>
          <a:xfrm>
            <a:off x="9038615" y="2231136"/>
            <a:ext cx="25863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300" u="none" cap="none" strike="noStrike">
                <a:solidFill>
                  <a:srgbClr val="1D1D1F"/>
                </a:solidFill>
                <a:latin typeface="Arial"/>
                <a:ea typeface="Arial"/>
                <a:cs typeface="Arial"/>
                <a:sym typeface="Arial"/>
              </a:rPr>
              <a:t>테스트 진행</a:t>
            </a:r>
            <a:endParaRPr b="0" i="0" sz="1250" u="none" cap="none" strike="noStrike">
              <a:solidFill>
                <a:schemeClr val="dk1"/>
              </a:solidFill>
              <a:latin typeface="Calibri"/>
              <a:ea typeface="Calibri"/>
              <a:cs typeface="Calibri"/>
              <a:sym typeface="Calibri"/>
            </a:endParaRPr>
          </a:p>
        </p:txBody>
      </p:sp>
      <p:sp>
        <p:nvSpPr>
          <p:cNvPr id="316" name="Google Shape;316;g3f72ffb808c_3_231"/>
          <p:cNvSpPr/>
          <p:nvPr/>
        </p:nvSpPr>
        <p:spPr>
          <a:xfrm>
            <a:off x="9038615" y="2487168"/>
            <a:ext cx="2586300" cy="548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실험군·대조군으로 분리</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지표별 독립표본 t-검정 수행</a:t>
            </a:r>
            <a:endParaRPr b="0" i="0" sz="1000" u="none" cap="none" strike="noStrike">
              <a:solidFill>
                <a:schemeClr val="dk1"/>
              </a:solidFill>
              <a:latin typeface="Calibri"/>
              <a:ea typeface="Calibri"/>
              <a:cs typeface="Calibri"/>
              <a:sym typeface="Calibri"/>
            </a:endParaRPr>
          </a:p>
        </p:txBody>
      </p:sp>
      <p:cxnSp>
        <p:nvCxnSpPr>
          <p:cNvPr id="317" name="Google Shape;317;g3f72ffb808c_3_231"/>
          <p:cNvCxnSpPr/>
          <p:nvPr/>
        </p:nvCxnSpPr>
        <p:spPr>
          <a:xfrm>
            <a:off x="4727448" y="3331464"/>
            <a:ext cx="0" cy="3200400"/>
          </a:xfrm>
          <a:prstGeom prst="straightConnector1">
            <a:avLst/>
          </a:prstGeom>
          <a:noFill/>
          <a:ln cap="flat" cmpd="sng" w="12700">
            <a:solidFill>
              <a:srgbClr val="E0E0E0"/>
            </a:solidFill>
            <a:prstDash val="solid"/>
            <a:round/>
            <a:headEnd len="sm" w="sm" type="none"/>
            <a:tailEnd len="sm" w="sm" type="none"/>
          </a:ln>
        </p:spPr>
      </p:cxnSp>
      <p:sp>
        <p:nvSpPr>
          <p:cNvPr id="318" name="Google Shape;318;g3f72ffb808c_3_231"/>
          <p:cNvSpPr/>
          <p:nvPr/>
        </p:nvSpPr>
        <p:spPr>
          <a:xfrm>
            <a:off x="566928" y="3331464"/>
            <a:ext cx="4041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지표 정의 및 설정 이유</a:t>
            </a:r>
            <a:endParaRPr b="0" i="0" sz="1575" u="none" cap="none" strike="noStrike">
              <a:solidFill>
                <a:schemeClr val="dk1"/>
              </a:solidFill>
              <a:latin typeface="Calibri"/>
              <a:ea typeface="Calibri"/>
              <a:cs typeface="Calibri"/>
              <a:sym typeface="Calibri"/>
            </a:endParaRPr>
          </a:p>
        </p:txBody>
      </p:sp>
      <p:sp>
        <p:nvSpPr>
          <p:cNvPr id="319" name="Google Shape;319;g3f72ffb808c_3_231"/>
          <p:cNvSpPr/>
          <p:nvPr/>
        </p:nvSpPr>
        <p:spPr>
          <a:xfrm>
            <a:off x="566928" y="3861816"/>
            <a:ext cx="7773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노출 수</a:t>
            </a:r>
            <a:endParaRPr b="0" i="0" sz="1150" u="none" cap="none" strike="noStrike">
              <a:solidFill>
                <a:schemeClr val="dk1"/>
              </a:solidFill>
              <a:latin typeface="Calibri"/>
              <a:ea typeface="Calibri"/>
              <a:cs typeface="Calibri"/>
              <a:sym typeface="Calibri"/>
            </a:endParaRPr>
          </a:p>
        </p:txBody>
      </p:sp>
      <p:sp>
        <p:nvSpPr>
          <p:cNvPr id="320" name="Google Shape;320;g3f72ffb808c_3_231"/>
          <p:cNvSpPr/>
          <p:nvPr/>
        </p:nvSpPr>
        <p:spPr>
          <a:xfrm>
            <a:off x="1344168" y="3861816"/>
            <a:ext cx="19659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하루 동안 상품에 노출된 횟수</a:t>
            </a:r>
            <a:endParaRPr b="0" i="0" sz="1000" u="none" cap="none" strike="noStrike">
              <a:solidFill>
                <a:schemeClr val="dk1"/>
              </a:solidFill>
              <a:latin typeface="Calibri"/>
              <a:ea typeface="Calibri"/>
              <a:cs typeface="Calibri"/>
              <a:sym typeface="Calibri"/>
            </a:endParaRPr>
          </a:p>
        </p:txBody>
      </p:sp>
      <p:sp>
        <p:nvSpPr>
          <p:cNvPr id="321" name="Google Shape;321;g3f72ffb808c_3_231"/>
          <p:cNvSpPr/>
          <p:nvPr/>
        </p:nvSpPr>
        <p:spPr>
          <a:xfrm>
            <a:off x="3310128" y="3861816"/>
            <a:ext cx="12984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상품 탐색량 변화 확인</a:t>
            </a:r>
            <a:endParaRPr b="0" i="0" sz="900" u="none" cap="none" strike="noStrike">
              <a:solidFill>
                <a:schemeClr val="dk1"/>
              </a:solidFill>
              <a:latin typeface="Calibri"/>
              <a:ea typeface="Calibri"/>
              <a:cs typeface="Calibri"/>
              <a:sym typeface="Calibri"/>
            </a:endParaRPr>
          </a:p>
        </p:txBody>
      </p:sp>
      <p:cxnSp>
        <p:nvCxnSpPr>
          <p:cNvPr id="322" name="Google Shape;322;g3f72ffb808c_3_231"/>
          <p:cNvCxnSpPr/>
          <p:nvPr/>
        </p:nvCxnSpPr>
        <p:spPr>
          <a:xfrm>
            <a:off x="566928" y="4474464"/>
            <a:ext cx="4041600" cy="0"/>
          </a:xfrm>
          <a:prstGeom prst="straightConnector1">
            <a:avLst/>
          </a:prstGeom>
          <a:noFill/>
          <a:ln cap="flat" cmpd="sng" w="12700">
            <a:solidFill>
              <a:srgbClr val="E0E0E0"/>
            </a:solidFill>
            <a:prstDash val="solid"/>
            <a:round/>
            <a:headEnd len="sm" w="sm" type="none"/>
            <a:tailEnd len="sm" w="sm" type="none"/>
          </a:ln>
        </p:spPr>
      </p:cxnSp>
      <p:sp>
        <p:nvSpPr>
          <p:cNvPr id="323" name="Google Shape;323;g3f72ffb808c_3_231"/>
          <p:cNvSpPr/>
          <p:nvPr/>
        </p:nvSpPr>
        <p:spPr>
          <a:xfrm>
            <a:off x="566928" y="4547616"/>
            <a:ext cx="7773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클릭 수</a:t>
            </a:r>
            <a:endParaRPr b="0" i="0" sz="1150" u="none" cap="none" strike="noStrike">
              <a:solidFill>
                <a:schemeClr val="dk1"/>
              </a:solidFill>
              <a:latin typeface="Calibri"/>
              <a:ea typeface="Calibri"/>
              <a:cs typeface="Calibri"/>
              <a:sym typeface="Calibri"/>
            </a:endParaRPr>
          </a:p>
        </p:txBody>
      </p:sp>
      <p:sp>
        <p:nvSpPr>
          <p:cNvPr id="324" name="Google Shape;324;g3f72ffb808c_3_231"/>
          <p:cNvSpPr/>
          <p:nvPr/>
        </p:nvSpPr>
        <p:spPr>
          <a:xfrm>
            <a:off x="1344168" y="4547616"/>
            <a:ext cx="19659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하루 동안 발생한 클릭 수</a:t>
            </a:r>
            <a:endParaRPr b="0" i="0" sz="1000" u="none" cap="none" strike="noStrike">
              <a:solidFill>
                <a:schemeClr val="dk1"/>
              </a:solidFill>
              <a:latin typeface="Calibri"/>
              <a:ea typeface="Calibri"/>
              <a:cs typeface="Calibri"/>
              <a:sym typeface="Calibri"/>
            </a:endParaRPr>
          </a:p>
        </p:txBody>
      </p:sp>
      <p:sp>
        <p:nvSpPr>
          <p:cNvPr id="325" name="Google Shape;325;g3f72ffb808c_3_231"/>
          <p:cNvSpPr/>
          <p:nvPr/>
        </p:nvSpPr>
        <p:spPr>
          <a:xfrm>
            <a:off x="3310128" y="4547616"/>
            <a:ext cx="12984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관심 행동 변화 확인</a:t>
            </a:r>
            <a:endParaRPr b="0" i="0" sz="900" u="none" cap="none" strike="noStrike">
              <a:solidFill>
                <a:schemeClr val="dk1"/>
              </a:solidFill>
              <a:latin typeface="Calibri"/>
              <a:ea typeface="Calibri"/>
              <a:cs typeface="Calibri"/>
              <a:sym typeface="Calibri"/>
            </a:endParaRPr>
          </a:p>
        </p:txBody>
      </p:sp>
      <p:cxnSp>
        <p:nvCxnSpPr>
          <p:cNvPr id="326" name="Google Shape;326;g3f72ffb808c_3_231"/>
          <p:cNvCxnSpPr/>
          <p:nvPr/>
        </p:nvCxnSpPr>
        <p:spPr>
          <a:xfrm>
            <a:off x="566928" y="5160264"/>
            <a:ext cx="4041600" cy="0"/>
          </a:xfrm>
          <a:prstGeom prst="straightConnector1">
            <a:avLst/>
          </a:prstGeom>
          <a:noFill/>
          <a:ln cap="flat" cmpd="sng" w="12700">
            <a:solidFill>
              <a:srgbClr val="E0E0E0"/>
            </a:solidFill>
            <a:prstDash val="solid"/>
            <a:round/>
            <a:headEnd len="sm" w="sm" type="none"/>
            <a:tailEnd len="sm" w="sm" type="none"/>
          </a:ln>
        </p:spPr>
      </p:cxnSp>
      <p:sp>
        <p:nvSpPr>
          <p:cNvPr id="327" name="Google Shape;327;g3f72ffb808c_3_231"/>
          <p:cNvSpPr/>
          <p:nvPr/>
        </p:nvSpPr>
        <p:spPr>
          <a:xfrm>
            <a:off x="566928" y="5233416"/>
            <a:ext cx="7773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구매 수</a:t>
            </a:r>
            <a:endParaRPr b="0" i="0" sz="1150" u="none" cap="none" strike="noStrike">
              <a:solidFill>
                <a:schemeClr val="dk1"/>
              </a:solidFill>
              <a:latin typeface="Calibri"/>
              <a:ea typeface="Calibri"/>
              <a:cs typeface="Calibri"/>
              <a:sym typeface="Calibri"/>
            </a:endParaRPr>
          </a:p>
        </p:txBody>
      </p:sp>
      <p:sp>
        <p:nvSpPr>
          <p:cNvPr id="328" name="Google Shape;328;g3f72ffb808c_3_231"/>
          <p:cNvSpPr/>
          <p:nvPr/>
        </p:nvSpPr>
        <p:spPr>
          <a:xfrm>
            <a:off x="1344168" y="5233416"/>
            <a:ext cx="19659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하루 동안 발생한 구매 수</a:t>
            </a:r>
            <a:endParaRPr b="0" i="0" sz="1000" u="none" cap="none" strike="noStrike">
              <a:solidFill>
                <a:schemeClr val="dk1"/>
              </a:solidFill>
              <a:latin typeface="Calibri"/>
              <a:ea typeface="Calibri"/>
              <a:cs typeface="Calibri"/>
              <a:sym typeface="Calibri"/>
            </a:endParaRPr>
          </a:p>
        </p:txBody>
      </p:sp>
      <p:sp>
        <p:nvSpPr>
          <p:cNvPr id="329" name="Google Shape;329;g3f72ffb808c_3_231"/>
          <p:cNvSpPr/>
          <p:nvPr/>
        </p:nvSpPr>
        <p:spPr>
          <a:xfrm>
            <a:off x="3310128" y="5233416"/>
            <a:ext cx="12984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전환 행동 변화 확인</a:t>
            </a:r>
            <a:endParaRPr b="0" i="0" sz="900" u="none" cap="none" strike="noStrike">
              <a:solidFill>
                <a:schemeClr val="dk1"/>
              </a:solidFill>
              <a:latin typeface="Calibri"/>
              <a:ea typeface="Calibri"/>
              <a:cs typeface="Calibri"/>
              <a:sym typeface="Calibri"/>
            </a:endParaRPr>
          </a:p>
        </p:txBody>
      </p:sp>
      <p:cxnSp>
        <p:nvCxnSpPr>
          <p:cNvPr id="330" name="Google Shape;330;g3f72ffb808c_3_231"/>
          <p:cNvCxnSpPr/>
          <p:nvPr/>
        </p:nvCxnSpPr>
        <p:spPr>
          <a:xfrm>
            <a:off x="566928" y="5846064"/>
            <a:ext cx="4041600" cy="0"/>
          </a:xfrm>
          <a:prstGeom prst="straightConnector1">
            <a:avLst/>
          </a:prstGeom>
          <a:noFill/>
          <a:ln cap="flat" cmpd="sng" w="12700">
            <a:solidFill>
              <a:srgbClr val="E0E0E0"/>
            </a:solidFill>
            <a:prstDash val="solid"/>
            <a:round/>
            <a:headEnd len="sm" w="sm" type="none"/>
            <a:tailEnd len="sm" w="sm" type="none"/>
          </a:ln>
        </p:spPr>
      </p:cxnSp>
      <p:sp>
        <p:nvSpPr>
          <p:cNvPr id="331" name="Google Shape;331;g3f72ffb808c_3_231"/>
          <p:cNvSpPr/>
          <p:nvPr/>
        </p:nvSpPr>
        <p:spPr>
          <a:xfrm>
            <a:off x="566928" y="5919216"/>
            <a:ext cx="7773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매출</a:t>
            </a:r>
            <a:endParaRPr b="0" i="0" sz="1150" u="none" cap="none" strike="noStrike">
              <a:solidFill>
                <a:schemeClr val="dk1"/>
              </a:solidFill>
              <a:latin typeface="Calibri"/>
              <a:ea typeface="Calibri"/>
              <a:cs typeface="Calibri"/>
              <a:sym typeface="Calibri"/>
            </a:endParaRPr>
          </a:p>
        </p:txBody>
      </p:sp>
      <p:sp>
        <p:nvSpPr>
          <p:cNvPr id="332" name="Google Shape;332;g3f72ffb808c_3_231"/>
          <p:cNvSpPr/>
          <p:nvPr/>
        </p:nvSpPr>
        <p:spPr>
          <a:xfrm>
            <a:off x="1344168" y="5919216"/>
            <a:ext cx="19659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하루 동안 발생한 결제금액</a:t>
            </a:r>
            <a:endParaRPr b="0" i="0" sz="1000" u="none" cap="none" strike="noStrike">
              <a:solidFill>
                <a:schemeClr val="dk1"/>
              </a:solidFill>
              <a:latin typeface="Calibri"/>
              <a:ea typeface="Calibri"/>
              <a:cs typeface="Calibri"/>
              <a:sym typeface="Calibri"/>
            </a:endParaRPr>
          </a:p>
        </p:txBody>
      </p:sp>
      <p:sp>
        <p:nvSpPr>
          <p:cNvPr id="333" name="Google Shape;333;g3f72ffb808c_3_231"/>
          <p:cNvSpPr/>
          <p:nvPr/>
        </p:nvSpPr>
        <p:spPr>
          <a:xfrm>
            <a:off x="3310128" y="5919216"/>
            <a:ext cx="1298400" cy="53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비즈니스 성과 확인</a:t>
            </a:r>
            <a:endParaRPr b="0" i="0" sz="900" u="none" cap="none" strike="noStrike">
              <a:solidFill>
                <a:schemeClr val="dk1"/>
              </a:solidFill>
              <a:latin typeface="Calibri"/>
              <a:ea typeface="Calibri"/>
              <a:cs typeface="Calibri"/>
              <a:sym typeface="Calibri"/>
            </a:endParaRPr>
          </a:p>
        </p:txBody>
      </p:sp>
      <p:sp>
        <p:nvSpPr>
          <p:cNvPr id="334" name="Google Shape;334;g3f72ffb808c_3_231"/>
          <p:cNvSpPr/>
          <p:nvPr/>
        </p:nvSpPr>
        <p:spPr>
          <a:xfrm>
            <a:off x="4846320" y="3331464"/>
            <a:ext cx="3017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사용자-일 분석 테이블 생성</a:t>
            </a:r>
            <a:endParaRPr b="0" i="0" sz="1575" u="none" cap="none" strike="noStrike">
              <a:solidFill>
                <a:schemeClr val="dk1"/>
              </a:solidFill>
              <a:latin typeface="Calibri"/>
              <a:ea typeface="Calibri"/>
              <a:cs typeface="Calibri"/>
              <a:sym typeface="Calibri"/>
            </a:endParaRPr>
          </a:p>
        </p:txBody>
      </p:sp>
      <p:sp>
        <p:nvSpPr>
          <p:cNvPr id="335" name="Google Shape;335;g3f72ffb808c_3_231"/>
          <p:cNvSpPr/>
          <p:nvPr/>
        </p:nvSpPr>
        <p:spPr>
          <a:xfrm>
            <a:off x="4983480" y="4097274"/>
            <a:ext cx="2743200" cy="1614000"/>
          </a:xfrm>
          <a:prstGeom prst="rect">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3f72ffb808c_3_231"/>
          <p:cNvSpPr/>
          <p:nvPr/>
        </p:nvSpPr>
        <p:spPr>
          <a:xfrm>
            <a:off x="4983480" y="4097274"/>
            <a:ext cx="2743200" cy="237600"/>
          </a:xfrm>
          <a:prstGeom prst="rect">
            <a:avLst/>
          </a:prstGeom>
          <a:solidFill>
            <a:srgbClr val="0066CC"/>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f72ffb808c_3_231"/>
          <p:cNvSpPr/>
          <p:nvPr/>
        </p:nvSpPr>
        <p:spPr>
          <a:xfrm>
            <a:off x="5074920" y="4097274"/>
            <a:ext cx="2560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variant_daily_sessions</a:t>
            </a:r>
            <a:endParaRPr b="0" i="0" sz="1050" u="none" cap="none" strike="noStrike">
              <a:solidFill>
                <a:schemeClr val="dk1"/>
              </a:solidFill>
              <a:latin typeface="Calibri"/>
              <a:ea typeface="Calibri"/>
              <a:cs typeface="Calibri"/>
              <a:sym typeface="Calibri"/>
            </a:endParaRPr>
          </a:p>
        </p:txBody>
      </p:sp>
      <p:sp>
        <p:nvSpPr>
          <p:cNvPr id="338" name="Google Shape;338;g3f72ffb808c_3_231"/>
          <p:cNvSpPr/>
          <p:nvPr/>
        </p:nvSpPr>
        <p:spPr>
          <a:xfrm>
            <a:off x="5074920" y="4335018"/>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1" i="0" lang="en-US" sz="875" u="none" cap="none" strike="noStrike">
                <a:solidFill>
                  <a:srgbClr val="1D1D1F"/>
                </a:solidFill>
                <a:latin typeface="Arial"/>
                <a:ea typeface="Arial"/>
                <a:cs typeface="Arial"/>
                <a:sym typeface="Arial"/>
              </a:rPr>
              <a:t>🔑 variant_id</a:t>
            </a:r>
            <a:endParaRPr b="0" i="0" sz="875" u="none" cap="none" strike="noStrike">
              <a:solidFill>
                <a:schemeClr val="dk1"/>
              </a:solidFill>
              <a:latin typeface="Calibri"/>
              <a:ea typeface="Calibri"/>
              <a:cs typeface="Calibri"/>
              <a:sym typeface="Calibri"/>
            </a:endParaRPr>
          </a:p>
        </p:txBody>
      </p:sp>
      <p:sp>
        <p:nvSpPr>
          <p:cNvPr id="339" name="Google Shape;339;g3f72ffb808c_3_231"/>
          <p:cNvSpPr/>
          <p:nvPr/>
        </p:nvSpPr>
        <p:spPr>
          <a:xfrm>
            <a:off x="6464808" y="4335018"/>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int</a:t>
            </a:r>
            <a:endParaRPr b="0" i="0" sz="800" u="none" cap="none" strike="noStrike">
              <a:solidFill>
                <a:schemeClr val="dk1"/>
              </a:solidFill>
              <a:latin typeface="Calibri"/>
              <a:ea typeface="Calibri"/>
              <a:cs typeface="Calibri"/>
              <a:sym typeface="Calibri"/>
            </a:endParaRPr>
          </a:p>
        </p:txBody>
      </p:sp>
      <p:sp>
        <p:nvSpPr>
          <p:cNvPr id="340" name="Google Shape;340;g3f72ffb808c_3_231"/>
          <p:cNvSpPr/>
          <p:nvPr/>
        </p:nvSpPr>
        <p:spPr>
          <a:xfrm>
            <a:off x="5074920" y="4531614"/>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1" i="0" lang="en-US" sz="875" u="none" cap="none" strike="noStrike">
                <a:solidFill>
                  <a:srgbClr val="1D1D1F"/>
                </a:solidFill>
                <a:latin typeface="Arial"/>
                <a:ea typeface="Arial"/>
                <a:cs typeface="Arial"/>
                <a:sym typeface="Arial"/>
              </a:rPr>
              <a:t>🔑 user_id</a:t>
            </a:r>
            <a:endParaRPr b="0" i="0" sz="875" u="none" cap="none" strike="noStrike">
              <a:solidFill>
                <a:schemeClr val="dk1"/>
              </a:solidFill>
              <a:latin typeface="Calibri"/>
              <a:ea typeface="Calibri"/>
              <a:cs typeface="Calibri"/>
              <a:sym typeface="Calibri"/>
            </a:endParaRPr>
          </a:p>
        </p:txBody>
      </p:sp>
      <p:sp>
        <p:nvSpPr>
          <p:cNvPr id="341" name="Google Shape;341;g3f72ffb808c_3_231"/>
          <p:cNvSpPr/>
          <p:nvPr/>
        </p:nvSpPr>
        <p:spPr>
          <a:xfrm>
            <a:off x="6464808" y="4531614"/>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int</a:t>
            </a:r>
            <a:endParaRPr b="0" i="0" sz="800" u="none" cap="none" strike="noStrike">
              <a:solidFill>
                <a:schemeClr val="dk1"/>
              </a:solidFill>
              <a:latin typeface="Calibri"/>
              <a:ea typeface="Calibri"/>
              <a:cs typeface="Calibri"/>
              <a:sym typeface="Calibri"/>
            </a:endParaRPr>
          </a:p>
        </p:txBody>
      </p:sp>
      <p:sp>
        <p:nvSpPr>
          <p:cNvPr id="342" name="Google Shape;342;g3f72ffb808c_3_231"/>
          <p:cNvSpPr/>
          <p:nvPr/>
        </p:nvSpPr>
        <p:spPr>
          <a:xfrm>
            <a:off x="5074920" y="4728210"/>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1" i="0" lang="en-US" sz="875" u="none" cap="none" strike="noStrike">
                <a:solidFill>
                  <a:srgbClr val="1D1D1F"/>
                </a:solidFill>
                <a:latin typeface="Arial"/>
                <a:ea typeface="Arial"/>
                <a:cs typeface="Arial"/>
                <a:sym typeface="Arial"/>
              </a:rPr>
              <a:t>🔑 datestamp</a:t>
            </a:r>
            <a:endParaRPr b="0" i="0" sz="875" u="none" cap="none" strike="noStrike">
              <a:solidFill>
                <a:schemeClr val="dk1"/>
              </a:solidFill>
              <a:latin typeface="Calibri"/>
              <a:ea typeface="Calibri"/>
              <a:cs typeface="Calibri"/>
              <a:sym typeface="Calibri"/>
            </a:endParaRPr>
          </a:p>
        </p:txBody>
      </p:sp>
      <p:sp>
        <p:nvSpPr>
          <p:cNvPr id="343" name="Google Shape;343;g3f72ffb808c_3_231"/>
          <p:cNvSpPr/>
          <p:nvPr/>
        </p:nvSpPr>
        <p:spPr>
          <a:xfrm>
            <a:off x="6464808" y="4728210"/>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date</a:t>
            </a:r>
            <a:endParaRPr b="0" i="0" sz="800" u="none" cap="none" strike="noStrike">
              <a:solidFill>
                <a:schemeClr val="dk1"/>
              </a:solidFill>
              <a:latin typeface="Calibri"/>
              <a:ea typeface="Calibri"/>
              <a:cs typeface="Calibri"/>
              <a:sym typeface="Calibri"/>
            </a:endParaRPr>
          </a:p>
        </p:txBody>
      </p:sp>
      <p:sp>
        <p:nvSpPr>
          <p:cNvPr id="344" name="Google Shape;344;g3f72ffb808c_3_231"/>
          <p:cNvSpPr/>
          <p:nvPr/>
        </p:nvSpPr>
        <p:spPr>
          <a:xfrm>
            <a:off x="5074920" y="4924806"/>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0" i="0" lang="en-US" sz="875" u="none" cap="none" strike="noStrike">
                <a:solidFill>
                  <a:srgbClr val="1D1D1F"/>
                </a:solidFill>
                <a:latin typeface="Arial"/>
                <a:ea typeface="Arial"/>
                <a:cs typeface="Arial"/>
                <a:sym typeface="Arial"/>
              </a:rPr>
              <a:t>num_of_items</a:t>
            </a:r>
            <a:endParaRPr b="0" i="0" sz="875" u="none" cap="none" strike="noStrike">
              <a:solidFill>
                <a:schemeClr val="dk1"/>
              </a:solidFill>
              <a:latin typeface="Calibri"/>
              <a:ea typeface="Calibri"/>
              <a:cs typeface="Calibri"/>
              <a:sym typeface="Calibri"/>
            </a:endParaRPr>
          </a:p>
        </p:txBody>
      </p:sp>
      <p:sp>
        <p:nvSpPr>
          <p:cNvPr id="345" name="Google Shape;345;g3f72ffb808c_3_231"/>
          <p:cNvSpPr/>
          <p:nvPr/>
        </p:nvSpPr>
        <p:spPr>
          <a:xfrm>
            <a:off x="6464808" y="4924806"/>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int</a:t>
            </a:r>
            <a:endParaRPr b="0" i="0" sz="800" u="none" cap="none" strike="noStrike">
              <a:solidFill>
                <a:schemeClr val="dk1"/>
              </a:solidFill>
              <a:latin typeface="Calibri"/>
              <a:ea typeface="Calibri"/>
              <a:cs typeface="Calibri"/>
              <a:sym typeface="Calibri"/>
            </a:endParaRPr>
          </a:p>
        </p:txBody>
      </p:sp>
      <p:sp>
        <p:nvSpPr>
          <p:cNvPr id="346" name="Google Shape;346;g3f72ffb808c_3_231"/>
          <p:cNvSpPr/>
          <p:nvPr/>
        </p:nvSpPr>
        <p:spPr>
          <a:xfrm>
            <a:off x="5074920" y="5121402"/>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0" i="0" lang="en-US" sz="875" u="none" cap="none" strike="noStrike">
                <a:solidFill>
                  <a:srgbClr val="1D1D1F"/>
                </a:solidFill>
                <a:latin typeface="Arial"/>
                <a:ea typeface="Arial"/>
                <a:cs typeface="Arial"/>
                <a:sym typeface="Arial"/>
              </a:rPr>
              <a:t>num_of_clicks</a:t>
            </a:r>
            <a:endParaRPr b="0" i="0" sz="875" u="none" cap="none" strike="noStrike">
              <a:solidFill>
                <a:schemeClr val="dk1"/>
              </a:solidFill>
              <a:latin typeface="Calibri"/>
              <a:ea typeface="Calibri"/>
              <a:cs typeface="Calibri"/>
              <a:sym typeface="Calibri"/>
            </a:endParaRPr>
          </a:p>
        </p:txBody>
      </p:sp>
      <p:sp>
        <p:nvSpPr>
          <p:cNvPr id="347" name="Google Shape;347;g3f72ffb808c_3_231"/>
          <p:cNvSpPr/>
          <p:nvPr/>
        </p:nvSpPr>
        <p:spPr>
          <a:xfrm>
            <a:off x="6464808" y="5121402"/>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int</a:t>
            </a:r>
            <a:endParaRPr b="0" i="0" sz="800" u="none" cap="none" strike="noStrike">
              <a:solidFill>
                <a:schemeClr val="dk1"/>
              </a:solidFill>
              <a:latin typeface="Calibri"/>
              <a:ea typeface="Calibri"/>
              <a:cs typeface="Calibri"/>
              <a:sym typeface="Calibri"/>
            </a:endParaRPr>
          </a:p>
        </p:txBody>
      </p:sp>
      <p:sp>
        <p:nvSpPr>
          <p:cNvPr id="348" name="Google Shape;348;g3f72ffb808c_3_231"/>
          <p:cNvSpPr/>
          <p:nvPr/>
        </p:nvSpPr>
        <p:spPr>
          <a:xfrm>
            <a:off x="5074920" y="5317998"/>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0" i="0" lang="en-US" sz="875" u="none" cap="none" strike="noStrike">
                <a:solidFill>
                  <a:srgbClr val="1D1D1F"/>
                </a:solidFill>
                <a:latin typeface="Arial"/>
                <a:ea typeface="Arial"/>
                <a:cs typeface="Arial"/>
                <a:sym typeface="Arial"/>
              </a:rPr>
              <a:t>num_of_purchases</a:t>
            </a:r>
            <a:endParaRPr b="0" i="0" sz="875" u="none" cap="none" strike="noStrike">
              <a:solidFill>
                <a:schemeClr val="dk1"/>
              </a:solidFill>
              <a:latin typeface="Calibri"/>
              <a:ea typeface="Calibri"/>
              <a:cs typeface="Calibri"/>
              <a:sym typeface="Calibri"/>
            </a:endParaRPr>
          </a:p>
        </p:txBody>
      </p:sp>
      <p:sp>
        <p:nvSpPr>
          <p:cNvPr id="349" name="Google Shape;349;g3f72ffb808c_3_231"/>
          <p:cNvSpPr/>
          <p:nvPr/>
        </p:nvSpPr>
        <p:spPr>
          <a:xfrm>
            <a:off x="6464808" y="5317998"/>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int</a:t>
            </a:r>
            <a:endParaRPr b="0" i="0" sz="800" u="none" cap="none" strike="noStrike">
              <a:solidFill>
                <a:schemeClr val="dk1"/>
              </a:solidFill>
              <a:latin typeface="Calibri"/>
              <a:ea typeface="Calibri"/>
              <a:cs typeface="Calibri"/>
              <a:sym typeface="Calibri"/>
            </a:endParaRPr>
          </a:p>
        </p:txBody>
      </p:sp>
      <p:sp>
        <p:nvSpPr>
          <p:cNvPr id="350" name="Google Shape;350;g3f72ffb808c_3_231"/>
          <p:cNvSpPr/>
          <p:nvPr/>
        </p:nvSpPr>
        <p:spPr>
          <a:xfrm>
            <a:off x="5074920" y="5514594"/>
            <a:ext cx="15363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75"/>
              <a:buFont typeface="Arial"/>
              <a:buNone/>
            </a:pPr>
            <a:r>
              <a:rPr b="0" i="0" lang="en-US" sz="875" u="none" cap="none" strike="noStrike">
                <a:solidFill>
                  <a:srgbClr val="1D1D1F"/>
                </a:solidFill>
                <a:latin typeface="Arial"/>
                <a:ea typeface="Arial"/>
                <a:cs typeface="Arial"/>
                <a:sym typeface="Arial"/>
              </a:rPr>
              <a:t>revenue</a:t>
            </a:r>
            <a:endParaRPr b="0" i="0" sz="875" u="none" cap="none" strike="noStrike">
              <a:solidFill>
                <a:schemeClr val="dk1"/>
              </a:solidFill>
              <a:latin typeface="Calibri"/>
              <a:ea typeface="Calibri"/>
              <a:cs typeface="Calibri"/>
              <a:sym typeface="Calibri"/>
            </a:endParaRPr>
          </a:p>
        </p:txBody>
      </p:sp>
      <p:sp>
        <p:nvSpPr>
          <p:cNvPr id="351" name="Google Shape;351;g3f72ffb808c_3_231"/>
          <p:cNvSpPr/>
          <p:nvPr/>
        </p:nvSpPr>
        <p:spPr>
          <a:xfrm>
            <a:off x="6464808" y="5514594"/>
            <a:ext cx="1170300" cy="19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decimal</a:t>
            </a:r>
            <a:endParaRPr b="0" i="0" sz="800" u="none" cap="none" strike="noStrike">
              <a:solidFill>
                <a:schemeClr val="dk1"/>
              </a:solidFill>
              <a:latin typeface="Calibri"/>
              <a:ea typeface="Calibri"/>
              <a:cs typeface="Calibri"/>
              <a:sym typeface="Calibri"/>
            </a:endParaRPr>
          </a:p>
        </p:txBody>
      </p:sp>
      <p:sp>
        <p:nvSpPr>
          <p:cNvPr id="352" name="Google Shape;352;g3f72ffb808c_3_231"/>
          <p:cNvSpPr/>
          <p:nvPr/>
        </p:nvSpPr>
        <p:spPr>
          <a:xfrm>
            <a:off x="8101584" y="3368040"/>
            <a:ext cx="255900" cy="2559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3f72ffb808c_3_231"/>
          <p:cNvSpPr/>
          <p:nvPr/>
        </p:nvSpPr>
        <p:spPr>
          <a:xfrm>
            <a:off x="8101584" y="3368040"/>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1</a:t>
            </a:r>
            <a:endParaRPr b="0" i="0" sz="950" u="none" cap="none" strike="noStrike">
              <a:solidFill>
                <a:schemeClr val="dk1"/>
              </a:solidFill>
              <a:latin typeface="Calibri"/>
              <a:ea typeface="Calibri"/>
              <a:cs typeface="Calibri"/>
              <a:sym typeface="Calibri"/>
            </a:endParaRPr>
          </a:p>
        </p:txBody>
      </p:sp>
      <p:cxnSp>
        <p:nvCxnSpPr>
          <p:cNvPr id="354" name="Google Shape;354;g3f72ffb808c_3_231"/>
          <p:cNvCxnSpPr/>
          <p:nvPr/>
        </p:nvCxnSpPr>
        <p:spPr>
          <a:xfrm>
            <a:off x="8229600" y="3624072"/>
            <a:ext cx="0" cy="507600"/>
          </a:xfrm>
          <a:prstGeom prst="straightConnector1">
            <a:avLst/>
          </a:prstGeom>
          <a:noFill/>
          <a:ln cap="flat" cmpd="sng" w="12700">
            <a:solidFill>
              <a:srgbClr val="D2D2D7"/>
            </a:solidFill>
            <a:prstDash val="solid"/>
            <a:round/>
            <a:headEnd len="sm" w="sm" type="none"/>
            <a:tailEnd len="sm" w="sm" type="none"/>
          </a:ln>
        </p:spPr>
      </p:cxnSp>
      <p:sp>
        <p:nvSpPr>
          <p:cNvPr id="355" name="Google Shape;355;g3f72ffb808c_3_231"/>
          <p:cNvSpPr/>
          <p:nvPr/>
        </p:nvSpPr>
        <p:spPr>
          <a:xfrm>
            <a:off x="8503920" y="3331464"/>
            <a:ext cx="31209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원천 데이터 결합</a:t>
            </a:r>
            <a:endParaRPr b="0" i="0" sz="1150" u="none" cap="none" strike="noStrike">
              <a:solidFill>
                <a:schemeClr val="dk1"/>
              </a:solidFill>
              <a:latin typeface="Calibri"/>
              <a:ea typeface="Calibri"/>
              <a:cs typeface="Calibri"/>
              <a:sym typeface="Calibri"/>
            </a:endParaRPr>
          </a:p>
        </p:txBody>
      </p:sp>
      <p:sp>
        <p:nvSpPr>
          <p:cNvPr id="356" name="Google Shape;356;g3f72ffb808c_3_231"/>
          <p:cNvSpPr/>
          <p:nvPr/>
        </p:nvSpPr>
        <p:spPr>
          <a:xfrm>
            <a:off x="8503920" y="3587496"/>
            <a:ext cx="3120900" cy="52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user_variant + user_event, user_id 기준 조인</a:t>
            </a:r>
            <a:endParaRPr b="0" i="0" sz="900" u="none" cap="none" strike="noStrike">
              <a:solidFill>
                <a:schemeClr val="dk1"/>
              </a:solidFill>
              <a:latin typeface="Calibri"/>
              <a:ea typeface="Calibri"/>
              <a:cs typeface="Calibri"/>
              <a:sym typeface="Calibri"/>
            </a:endParaRPr>
          </a:p>
        </p:txBody>
      </p:sp>
      <p:sp>
        <p:nvSpPr>
          <p:cNvPr id="357" name="Google Shape;357;g3f72ffb808c_3_231"/>
          <p:cNvSpPr/>
          <p:nvPr/>
        </p:nvSpPr>
        <p:spPr>
          <a:xfrm>
            <a:off x="8101584" y="4168140"/>
            <a:ext cx="255900" cy="2559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f72ffb808c_3_231"/>
          <p:cNvSpPr/>
          <p:nvPr/>
        </p:nvSpPr>
        <p:spPr>
          <a:xfrm>
            <a:off x="8101584" y="4168140"/>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2</a:t>
            </a:r>
            <a:endParaRPr b="0" i="0" sz="950" u="none" cap="none" strike="noStrike">
              <a:solidFill>
                <a:schemeClr val="dk1"/>
              </a:solidFill>
              <a:latin typeface="Calibri"/>
              <a:ea typeface="Calibri"/>
              <a:cs typeface="Calibri"/>
              <a:sym typeface="Calibri"/>
            </a:endParaRPr>
          </a:p>
        </p:txBody>
      </p:sp>
      <p:cxnSp>
        <p:nvCxnSpPr>
          <p:cNvPr id="359" name="Google Shape;359;g3f72ffb808c_3_231"/>
          <p:cNvCxnSpPr/>
          <p:nvPr/>
        </p:nvCxnSpPr>
        <p:spPr>
          <a:xfrm>
            <a:off x="8229600" y="4424172"/>
            <a:ext cx="0" cy="507600"/>
          </a:xfrm>
          <a:prstGeom prst="straightConnector1">
            <a:avLst/>
          </a:prstGeom>
          <a:noFill/>
          <a:ln cap="flat" cmpd="sng" w="12700">
            <a:solidFill>
              <a:srgbClr val="D2D2D7"/>
            </a:solidFill>
            <a:prstDash val="solid"/>
            <a:round/>
            <a:headEnd len="sm" w="sm" type="none"/>
            <a:tailEnd len="sm" w="sm" type="none"/>
          </a:ln>
        </p:spPr>
      </p:cxnSp>
      <p:sp>
        <p:nvSpPr>
          <p:cNvPr id="360" name="Google Shape;360;g3f72ffb808c_3_231"/>
          <p:cNvSpPr/>
          <p:nvPr/>
        </p:nvSpPr>
        <p:spPr>
          <a:xfrm>
            <a:off x="8503920" y="4131564"/>
            <a:ext cx="31209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사용자-일 집계</a:t>
            </a:r>
            <a:endParaRPr b="0" i="0" sz="1150" u="none" cap="none" strike="noStrike">
              <a:solidFill>
                <a:schemeClr val="dk1"/>
              </a:solidFill>
              <a:latin typeface="Calibri"/>
              <a:ea typeface="Calibri"/>
              <a:cs typeface="Calibri"/>
              <a:sym typeface="Calibri"/>
            </a:endParaRPr>
          </a:p>
        </p:txBody>
      </p:sp>
      <p:sp>
        <p:nvSpPr>
          <p:cNvPr id="361" name="Google Shape;361;g3f72ffb808c_3_231"/>
          <p:cNvSpPr/>
          <p:nvPr/>
        </p:nvSpPr>
        <p:spPr>
          <a:xfrm>
            <a:off x="8503920" y="4387596"/>
            <a:ext cx="3120900" cy="52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한 사용자의 하루 행동을 노출·클릭·구매·매출로 요약</a:t>
            </a:r>
            <a:endParaRPr b="0" i="0" sz="900" u="none" cap="none" strike="noStrike">
              <a:solidFill>
                <a:schemeClr val="dk1"/>
              </a:solidFill>
              <a:latin typeface="Calibri"/>
              <a:ea typeface="Calibri"/>
              <a:cs typeface="Calibri"/>
              <a:sym typeface="Calibri"/>
            </a:endParaRPr>
          </a:p>
        </p:txBody>
      </p:sp>
      <p:sp>
        <p:nvSpPr>
          <p:cNvPr id="362" name="Google Shape;362;g3f72ffb808c_3_231"/>
          <p:cNvSpPr/>
          <p:nvPr/>
        </p:nvSpPr>
        <p:spPr>
          <a:xfrm>
            <a:off x="8101584" y="4968240"/>
            <a:ext cx="255900" cy="2559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f72ffb808c_3_231"/>
          <p:cNvSpPr/>
          <p:nvPr/>
        </p:nvSpPr>
        <p:spPr>
          <a:xfrm>
            <a:off x="8101584" y="4968240"/>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3</a:t>
            </a:r>
            <a:endParaRPr b="0" i="0" sz="950" u="none" cap="none" strike="noStrike">
              <a:solidFill>
                <a:schemeClr val="dk1"/>
              </a:solidFill>
              <a:latin typeface="Calibri"/>
              <a:ea typeface="Calibri"/>
              <a:cs typeface="Calibri"/>
              <a:sym typeface="Calibri"/>
            </a:endParaRPr>
          </a:p>
        </p:txBody>
      </p:sp>
      <p:cxnSp>
        <p:nvCxnSpPr>
          <p:cNvPr id="364" name="Google Shape;364;g3f72ffb808c_3_231"/>
          <p:cNvCxnSpPr/>
          <p:nvPr/>
        </p:nvCxnSpPr>
        <p:spPr>
          <a:xfrm>
            <a:off x="8229600" y="5224272"/>
            <a:ext cx="0" cy="507600"/>
          </a:xfrm>
          <a:prstGeom prst="straightConnector1">
            <a:avLst/>
          </a:prstGeom>
          <a:noFill/>
          <a:ln cap="flat" cmpd="sng" w="12700">
            <a:solidFill>
              <a:srgbClr val="D2D2D7"/>
            </a:solidFill>
            <a:prstDash val="solid"/>
            <a:round/>
            <a:headEnd len="sm" w="sm" type="none"/>
            <a:tailEnd len="sm" w="sm" type="none"/>
          </a:ln>
        </p:spPr>
      </p:cxnSp>
      <p:sp>
        <p:nvSpPr>
          <p:cNvPr id="365" name="Google Shape;365;g3f72ffb808c_3_231"/>
          <p:cNvSpPr/>
          <p:nvPr/>
        </p:nvSpPr>
        <p:spPr>
          <a:xfrm>
            <a:off x="8503920" y="4931664"/>
            <a:ext cx="31209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그룹별 분리</a:t>
            </a:r>
            <a:endParaRPr b="0" i="0" sz="1150" u="none" cap="none" strike="noStrike">
              <a:solidFill>
                <a:schemeClr val="dk1"/>
              </a:solidFill>
              <a:latin typeface="Calibri"/>
              <a:ea typeface="Calibri"/>
              <a:cs typeface="Calibri"/>
              <a:sym typeface="Calibri"/>
            </a:endParaRPr>
          </a:p>
        </p:txBody>
      </p:sp>
      <p:sp>
        <p:nvSpPr>
          <p:cNvPr id="366" name="Google Shape;366;g3f72ffb808c_3_231"/>
          <p:cNvSpPr/>
          <p:nvPr/>
        </p:nvSpPr>
        <p:spPr>
          <a:xfrm>
            <a:off x="8503920" y="5187696"/>
            <a:ext cx="3120900" cy="52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variant_id 기준으로 test / control 표본 구성</a:t>
            </a:r>
            <a:endParaRPr b="0" i="0" sz="900" u="none" cap="none" strike="noStrike">
              <a:solidFill>
                <a:schemeClr val="dk1"/>
              </a:solidFill>
              <a:latin typeface="Calibri"/>
              <a:ea typeface="Calibri"/>
              <a:cs typeface="Calibri"/>
              <a:sym typeface="Calibri"/>
            </a:endParaRPr>
          </a:p>
        </p:txBody>
      </p:sp>
      <p:sp>
        <p:nvSpPr>
          <p:cNvPr id="367" name="Google Shape;367;g3f72ffb808c_3_231"/>
          <p:cNvSpPr/>
          <p:nvPr/>
        </p:nvSpPr>
        <p:spPr>
          <a:xfrm>
            <a:off x="8101584" y="5768340"/>
            <a:ext cx="255900" cy="255900"/>
          </a:xfrm>
          <a:prstGeom prst="ellipse">
            <a:avLst/>
          </a:prstGeom>
          <a:solidFill>
            <a:srgbClr val="FFFFFF"/>
          </a:solidFill>
          <a:ln cap="flat" cmpd="sng" w="15875">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f72ffb808c_3_231"/>
          <p:cNvSpPr/>
          <p:nvPr/>
        </p:nvSpPr>
        <p:spPr>
          <a:xfrm>
            <a:off x="8101584" y="5768340"/>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4</a:t>
            </a:r>
            <a:endParaRPr b="0" i="0" sz="950" u="none" cap="none" strike="noStrike">
              <a:solidFill>
                <a:schemeClr val="dk1"/>
              </a:solidFill>
              <a:latin typeface="Calibri"/>
              <a:ea typeface="Calibri"/>
              <a:cs typeface="Calibri"/>
              <a:sym typeface="Calibri"/>
            </a:endParaRPr>
          </a:p>
        </p:txBody>
      </p:sp>
      <p:sp>
        <p:nvSpPr>
          <p:cNvPr id="369" name="Google Shape;369;g3f72ffb808c_3_231"/>
          <p:cNvSpPr/>
          <p:nvPr/>
        </p:nvSpPr>
        <p:spPr>
          <a:xfrm>
            <a:off x="8503920" y="5731764"/>
            <a:ext cx="31209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독립표본 t-검정</a:t>
            </a:r>
            <a:endParaRPr b="0" i="0" sz="1150" u="none" cap="none" strike="noStrike">
              <a:solidFill>
                <a:schemeClr val="dk1"/>
              </a:solidFill>
              <a:latin typeface="Calibri"/>
              <a:ea typeface="Calibri"/>
              <a:cs typeface="Calibri"/>
              <a:sym typeface="Calibri"/>
            </a:endParaRPr>
          </a:p>
        </p:txBody>
      </p:sp>
      <p:sp>
        <p:nvSpPr>
          <p:cNvPr id="370" name="Google Shape;370;g3f72ffb808c_3_231"/>
          <p:cNvSpPr/>
          <p:nvPr/>
        </p:nvSpPr>
        <p:spPr>
          <a:xfrm>
            <a:off x="8503920" y="5987796"/>
            <a:ext cx="3120900" cy="52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지표별 평균 차이 검정</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g3f72ffb808c_3_317"/>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TEST RESULTS</a:t>
            </a:r>
            <a:endParaRPr b="0" i="0" sz="1050" u="none" cap="none" strike="noStrike">
              <a:solidFill>
                <a:schemeClr val="dk1"/>
              </a:solidFill>
              <a:latin typeface="Calibri"/>
              <a:ea typeface="Calibri"/>
              <a:cs typeface="Calibri"/>
              <a:sym typeface="Calibri"/>
            </a:endParaRPr>
          </a:p>
        </p:txBody>
      </p:sp>
      <p:sp>
        <p:nvSpPr>
          <p:cNvPr id="377" name="Google Shape;377;g3f72ffb808c_3_317"/>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3-2. 전체 기간 사용자-일 단위 A/B 테스트 결과</a:t>
            </a:r>
            <a:endParaRPr b="0" i="0" sz="3000" u="none" cap="none" strike="noStrike">
              <a:solidFill>
                <a:schemeClr val="dk1"/>
              </a:solidFill>
              <a:latin typeface="Calibri"/>
              <a:ea typeface="Calibri"/>
              <a:cs typeface="Calibri"/>
              <a:sym typeface="Calibri"/>
            </a:endParaRPr>
          </a:p>
        </p:txBody>
      </p:sp>
      <p:sp>
        <p:nvSpPr>
          <p:cNvPr id="378" name="Google Shape;378;g3f72ffb808c_3_317"/>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성별·연령대 구분 없이 사용자-일 단위로 전체 실험 효과를 우선 검정</a:t>
            </a:r>
            <a:endParaRPr b="0" i="0" sz="1275" u="none" cap="none" strike="noStrike">
              <a:solidFill>
                <a:schemeClr val="dk1"/>
              </a:solidFill>
              <a:latin typeface="Calibri"/>
              <a:ea typeface="Calibri"/>
              <a:cs typeface="Calibri"/>
              <a:sym typeface="Calibri"/>
            </a:endParaRPr>
          </a:p>
        </p:txBody>
      </p:sp>
      <p:cxnSp>
        <p:nvCxnSpPr>
          <p:cNvPr id="379" name="Google Shape;379;g3f72ffb808c_3_317"/>
          <p:cNvCxnSpPr/>
          <p:nvPr/>
        </p:nvCxnSpPr>
        <p:spPr>
          <a:xfrm>
            <a:off x="3703320" y="1828800"/>
            <a:ext cx="0" cy="3694200"/>
          </a:xfrm>
          <a:prstGeom prst="straightConnector1">
            <a:avLst/>
          </a:prstGeom>
          <a:noFill/>
          <a:ln cap="flat" cmpd="sng" w="12700">
            <a:solidFill>
              <a:srgbClr val="E0E0E0"/>
            </a:solidFill>
            <a:prstDash val="solid"/>
            <a:round/>
            <a:headEnd len="sm" w="sm" type="none"/>
            <a:tailEnd len="sm" w="sm" type="none"/>
          </a:ln>
        </p:spPr>
      </p:cxnSp>
      <p:cxnSp>
        <p:nvCxnSpPr>
          <p:cNvPr id="380" name="Google Shape;380;g3f72ffb808c_3_317"/>
          <p:cNvCxnSpPr/>
          <p:nvPr/>
        </p:nvCxnSpPr>
        <p:spPr>
          <a:xfrm>
            <a:off x="8001000" y="1828800"/>
            <a:ext cx="0" cy="3694200"/>
          </a:xfrm>
          <a:prstGeom prst="straightConnector1">
            <a:avLst/>
          </a:prstGeom>
          <a:noFill/>
          <a:ln cap="flat" cmpd="sng" w="12700">
            <a:solidFill>
              <a:srgbClr val="E0E0E0"/>
            </a:solidFill>
            <a:prstDash val="solid"/>
            <a:round/>
            <a:headEnd len="sm" w="sm" type="none"/>
            <a:tailEnd len="sm" w="sm" type="none"/>
          </a:ln>
        </p:spPr>
      </p:cxnSp>
      <p:sp>
        <p:nvSpPr>
          <p:cNvPr id="381" name="Google Shape;381;g3f72ffb808c_3_317"/>
          <p:cNvSpPr/>
          <p:nvPr/>
        </p:nvSpPr>
        <p:spPr>
          <a:xfrm>
            <a:off x="566928" y="2200656"/>
            <a:ext cx="301740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D1D1F"/>
              </a:buClr>
              <a:buSzPts val="1100"/>
              <a:buFont typeface="Arial"/>
              <a:buNone/>
            </a:pPr>
            <a:r>
              <a:rPr b="0" i="0" lang="en-US" sz="1100" u="none" cap="none" strike="noStrike">
                <a:solidFill>
                  <a:srgbClr val="1D1D1F"/>
                </a:solidFill>
                <a:latin typeface="Arial"/>
                <a:ea typeface="Arial"/>
                <a:cs typeface="Arial"/>
                <a:sym typeface="Arial"/>
              </a:rPr>
              <a:t>실험 적용 후 노출·클릭·구매·매출 지표가 실험군과 대조군 사이에서 통계적으로 다르게 나타나는지 확인</a:t>
            </a:r>
            <a:endParaRPr b="0" i="0" sz="1100" u="none" cap="none" strike="noStrike">
              <a:solidFill>
                <a:schemeClr val="dk1"/>
              </a:solidFill>
              <a:latin typeface="Calibri"/>
              <a:ea typeface="Calibri"/>
              <a:cs typeface="Calibri"/>
              <a:sym typeface="Calibri"/>
            </a:endParaRPr>
          </a:p>
        </p:txBody>
      </p:sp>
      <p:sp>
        <p:nvSpPr>
          <p:cNvPr id="382" name="Google Shape;382;g3f72ffb808c_3_317"/>
          <p:cNvSpPr/>
          <p:nvPr/>
        </p:nvSpPr>
        <p:spPr>
          <a:xfrm>
            <a:off x="566928" y="2987040"/>
            <a:ext cx="30174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분석 단위: 사용자 × 날짜</a:t>
            </a:r>
            <a:endParaRPr b="0" i="0" sz="1100" u="none" cap="none" strike="noStrike">
              <a:solidFill>
                <a:schemeClr val="dk1"/>
              </a:solidFill>
              <a:latin typeface="Calibri"/>
              <a:ea typeface="Calibri"/>
              <a:cs typeface="Calibri"/>
              <a:sym typeface="Calibri"/>
            </a:endParaRPr>
          </a:p>
        </p:txBody>
      </p:sp>
      <p:sp>
        <p:nvSpPr>
          <p:cNvPr id="383" name="Google Shape;383;g3f72ffb808c_3_317"/>
          <p:cNvSpPr/>
          <p:nvPr/>
        </p:nvSpPr>
        <p:spPr>
          <a:xfrm>
            <a:off x="566928" y="3316224"/>
            <a:ext cx="30174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검정 방법: 독립표본 t-검정</a:t>
            </a:r>
            <a:endParaRPr b="0" i="0" sz="1100" u="none" cap="none" strike="noStrike">
              <a:solidFill>
                <a:schemeClr val="dk1"/>
              </a:solidFill>
              <a:latin typeface="Calibri"/>
              <a:ea typeface="Calibri"/>
              <a:cs typeface="Calibri"/>
              <a:sym typeface="Calibri"/>
            </a:endParaRPr>
          </a:p>
        </p:txBody>
      </p:sp>
      <p:cxnSp>
        <p:nvCxnSpPr>
          <p:cNvPr id="384" name="Google Shape;384;g3f72ffb808c_3_317"/>
          <p:cNvCxnSpPr/>
          <p:nvPr/>
        </p:nvCxnSpPr>
        <p:spPr>
          <a:xfrm>
            <a:off x="566928" y="3773424"/>
            <a:ext cx="3017400" cy="0"/>
          </a:xfrm>
          <a:prstGeom prst="straightConnector1">
            <a:avLst/>
          </a:prstGeom>
          <a:noFill/>
          <a:ln cap="flat" cmpd="sng" w="12700">
            <a:solidFill>
              <a:srgbClr val="E0E0E0"/>
            </a:solidFill>
            <a:prstDash val="solid"/>
            <a:round/>
            <a:headEnd len="sm" w="sm" type="none"/>
            <a:tailEnd len="sm" w="sm" type="none"/>
          </a:ln>
        </p:spPr>
      </p:cxnSp>
      <p:sp>
        <p:nvSpPr>
          <p:cNvPr id="385" name="Google Shape;385;g3f72ffb808c_3_317"/>
          <p:cNvSpPr/>
          <p:nvPr/>
        </p:nvSpPr>
        <p:spPr>
          <a:xfrm>
            <a:off x="566928" y="3956304"/>
            <a:ext cx="30174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Arial"/>
              <a:buNone/>
            </a:pPr>
            <a:r>
              <a:rPr b="1" i="0" lang="en-US" sz="1250" u="none" cap="none" strike="noStrike">
                <a:solidFill>
                  <a:srgbClr val="1D1D1F"/>
                </a:solidFill>
                <a:latin typeface="Arial"/>
                <a:ea typeface="Arial"/>
                <a:cs typeface="Arial"/>
                <a:sym typeface="Arial"/>
              </a:rPr>
              <a:t>가설</a:t>
            </a:r>
            <a:endParaRPr b="0" i="0" sz="1250" u="none" cap="none" strike="noStrike">
              <a:solidFill>
                <a:schemeClr val="dk1"/>
              </a:solidFill>
              <a:latin typeface="Calibri"/>
              <a:ea typeface="Calibri"/>
              <a:cs typeface="Calibri"/>
              <a:sym typeface="Calibri"/>
            </a:endParaRPr>
          </a:p>
        </p:txBody>
      </p:sp>
      <p:sp>
        <p:nvSpPr>
          <p:cNvPr id="386" name="Google Shape;386;g3f72ffb808c_3_317"/>
          <p:cNvSpPr/>
          <p:nvPr/>
        </p:nvSpPr>
        <p:spPr>
          <a:xfrm>
            <a:off x="566928" y="4267200"/>
            <a:ext cx="3017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H₀  실험군과 대조군의 지표 평균은 같다</a:t>
            </a:r>
            <a:endParaRPr b="0" i="0" sz="1050" u="none" cap="none" strike="noStrike">
              <a:solidFill>
                <a:schemeClr val="dk1"/>
              </a:solidFill>
              <a:latin typeface="Calibri"/>
              <a:ea typeface="Calibri"/>
              <a:cs typeface="Calibri"/>
              <a:sym typeface="Calibri"/>
            </a:endParaRPr>
          </a:p>
        </p:txBody>
      </p:sp>
      <p:sp>
        <p:nvSpPr>
          <p:cNvPr id="387" name="Google Shape;387;g3f72ffb808c_3_317"/>
          <p:cNvSpPr/>
          <p:nvPr/>
        </p:nvSpPr>
        <p:spPr>
          <a:xfrm>
            <a:off x="566928" y="4541520"/>
            <a:ext cx="3017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z="1050" u="none" cap="none" strike="noStrike">
                <a:solidFill>
                  <a:srgbClr val="1D1D1F"/>
                </a:solidFill>
                <a:latin typeface="Arial"/>
                <a:ea typeface="Arial"/>
                <a:cs typeface="Arial"/>
                <a:sym typeface="Arial"/>
              </a:rPr>
              <a:t>H₁  실험군과 대조군의 지표 평균은 다르다</a:t>
            </a:r>
            <a:endParaRPr b="0" i="0" sz="1050" u="none" cap="none" strike="noStrike">
              <a:solidFill>
                <a:schemeClr val="dk1"/>
              </a:solidFill>
              <a:latin typeface="Calibri"/>
              <a:ea typeface="Calibri"/>
              <a:cs typeface="Calibri"/>
              <a:sym typeface="Calibri"/>
            </a:endParaRPr>
          </a:p>
        </p:txBody>
      </p:sp>
      <p:sp>
        <p:nvSpPr>
          <p:cNvPr id="388" name="Google Shape;388;g3f72ffb808c_3_317"/>
          <p:cNvSpPr/>
          <p:nvPr/>
        </p:nvSpPr>
        <p:spPr>
          <a:xfrm>
            <a:off x="566928" y="5157216"/>
            <a:ext cx="3017400" cy="365700"/>
          </a:xfrm>
          <a:prstGeom prst="rect">
            <a:avLst/>
          </a:prstGeom>
          <a:noFill/>
          <a:ln>
            <a:noFill/>
          </a:ln>
        </p:spPr>
        <p:txBody>
          <a:bodyPr anchorCtr="0" anchor="b" bIns="0" lIns="0" spcFirstLastPara="1" rIns="0" wrap="square" tIns="0">
            <a:noAutofit/>
          </a:bodyPr>
          <a:lstStyle/>
          <a:p>
            <a:pPr indent="0" lvl="0" marL="0" marR="0" rtl="0" algn="l">
              <a:lnSpc>
                <a:spcPct val="125000"/>
              </a:lnSpc>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한계: 특정 날짜·성별·연령대에서만 나타나는 효과를 보기 어려움</a:t>
            </a:r>
            <a:endParaRPr b="0" i="0" sz="900" u="none" cap="none" strike="noStrike">
              <a:solidFill>
                <a:schemeClr val="dk1"/>
              </a:solidFill>
              <a:latin typeface="Calibri"/>
              <a:ea typeface="Calibri"/>
              <a:cs typeface="Calibri"/>
              <a:sym typeface="Calibri"/>
            </a:endParaRPr>
          </a:p>
        </p:txBody>
      </p:sp>
      <p:sp>
        <p:nvSpPr>
          <p:cNvPr id="389" name="Google Shape;389;g3f72ffb808c_3_317"/>
          <p:cNvSpPr/>
          <p:nvPr/>
        </p:nvSpPr>
        <p:spPr>
          <a:xfrm>
            <a:off x="3822192" y="1828800"/>
            <a:ext cx="31455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핵심 지표별 검정 결과</a:t>
            </a:r>
            <a:endParaRPr b="0" i="0" sz="1575" u="none" cap="none" strike="noStrike">
              <a:solidFill>
                <a:schemeClr val="dk1"/>
              </a:solidFill>
              <a:latin typeface="Calibri"/>
              <a:ea typeface="Calibri"/>
              <a:cs typeface="Calibri"/>
              <a:sym typeface="Calibri"/>
            </a:endParaRPr>
          </a:p>
        </p:txBody>
      </p:sp>
      <p:sp>
        <p:nvSpPr>
          <p:cNvPr id="390" name="Google Shape;390;g3f72ffb808c_3_317"/>
          <p:cNvSpPr/>
          <p:nvPr/>
        </p:nvSpPr>
        <p:spPr>
          <a:xfrm>
            <a:off x="6967728" y="1828800"/>
            <a:ext cx="9144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7A7A"/>
              </a:buClr>
              <a:buSzPts val="1000"/>
              <a:buFont typeface="Arial"/>
              <a:buNone/>
            </a:pPr>
            <a:r>
              <a:rPr b="0" i="0" lang="en-US" sz="1000" u="none" cap="none" strike="noStrike">
                <a:solidFill>
                  <a:srgbClr val="7A7A7A"/>
                </a:solidFill>
                <a:latin typeface="Arial"/>
                <a:ea typeface="Arial"/>
                <a:cs typeface="Arial"/>
                <a:sym typeface="Arial"/>
              </a:rPr>
              <a:t>α = 0.05</a:t>
            </a:r>
            <a:endParaRPr b="0" i="0" sz="1000" u="none" cap="none" strike="noStrike">
              <a:solidFill>
                <a:schemeClr val="dk1"/>
              </a:solidFill>
              <a:latin typeface="Calibri"/>
              <a:ea typeface="Calibri"/>
              <a:cs typeface="Calibri"/>
              <a:sym typeface="Calibri"/>
            </a:endParaRPr>
          </a:p>
        </p:txBody>
      </p:sp>
      <p:sp>
        <p:nvSpPr>
          <p:cNvPr id="391" name="Google Shape;391;g3f72ffb808c_3_317"/>
          <p:cNvSpPr/>
          <p:nvPr/>
        </p:nvSpPr>
        <p:spPr>
          <a:xfrm>
            <a:off x="8119872" y="1828800"/>
            <a:ext cx="35049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다음 분석으로 확장</a:t>
            </a:r>
            <a:endParaRPr b="0" i="0" sz="1575" u="none" cap="none" strike="noStrike">
              <a:solidFill>
                <a:schemeClr val="dk1"/>
              </a:solidFill>
              <a:latin typeface="Calibri"/>
              <a:ea typeface="Calibri"/>
              <a:cs typeface="Calibri"/>
              <a:sym typeface="Calibri"/>
            </a:endParaRPr>
          </a:p>
        </p:txBody>
      </p:sp>
      <p:sp>
        <p:nvSpPr>
          <p:cNvPr id="392" name="Google Shape;392;g3f72ffb808c_3_317"/>
          <p:cNvSpPr/>
          <p:nvPr/>
        </p:nvSpPr>
        <p:spPr>
          <a:xfrm>
            <a:off x="8119875" y="2229645"/>
            <a:ext cx="3928200" cy="548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7A7A7A"/>
              </a:buClr>
              <a:buSzPts val="1000"/>
              <a:buFont typeface="Arial"/>
              <a:buNone/>
            </a:pPr>
            <a:r>
              <a:rPr b="0" i="0" lang="en-US" sz="1100" u="none" cap="none" strike="noStrike">
                <a:solidFill>
                  <a:srgbClr val="7A7A7A"/>
                </a:solidFill>
                <a:latin typeface="Arial"/>
                <a:ea typeface="Arial"/>
                <a:cs typeface="Arial"/>
                <a:sym typeface="Arial"/>
              </a:rPr>
              <a:t>전체 평균에서 보이지 않는 효과가 특정 기간·집단에 집중되었는지 탐색</a:t>
            </a:r>
            <a:endParaRPr b="0" i="0" sz="1100" u="none" cap="none" strike="noStrike">
              <a:solidFill>
                <a:schemeClr val="dk1"/>
              </a:solidFill>
              <a:latin typeface="Calibri"/>
              <a:ea typeface="Calibri"/>
              <a:cs typeface="Calibri"/>
              <a:sym typeface="Calibri"/>
            </a:endParaRPr>
          </a:p>
        </p:txBody>
      </p:sp>
      <p:sp>
        <p:nvSpPr>
          <p:cNvPr id="393" name="Google Shape;393;g3f72ffb808c_3_317"/>
          <p:cNvSpPr/>
          <p:nvPr/>
        </p:nvSpPr>
        <p:spPr>
          <a:xfrm>
            <a:off x="8119872" y="2862072"/>
            <a:ext cx="3504900" cy="457200"/>
          </a:xfrm>
          <a:prstGeom prst="roundRect">
            <a:avLst>
              <a:gd fmla="val 12000" name="adj"/>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3f72ffb808c_3_317"/>
          <p:cNvSpPr/>
          <p:nvPr/>
        </p:nvSpPr>
        <p:spPr>
          <a:xfrm>
            <a:off x="8247888" y="2862072"/>
            <a:ext cx="3249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0066CC"/>
                </a:solidFill>
                <a:latin typeface="Arial"/>
                <a:ea typeface="Arial"/>
                <a:cs typeface="Arial"/>
                <a:sym typeface="Arial"/>
              </a:rPr>
              <a:t>전체 효과 미확인</a:t>
            </a:r>
            <a:endParaRPr b="1" i="0" sz="1150" u="none" cap="none" strike="noStrike">
              <a:solidFill>
                <a:srgbClr val="0066CC"/>
              </a:solidFill>
              <a:latin typeface="Calibri"/>
              <a:ea typeface="Calibri"/>
              <a:cs typeface="Calibri"/>
              <a:sym typeface="Calibri"/>
            </a:endParaRPr>
          </a:p>
        </p:txBody>
      </p:sp>
      <p:cxnSp>
        <p:nvCxnSpPr>
          <p:cNvPr id="395" name="Google Shape;395;g3f72ffb808c_3_317"/>
          <p:cNvCxnSpPr/>
          <p:nvPr/>
        </p:nvCxnSpPr>
        <p:spPr>
          <a:xfrm>
            <a:off x="9872320" y="3319272"/>
            <a:ext cx="0" cy="292500"/>
          </a:xfrm>
          <a:prstGeom prst="straightConnector1">
            <a:avLst/>
          </a:prstGeom>
          <a:noFill/>
          <a:ln cap="flat" cmpd="sng" w="12700">
            <a:solidFill>
              <a:srgbClr val="D2D2D7"/>
            </a:solidFill>
            <a:prstDash val="solid"/>
            <a:round/>
            <a:headEnd len="sm" w="sm" type="none"/>
            <a:tailEnd len="sm" w="sm" type="none"/>
          </a:ln>
        </p:spPr>
      </p:cxnSp>
      <p:sp>
        <p:nvSpPr>
          <p:cNvPr id="396" name="Google Shape;396;g3f72ffb808c_3_317"/>
          <p:cNvSpPr/>
          <p:nvPr/>
        </p:nvSpPr>
        <p:spPr>
          <a:xfrm>
            <a:off x="8119872" y="3611880"/>
            <a:ext cx="3504900" cy="457200"/>
          </a:xfrm>
          <a:prstGeom prst="roundRect">
            <a:avLst>
              <a:gd fmla="val 12000" name="adj"/>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f72ffb808c_3_317"/>
          <p:cNvSpPr/>
          <p:nvPr/>
        </p:nvSpPr>
        <p:spPr>
          <a:xfrm>
            <a:off x="8247888" y="3611880"/>
            <a:ext cx="3249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세그먼트별 반응 차이 가능성</a:t>
            </a:r>
            <a:endParaRPr b="0" i="0" sz="1150" u="none" cap="none" strike="noStrike">
              <a:solidFill>
                <a:schemeClr val="dk1"/>
              </a:solidFill>
              <a:latin typeface="Calibri"/>
              <a:ea typeface="Calibri"/>
              <a:cs typeface="Calibri"/>
              <a:sym typeface="Calibri"/>
            </a:endParaRPr>
          </a:p>
        </p:txBody>
      </p:sp>
      <p:cxnSp>
        <p:nvCxnSpPr>
          <p:cNvPr id="398" name="Google Shape;398;g3f72ffb808c_3_317"/>
          <p:cNvCxnSpPr/>
          <p:nvPr/>
        </p:nvCxnSpPr>
        <p:spPr>
          <a:xfrm>
            <a:off x="9872320" y="4069080"/>
            <a:ext cx="0" cy="292500"/>
          </a:xfrm>
          <a:prstGeom prst="straightConnector1">
            <a:avLst/>
          </a:prstGeom>
          <a:noFill/>
          <a:ln cap="flat" cmpd="sng" w="12700">
            <a:solidFill>
              <a:srgbClr val="D2D2D7"/>
            </a:solidFill>
            <a:prstDash val="solid"/>
            <a:round/>
            <a:headEnd len="sm" w="sm" type="none"/>
            <a:tailEnd len="sm" w="sm" type="none"/>
          </a:ln>
        </p:spPr>
      </p:cxnSp>
      <p:sp>
        <p:nvSpPr>
          <p:cNvPr id="399" name="Google Shape;399;g3f72ffb808c_3_317"/>
          <p:cNvSpPr/>
          <p:nvPr/>
        </p:nvSpPr>
        <p:spPr>
          <a:xfrm>
            <a:off x="8119872" y="4361688"/>
            <a:ext cx="3504900" cy="457200"/>
          </a:xfrm>
          <a:prstGeom prst="roundRect">
            <a:avLst>
              <a:gd fmla="val 12000" name="adj"/>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f72ffb808c_3_317"/>
          <p:cNvSpPr/>
          <p:nvPr/>
        </p:nvSpPr>
        <p:spPr>
          <a:xfrm>
            <a:off x="8247888" y="4361688"/>
            <a:ext cx="3249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날짜·성별·연령별 A/B 테스트</a:t>
            </a:r>
            <a:endParaRPr b="0" i="0" sz="1150" u="none" cap="none" strike="noStrike">
              <a:solidFill>
                <a:schemeClr val="dk1"/>
              </a:solidFill>
              <a:latin typeface="Calibri"/>
              <a:ea typeface="Calibri"/>
              <a:cs typeface="Calibri"/>
              <a:sym typeface="Calibri"/>
            </a:endParaRPr>
          </a:p>
        </p:txBody>
      </p:sp>
      <p:sp>
        <p:nvSpPr>
          <p:cNvPr id="401" name="Google Shape;401;g3f72ffb808c_3_317"/>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3f72ffb808c_3_317"/>
          <p:cNvSpPr/>
          <p:nvPr/>
        </p:nvSpPr>
        <p:spPr>
          <a:xfrm>
            <a:off x="3822192" y="2383251"/>
            <a:ext cx="4059900" cy="420600"/>
          </a:xfrm>
          <a:prstGeom prst="rect">
            <a:avLst/>
          </a:prstGeom>
          <a:solidFill>
            <a:srgbClr val="F5F5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f72ffb808c_3_317"/>
          <p:cNvSpPr/>
          <p:nvPr/>
        </p:nvSpPr>
        <p:spPr>
          <a:xfrm>
            <a:off x="3822192" y="2383251"/>
            <a:ext cx="10557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지표</a:t>
            </a:r>
            <a:endParaRPr b="0" i="0" sz="1050" u="none" cap="none" strike="noStrike">
              <a:solidFill>
                <a:srgbClr val="000000"/>
              </a:solidFill>
              <a:latin typeface="Calibri"/>
              <a:ea typeface="Calibri"/>
              <a:cs typeface="Calibri"/>
              <a:sym typeface="Calibri"/>
            </a:endParaRPr>
          </a:p>
        </p:txBody>
      </p:sp>
      <p:sp>
        <p:nvSpPr>
          <p:cNvPr id="404" name="Google Shape;404;g3f72ffb808c_3_317"/>
          <p:cNvSpPr/>
          <p:nvPr/>
        </p:nvSpPr>
        <p:spPr>
          <a:xfrm>
            <a:off x="4877775" y="2383251"/>
            <a:ext cx="812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t-stat</a:t>
            </a:r>
            <a:endParaRPr b="0" i="0" sz="1050" u="none" cap="none" strike="noStrike">
              <a:solidFill>
                <a:srgbClr val="000000"/>
              </a:solidFill>
              <a:latin typeface="Calibri"/>
              <a:ea typeface="Calibri"/>
              <a:cs typeface="Calibri"/>
              <a:sym typeface="Calibri"/>
            </a:endParaRPr>
          </a:p>
        </p:txBody>
      </p:sp>
      <p:sp>
        <p:nvSpPr>
          <p:cNvPr id="405" name="Google Shape;405;g3f72ffb808c_3_317"/>
          <p:cNvSpPr/>
          <p:nvPr/>
        </p:nvSpPr>
        <p:spPr>
          <a:xfrm>
            <a:off x="5689763" y="2383251"/>
            <a:ext cx="893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p-value</a:t>
            </a:r>
            <a:endParaRPr b="0" i="0" sz="1050" u="none" cap="none" strike="noStrike">
              <a:solidFill>
                <a:srgbClr val="000000"/>
              </a:solidFill>
              <a:latin typeface="Calibri"/>
              <a:ea typeface="Calibri"/>
              <a:cs typeface="Calibri"/>
              <a:sym typeface="Calibri"/>
            </a:endParaRPr>
          </a:p>
        </p:txBody>
      </p:sp>
      <p:sp>
        <p:nvSpPr>
          <p:cNvPr id="406" name="Google Shape;406;g3f72ffb808c_3_317"/>
          <p:cNvSpPr/>
          <p:nvPr/>
        </p:nvSpPr>
        <p:spPr>
          <a:xfrm>
            <a:off x="6582948" y="2383251"/>
            <a:ext cx="1299300" cy="420600"/>
          </a:xfrm>
          <a:prstGeom prst="rect">
            <a:avLst/>
          </a:prstGeom>
          <a:noFill/>
          <a:ln>
            <a:noFill/>
          </a:ln>
        </p:spPr>
        <p:txBody>
          <a:bodyPr anchorCtr="0" anchor="t" bIns="0" lIns="0" spcFirstLastPara="1" rIns="0" wrap="square" tIns="127000">
            <a:noAutofit/>
          </a:bodyPr>
          <a:lstStyle/>
          <a:p>
            <a:pPr indent="0" lvl="0" marL="0" marR="0" rtl="0" algn="ctr">
              <a:lnSpc>
                <a:spcPct val="100000"/>
              </a:lnSpc>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판정</a:t>
            </a:r>
            <a:endParaRPr b="0" i="0" sz="1050" u="none" cap="none" strike="noStrike">
              <a:solidFill>
                <a:srgbClr val="000000"/>
              </a:solidFill>
              <a:latin typeface="Calibri"/>
              <a:ea typeface="Calibri"/>
              <a:cs typeface="Calibri"/>
              <a:sym typeface="Calibri"/>
            </a:endParaRPr>
          </a:p>
        </p:txBody>
      </p:sp>
      <p:cxnSp>
        <p:nvCxnSpPr>
          <p:cNvPr id="407" name="Google Shape;407;g3f72ffb808c_3_317"/>
          <p:cNvCxnSpPr/>
          <p:nvPr/>
        </p:nvCxnSpPr>
        <p:spPr>
          <a:xfrm>
            <a:off x="3822192" y="2803875"/>
            <a:ext cx="4059900" cy="0"/>
          </a:xfrm>
          <a:prstGeom prst="straightConnector1">
            <a:avLst/>
          </a:prstGeom>
          <a:noFill/>
          <a:ln cap="flat" cmpd="sng" w="12700">
            <a:solidFill>
              <a:srgbClr val="E0E0E0"/>
            </a:solidFill>
            <a:prstDash val="solid"/>
            <a:round/>
            <a:headEnd len="sm" w="sm" type="none"/>
            <a:tailEnd len="sm" w="sm" type="none"/>
          </a:ln>
        </p:spPr>
      </p:cxnSp>
      <p:sp>
        <p:nvSpPr>
          <p:cNvPr id="408" name="Google Shape;408;g3f72ffb808c_3_317"/>
          <p:cNvSpPr/>
          <p:nvPr/>
        </p:nvSpPr>
        <p:spPr>
          <a:xfrm>
            <a:off x="3822192" y="2803875"/>
            <a:ext cx="10557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노출 수</a:t>
            </a:r>
            <a:endParaRPr b="1" i="0" sz="1150" u="none" cap="none" strike="noStrike">
              <a:solidFill>
                <a:srgbClr val="000000"/>
              </a:solidFill>
              <a:latin typeface="Calibri"/>
              <a:ea typeface="Calibri"/>
              <a:cs typeface="Calibri"/>
              <a:sym typeface="Calibri"/>
            </a:endParaRPr>
          </a:p>
        </p:txBody>
      </p:sp>
      <p:sp>
        <p:nvSpPr>
          <p:cNvPr id="409" name="Google Shape;409;g3f72ffb808c_3_317"/>
          <p:cNvSpPr/>
          <p:nvPr/>
        </p:nvSpPr>
        <p:spPr>
          <a:xfrm>
            <a:off x="4877775" y="2803875"/>
            <a:ext cx="812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1.379</a:t>
            </a:r>
            <a:endParaRPr b="0" i="0" sz="1150" u="none" cap="none" strike="noStrike">
              <a:solidFill>
                <a:srgbClr val="000000"/>
              </a:solidFill>
              <a:latin typeface="Calibri"/>
              <a:ea typeface="Calibri"/>
              <a:cs typeface="Calibri"/>
              <a:sym typeface="Calibri"/>
            </a:endParaRPr>
          </a:p>
        </p:txBody>
      </p:sp>
      <p:sp>
        <p:nvSpPr>
          <p:cNvPr id="410" name="Google Shape;410;g3f72ffb808c_3_317"/>
          <p:cNvSpPr/>
          <p:nvPr/>
        </p:nvSpPr>
        <p:spPr>
          <a:xfrm>
            <a:off x="5689763" y="2803875"/>
            <a:ext cx="893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0.168</a:t>
            </a:r>
            <a:endParaRPr b="0" i="0" sz="1150" u="none" cap="none" strike="noStrike">
              <a:solidFill>
                <a:srgbClr val="000000"/>
              </a:solidFill>
              <a:latin typeface="Calibri"/>
              <a:ea typeface="Calibri"/>
              <a:cs typeface="Calibri"/>
              <a:sym typeface="Calibri"/>
            </a:endParaRPr>
          </a:p>
        </p:txBody>
      </p:sp>
      <p:sp>
        <p:nvSpPr>
          <p:cNvPr id="411" name="Google Shape;411;g3f72ffb808c_3_317"/>
          <p:cNvSpPr/>
          <p:nvPr/>
        </p:nvSpPr>
        <p:spPr>
          <a:xfrm>
            <a:off x="6582948" y="2803875"/>
            <a:ext cx="1299300" cy="420600"/>
          </a:xfrm>
          <a:prstGeom prst="rect">
            <a:avLst/>
          </a:prstGeom>
          <a:noFill/>
          <a:ln>
            <a:noFill/>
          </a:ln>
        </p:spPr>
        <p:txBody>
          <a:bodyPr anchorCtr="0" anchor="t" bIns="0" lIns="0" spcFirstLastPara="1" rIns="0" wrap="square" tIns="127000">
            <a:noAutofit/>
          </a:bodyPr>
          <a:lstStyle/>
          <a:p>
            <a:pPr indent="0" lvl="0" marL="0" marR="0" rtl="0" algn="ctr">
              <a:lnSpc>
                <a:spcPct val="100000"/>
              </a:lnSpc>
              <a:spcBef>
                <a:spcPts val="0"/>
              </a:spcBef>
              <a:spcAft>
                <a:spcPts val="0"/>
              </a:spcAft>
              <a:buClr>
                <a:srgbClr val="7A7A7A"/>
              </a:buClr>
              <a:buSzPts val="1150"/>
              <a:buFont typeface="Arial"/>
              <a:buNone/>
            </a:pPr>
            <a:r>
              <a:rPr b="1" i="0" lang="en-US" sz="1150" u="none" cap="none" strike="noStrike">
                <a:solidFill>
                  <a:srgbClr val="0066CC"/>
                </a:solidFill>
                <a:latin typeface="Arial"/>
                <a:ea typeface="Arial"/>
                <a:cs typeface="Arial"/>
                <a:sym typeface="Arial"/>
              </a:rPr>
              <a:t>유의하지 않음</a:t>
            </a:r>
            <a:endParaRPr b="1" i="0" sz="1150" u="none" cap="none" strike="noStrike">
              <a:solidFill>
                <a:srgbClr val="0066CC"/>
              </a:solidFill>
              <a:latin typeface="Calibri"/>
              <a:ea typeface="Calibri"/>
              <a:cs typeface="Calibri"/>
              <a:sym typeface="Calibri"/>
            </a:endParaRPr>
          </a:p>
        </p:txBody>
      </p:sp>
      <p:cxnSp>
        <p:nvCxnSpPr>
          <p:cNvPr id="412" name="Google Shape;412;g3f72ffb808c_3_317"/>
          <p:cNvCxnSpPr/>
          <p:nvPr/>
        </p:nvCxnSpPr>
        <p:spPr>
          <a:xfrm>
            <a:off x="3822192" y="3224499"/>
            <a:ext cx="4059900" cy="0"/>
          </a:xfrm>
          <a:prstGeom prst="straightConnector1">
            <a:avLst/>
          </a:prstGeom>
          <a:noFill/>
          <a:ln cap="flat" cmpd="sng" w="12700">
            <a:solidFill>
              <a:srgbClr val="E0E0E0"/>
            </a:solidFill>
            <a:prstDash val="solid"/>
            <a:round/>
            <a:headEnd len="sm" w="sm" type="none"/>
            <a:tailEnd len="sm" w="sm" type="none"/>
          </a:ln>
        </p:spPr>
      </p:cxnSp>
      <p:sp>
        <p:nvSpPr>
          <p:cNvPr id="413" name="Google Shape;413;g3f72ffb808c_3_317"/>
          <p:cNvSpPr/>
          <p:nvPr/>
        </p:nvSpPr>
        <p:spPr>
          <a:xfrm>
            <a:off x="3822192" y="3224499"/>
            <a:ext cx="10557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클릭 수</a:t>
            </a:r>
            <a:endParaRPr b="1" i="0" sz="1150" u="none" cap="none" strike="noStrike">
              <a:solidFill>
                <a:srgbClr val="000000"/>
              </a:solidFill>
              <a:latin typeface="Calibri"/>
              <a:ea typeface="Calibri"/>
              <a:cs typeface="Calibri"/>
              <a:sym typeface="Calibri"/>
            </a:endParaRPr>
          </a:p>
        </p:txBody>
      </p:sp>
      <p:sp>
        <p:nvSpPr>
          <p:cNvPr id="414" name="Google Shape;414;g3f72ffb808c_3_317"/>
          <p:cNvSpPr/>
          <p:nvPr/>
        </p:nvSpPr>
        <p:spPr>
          <a:xfrm>
            <a:off x="4877775" y="3224499"/>
            <a:ext cx="812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1.238</a:t>
            </a:r>
            <a:endParaRPr b="0" i="0" sz="1150" u="none" cap="none" strike="noStrike">
              <a:solidFill>
                <a:srgbClr val="000000"/>
              </a:solidFill>
              <a:latin typeface="Calibri"/>
              <a:ea typeface="Calibri"/>
              <a:cs typeface="Calibri"/>
              <a:sym typeface="Calibri"/>
            </a:endParaRPr>
          </a:p>
        </p:txBody>
      </p:sp>
      <p:sp>
        <p:nvSpPr>
          <p:cNvPr id="415" name="Google Shape;415;g3f72ffb808c_3_317"/>
          <p:cNvSpPr/>
          <p:nvPr/>
        </p:nvSpPr>
        <p:spPr>
          <a:xfrm>
            <a:off x="5689763" y="3224499"/>
            <a:ext cx="893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0.216</a:t>
            </a:r>
            <a:endParaRPr b="0" i="0" sz="1150" u="none" cap="none" strike="noStrike">
              <a:solidFill>
                <a:srgbClr val="000000"/>
              </a:solidFill>
              <a:latin typeface="Calibri"/>
              <a:ea typeface="Calibri"/>
              <a:cs typeface="Calibri"/>
              <a:sym typeface="Calibri"/>
            </a:endParaRPr>
          </a:p>
        </p:txBody>
      </p:sp>
      <p:sp>
        <p:nvSpPr>
          <p:cNvPr id="416" name="Google Shape;416;g3f72ffb808c_3_317"/>
          <p:cNvSpPr/>
          <p:nvPr/>
        </p:nvSpPr>
        <p:spPr>
          <a:xfrm>
            <a:off x="6582948" y="3224499"/>
            <a:ext cx="1299300" cy="420600"/>
          </a:xfrm>
          <a:prstGeom prst="rect">
            <a:avLst/>
          </a:prstGeom>
          <a:noFill/>
          <a:ln>
            <a:noFill/>
          </a:ln>
        </p:spPr>
        <p:txBody>
          <a:bodyPr anchorCtr="0" anchor="t" bIns="0" lIns="0" spcFirstLastPara="1" rIns="0" wrap="square" tIns="127000">
            <a:noAutofit/>
          </a:bodyPr>
          <a:lstStyle/>
          <a:p>
            <a:pPr indent="0" lvl="0" marL="0" marR="0" rtl="0" algn="ctr">
              <a:lnSpc>
                <a:spcPct val="100000"/>
              </a:lnSpc>
              <a:spcBef>
                <a:spcPts val="0"/>
              </a:spcBef>
              <a:spcAft>
                <a:spcPts val="0"/>
              </a:spcAft>
              <a:buClr>
                <a:srgbClr val="7A7A7A"/>
              </a:buClr>
              <a:buSzPts val="1150"/>
              <a:buFont typeface="Arial"/>
              <a:buNone/>
            </a:pPr>
            <a:r>
              <a:rPr b="1" i="0" lang="en-US" sz="1150" u="none" cap="none" strike="noStrike">
                <a:solidFill>
                  <a:srgbClr val="0066CC"/>
                </a:solidFill>
                <a:latin typeface="Arial"/>
                <a:ea typeface="Arial"/>
                <a:cs typeface="Arial"/>
                <a:sym typeface="Arial"/>
              </a:rPr>
              <a:t>유의하지 않음</a:t>
            </a:r>
            <a:endParaRPr b="1" i="0" sz="1150" u="none" cap="none" strike="noStrike">
              <a:solidFill>
                <a:srgbClr val="0066CC"/>
              </a:solidFill>
              <a:latin typeface="Calibri"/>
              <a:ea typeface="Calibri"/>
              <a:cs typeface="Calibri"/>
              <a:sym typeface="Calibri"/>
            </a:endParaRPr>
          </a:p>
        </p:txBody>
      </p:sp>
      <p:cxnSp>
        <p:nvCxnSpPr>
          <p:cNvPr id="417" name="Google Shape;417;g3f72ffb808c_3_317"/>
          <p:cNvCxnSpPr/>
          <p:nvPr/>
        </p:nvCxnSpPr>
        <p:spPr>
          <a:xfrm>
            <a:off x="3822192" y="3645123"/>
            <a:ext cx="4059900" cy="0"/>
          </a:xfrm>
          <a:prstGeom prst="straightConnector1">
            <a:avLst/>
          </a:prstGeom>
          <a:noFill/>
          <a:ln cap="flat" cmpd="sng" w="12700">
            <a:solidFill>
              <a:srgbClr val="E0E0E0"/>
            </a:solidFill>
            <a:prstDash val="solid"/>
            <a:round/>
            <a:headEnd len="sm" w="sm" type="none"/>
            <a:tailEnd len="sm" w="sm" type="none"/>
          </a:ln>
        </p:spPr>
      </p:cxnSp>
      <p:sp>
        <p:nvSpPr>
          <p:cNvPr id="418" name="Google Shape;418;g3f72ffb808c_3_317"/>
          <p:cNvSpPr/>
          <p:nvPr/>
        </p:nvSpPr>
        <p:spPr>
          <a:xfrm>
            <a:off x="3822192" y="3645123"/>
            <a:ext cx="10557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구매 수</a:t>
            </a:r>
            <a:endParaRPr b="1" i="0" sz="1150" u="none" cap="none" strike="noStrike">
              <a:solidFill>
                <a:srgbClr val="000000"/>
              </a:solidFill>
              <a:latin typeface="Calibri"/>
              <a:ea typeface="Calibri"/>
              <a:cs typeface="Calibri"/>
              <a:sym typeface="Calibri"/>
            </a:endParaRPr>
          </a:p>
        </p:txBody>
      </p:sp>
      <p:sp>
        <p:nvSpPr>
          <p:cNvPr id="419" name="Google Shape;419;g3f72ffb808c_3_317"/>
          <p:cNvSpPr/>
          <p:nvPr/>
        </p:nvSpPr>
        <p:spPr>
          <a:xfrm>
            <a:off x="4877775" y="3645123"/>
            <a:ext cx="812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-0.622</a:t>
            </a:r>
            <a:endParaRPr b="0" i="0" sz="1150" u="none" cap="none" strike="noStrike">
              <a:solidFill>
                <a:srgbClr val="000000"/>
              </a:solidFill>
              <a:latin typeface="Calibri"/>
              <a:ea typeface="Calibri"/>
              <a:cs typeface="Calibri"/>
              <a:sym typeface="Calibri"/>
            </a:endParaRPr>
          </a:p>
        </p:txBody>
      </p:sp>
      <p:sp>
        <p:nvSpPr>
          <p:cNvPr id="420" name="Google Shape;420;g3f72ffb808c_3_317"/>
          <p:cNvSpPr/>
          <p:nvPr/>
        </p:nvSpPr>
        <p:spPr>
          <a:xfrm>
            <a:off x="5689763" y="3645123"/>
            <a:ext cx="893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0.534</a:t>
            </a:r>
            <a:endParaRPr b="0" i="0" sz="1150" u="none" cap="none" strike="noStrike">
              <a:solidFill>
                <a:srgbClr val="000000"/>
              </a:solidFill>
              <a:latin typeface="Calibri"/>
              <a:ea typeface="Calibri"/>
              <a:cs typeface="Calibri"/>
              <a:sym typeface="Calibri"/>
            </a:endParaRPr>
          </a:p>
        </p:txBody>
      </p:sp>
      <p:sp>
        <p:nvSpPr>
          <p:cNvPr id="421" name="Google Shape;421;g3f72ffb808c_3_317"/>
          <p:cNvSpPr/>
          <p:nvPr/>
        </p:nvSpPr>
        <p:spPr>
          <a:xfrm>
            <a:off x="6582948" y="3645123"/>
            <a:ext cx="1299300" cy="420600"/>
          </a:xfrm>
          <a:prstGeom prst="rect">
            <a:avLst/>
          </a:prstGeom>
          <a:noFill/>
          <a:ln>
            <a:noFill/>
          </a:ln>
        </p:spPr>
        <p:txBody>
          <a:bodyPr anchorCtr="0" anchor="t" bIns="0" lIns="0" spcFirstLastPara="1" rIns="0" wrap="square" tIns="127000">
            <a:noAutofit/>
          </a:bodyPr>
          <a:lstStyle/>
          <a:p>
            <a:pPr indent="0" lvl="0" marL="0" marR="0" rtl="0" algn="ctr">
              <a:lnSpc>
                <a:spcPct val="100000"/>
              </a:lnSpc>
              <a:spcBef>
                <a:spcPts val="0"/>
              </a:spcBef>
              <a:spcAft>
                <a:spcPts val="0"/>
              </a:spcAft>
              <a:buClr>
                <a:srgbClr val="7A7A7A"/>
              </a:buClr>
              <a:buSzPts val="1150"/>
              <a:buFont typeface="Arial"/>
              <a:buNone/>
            </a:pPr>
            <a:r>
              <a:rPr b="1" i="0" lang="en-US" sz="1150" u="none" cap="none" strike="noStrike">
                <a:solidFill>
                  <a:srgbClr val="0066CC"/>
                </a:solidFill>
                <a:latin typeface="Arial"/>
                <a:ea typeface="Arial"/>
                <a:cs typeface="Arial"/>
                <a:sym typeface="Arial"/>
              </a:rPr>
              <a:t>유의하지 않음</a:t>
            </a:r>
            <a:endParaRPr b="1" i="0" sz="1150" u="none" cap="none" strike="noStrike">
              <a:solidFill>
                <a:srgbClr val="0066CC"/>
              </a:solidFill>
              <a:latin typeface="Calibri"/>
              <a:ea typeface="Calibri"/>
              <a:cs typeface="Calibri"/>
              <a:sym typeface="Calibri"/>
            </a:endParaRPr>
          </a:p>
        </p:txBody>
      </p:sp>
      <p:cxnSp>
        <p:nvCxnSpPr>
          <p:cNvPr id="422" name="Google Shape;422;g3f72ffb808c_3_317"/>
          <p:cNvCxnSpPr/>
          <p:nvPr/>
        </p:nvCxnSpPr>
        <p:spPr>
          <a:xfrm>
            <a:off x="3822192" y="4065747"/>
            <a:ext cx="4059900" cy="0"/>
          </a:xfrm>
          <a:prstGeom prst="straightConnector1">
            <a:avLst/>
          </a:prstGeom>
          <a:noFill/>
          <a:ln cap="flat" cmpd="sng" w="12700">
            <a:solidFill>
              <a:srgbClr val="E0E0E0"/>
            </a:solidFill>
            <a:prstDash val="solid"/>
            <a:round/>
            <a:headEnd len="sm" w="sm" type="none"/>
            <a:tailEnd len="sm" w="sm" type="none"/>
          </a:ln>
        </p:spPr>
      </p:cxnSp>
      <p:sp>
        <p:nvSpPr>
          <p:cNvPr id="423" name="Google Shape;423;g3f72ffb808c_3_317"/>
          <p:cNvSpPr/>
          <p:nvPr/>
        </p:nvSpPr>
        <p:spPr>
          <a:xfrm>
            <a:off x="3822192" y="4065747"/>
            <a:ext cx="1055700" cy="420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매출</a:t>
            </a:r>
            <a:endParaRPr b="1" i="0" sz="1150" u="none" cap="none" strike="noStrike">
              <a:solidFill>
                <a:srgbClr val="000000"/>
              </a:solidFill>
              <a:latin typeface="Calibri"/>
              <a:ea typeface="Calibri"/>
              <a:cs typeface="Calibri"/>
              <a:sym typeface="Calibri"/>
            </a:endParaRPr>
          </a:p>
        </p:txBody>
      </p:sp>
      <p:sp>
        <p:nvSpPr>
          <p:cNvPr id="424" name="Google Shape;424;g3f72ffb808c_3_317"/>
          <p:cNvSpPr/>
          <p:nvPr/>
        </p:nvSpPr>
        <p:spPr>
          <a:xfrm>
            <a:off x="4877775" y="4065747"/>
            <a:ext cx="812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-0.309</a:t>
            </a:r>
            <a:endParaRPr b="0" i="0" sz="1150" u="none" cap="none" strike="noStrike">
              <a:solidFill>
                <a:srgbClr val="000000"/>
              </a:solidFill>
              <a:latin typeface="Calibri"/>
              <a:ea typeface="Calibri"/>
              <a:cs typeface="Calibri"/>
              <a:sym typeface="Calibri"/>
            </a:endParaRPr>
          </a:p>
        </p:txBody>
      </p:sp>
      <p:sp>
        <p:nvSpPr>
          <p:cNvPr id="425" name="Google Shape;425;g3f72ffb808c_3_317"/>
          <p:cNvSpPr/>
          <p:nvPr/>
        </p:nvSpPr>
        <p:spPr>
          <a:xfrm>
            <a:off x="5689763" y="4065747"/>
            <a:ext cx="893100" cy="420600"/>
          </a:xfrm>
          <a:prstGeom prst="rect">
            <a:avLst/>
          </a:prstGeom>
          <a:noFill/>
          <a:ln>
            <a:noFill/>
          </a:ln>
        </p:spPr>
        <p:txBody>
          <a:bodyPr anchorCtr="0" anchor="ctr" bIns="0" lIns="0" spcFirstLastPara="1" rIns="127000" wrap="square" tIns="0">
            <a:noAutofit/>
          </a:bodyPr>
          <a:lstStyle/>
          <a:p>
            <a:pPr indent="0" lvl="0" marL="0" marR="0" rtl="0" algn="ctr">
              <a:lnSpc>
                <a:spcPct val="100000"/>
              </a:lnSpc>
              <a:spcBef>
                <a:spcPts val="0"/>
              </a:spcBef>
              <a:spcAft>
                <a:spcPts val="0"/>
              </a:spcAft>
              <a:buClr>
                <a:srgbClr val="1D1D1F"/>
              </a:buClr>
              <a:buSzPts val="1150"/>
              <a:buFont typeface="Arial"/>
              <a:buNone/>
            </a:pPr>
            <a:r>
              <a:rPr b="0" i="0" lang="en-US" sz="1150" u="none" cap="none" strike="noStrike">
                <a:solidFill>
                  <a:srgbClr val="1D1D1F"/>
                </a:solidFill>
                <a:latin typeface="Arial"/>
                <a:ea typeface="Arial"/>
                <a:cs typeface="Arial"/>
                <a:sym typeface="Arial"/>
              </a:rPr>
              <a:t>0.758</a:t>
            </a:r>
            <a:endParaRPr b="0" i="0" sz="1150" u="none" cap="none" strike="noStrike">
              <a:solidFill>
                <a:srgbClr val="000000"/>
              </a:solidFill>
              <a:latin typeface="Calibri"/>
              <a:ea typeface="Calibri"/>
              <a:cs typeface="Calibri"/>
              <a:sym typeface="Calibri"/>
            </a:endParaRPr>
          </a:p>
        </p:txBody>
      </p:sp>
      <p:sp>
        <p:nvSpPr>
          <p:cNvPr id="426" name="Google Shape;426;g3f72ffb808c_3_317"/>
          <p:cNvSpPr/>
          <p:nvPr/>
        </p:nvSpPr>
        <p:spPr>
          <a:xfrm>
            <a:off x="6582948" y="4065747"/>
            <a:ext cx="1299300" cy="420600"/>
          </a:xfrm>
          <a:prstGeom prst="rect">
            <a:avLst/>
          </a:prstGeom>
          <a:noFill/>
          <a:ln>
            <a:noFill/>
          </a:ln>
        </p:spPr>
        <p:txBody>
          <a:bodyPr anchorCtr="0" anchor="t" bIns="0" lIns="0" spcFirstLastPara="1" rIns="0" wrap="square" tIns="127000">
            <a:noAutofit/>
          </a:bodyPr>
          <a:lstStyle/>
          <a:p>
            <a:pPr indent="0" lvl="0" marL="0" marR="0" rtl="0" algn="ctr">
              <a:lnSpc>
                <a:spcPct val="100000"/>
              </a:lnSpc>
              <a:spcBef>
                <a:spcPts val="0"/>
              </a:spcBef>
              <a:spcAft>
                <a:spcPts val="0"/>
              </a:spcAft>
              <a:buClr>
                <a:srgbClr val="7A7A7A"/>
              </a:buClr>
              <a:buSzPts val="1150"/>
              <a:buFont typeface="Arial"/>
              <a:buNone/>
            </a:pPr>
            <a:r>
              <a:rPr b="1" i="0" lang="en-US" sz="1150" u="none" cap="none" strike="noStrike">
                <a:solidFill>
                  <a:srgbClr val="0066CC"/>
                </a:solidFill>
                <a:latin typeface="Arial"/>
                <a:ea typeface="Arial"/>
                <a:cs typeface="Arial"/>
                <a:sym typeface="Arial"/>
              </a:rPr>
              <a:t>유의하지 않음</a:t>
            </a:r>
            <a:endParaRPr b="1" i="0" sz="1150" u="none" cap="none" strike="noStrike">
              <a:solidFill>
                <a:srgbClr val="0066CC"/>
              </a:solidFill>
              <a:latin typeface="Calibri"/>
              <a:ea typeface="Calibri"/>
              <a:cs typeface="Calibri"/>
              <a:sym typeface="Calibri"/>
            </a:endParaRPr>
          </a:p>
        </p:txBody>
      </p:sp>
      <p:sp>
        <p:nvSpPr>
          <p:cNvPr id="427" name="Google Shape;427;g3f72ffb808c_3_317"/>
          <p:cNvSpPr/>
          <p:nvPr/>
        </p:nvSpPr>
        <p:spPr>
          <a:xfrm>
            <a:off x="564568" y="1828800"/>
            <a:ext cx="31455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검정 목적</a:t>
            </a:r>
            <a:endParaRPr b="0" i="0" sz="1575" u="none" cap="none" strike="noStrike">
              <a:solidFill>
                <a:schemeClr val="dk1"/>
              </a:solidFill>
              <a:latin typeface="Calibri"/>
              <a:ea typeface="Calibri"/>
              <a:cs typeface="Calibri"/>
              <a:sym typeface="Calibri"/>
            </a:endParaRPr>
          </a:p>
        </p:txBody>
      </p:sp>
      <p:sp>
        <p:nvSpPr>
          <p:cNvPr id="428" name="Google Shape;428;g3f72ffb808c_3_317"/>
          <p:cNvSpPr/>
          <p:nvPr/>
        </p:nvSpPr>
        <p:spPr>
          <a:xfrm>
            <a:off x="566928" y="5957922"/>
            <a:ext cx="11057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50"/>
              <a:buFont typeface="Arial"/>
              <a:buNone/>
            </a:pPr>
            <a:r>
              <a:rPr b="1" i="0" lang="en-US" sz="1300" u="none" cap="none" strike="noStrike">
                <a:solidFill>
                  <a:srgbClr val="0066CC"/>
                </a:solidFill>
                <a:latin typeface="Arial"/>
                <a:ea typeface="Arial"/>
                <a:cs typeface="Arial"/>
                <a:sym typeface="Arial"/>
              </a:rPr>
              <a:t>결론:</a:t>
            </a:r>
            <a:r>
              <a:rPr b="0" i="0" lang="en-US" sz="1300" u="none" cap="none" strike="noStrike">
                <a:solidFill>
                  <a:srgbClr val="0066CC"/>
                </a:solidFill>
                <a:latin typeface="Arial"/>
                <a:ea typeface="Arial"/>
                <a:cs typeface="Arial"/>
                <a:sym typeface="Arial"/>
              </a:rPr>
              <a:t> </a:t>
            </a:r>
            <a:r>
              <a:rPr b="0" i="0" lang="en-US" sz="1300" u="none" cap="none" strike="noStrike">
                <a:solidFill>
                  <a:srgbClr val="1D1D1F"/>
                </a:solidFill>
                <a:latin typeface="Arial"/>
                <a:ea typeface="Arial"/>
                <a:cs typeface="Arial"/>
                <a:sym typeface="Arial"/>
              </a:rPr>
              <a:t>전체 기간 통합 분석에는 유의한 효과가 없어 세그먼트 분석으로 확장했다.</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g3f733dfa63e_2_0"/>
          <p:cNvSpPr/>
          <p:nvPr/>
        </p:nvSpPr>
        <p:spPr>
          <a:xfrm>
            <a:off x="3310128" y="1828800"/>
            <a:ext cx="5394900" cy="3438000"/>
          </a:xfrm>
          <a:prstGeom prst="roundRect">
            <a:avLst>
              <a:gd fmla="val 2660" name="adj"/>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f733dfa63e_2_0"/>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DATA PIPELINE</a:t>
            </a:r>
            <a:endParaRPr b="0" i="0" sz="1050" u="none" cap="none" strike="noStrike">
              <a:solidFill>
                <a:schemeClr val="dk1"/>
              </a:solidFill>
              <a:latin typeface="Calibri"/>
              <a:ea typeface="Calibri"/>
              <a:cs typeface="Calibri"/>
              <a:sym typeface="Calibri"/>
            </a:endParaRPr>
          </a:p>
        </p:txBody>
      </p:sp>
      <p:sp>
        <p:nvSpPr>
          <p:cNvPr id="436" name="Google Shape;436;g3f733dfa63e_2_0"/>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4. 세그먼트별 A/B 테스트용 집계 테이블 구축</a:t>
            </a:r>
            <a:endParaRPr b="0" i="0" sz="3000" u="none" cap="none" strike="noStrike">
              <a:solidFill>
                <a:schemeClr val="dk1"/>
              </a:solidFill>
              <a:latin typeface="Calibri"/>
              <a:ea typeface="Calibri"/>
              <a:cs typeface="Calibri"/>
              <a:sym typeface="Calibri"/>
            </a:endParaRPr>
          </a:p>
        </p:txBody>
      </p:sp>
      <p:sp>
        <p:nvSpPr>
          <p:cNvPr id="437" name="Google Shape;437;g3f733dfa63e_2_0"/>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날짜·성별·연령대별 효과 탐색을 위해 집계 단위와 지표 구조를 확장</a:t>
            </a:r>
            <a:endParaRPr b="0" i="0" sz="1275" u="none" cap="none" strike="noStrike">
              <a:solidFill>
                <a:schemeClr val="dk1"/>
              </a:solidFill>
              <a:latin typeface="Calibri"/>
              <a:ea typeface="Calibri"/>
              <a:cs typeface="Calibri"/>
              <a:sym typeface="Calibri"/>
            </a:endParaRPr>
          </a:p>
        </p:txBody>
      </p:sp>
      <p:sp>
        <p:nvSpPr>
          <p:cNvPr id="438" name="Google Shape;438;g3f733dfa63e_2_0"/>
          <p:cNvSpPr/>
          <p:nvPr/>
        </p:nvSpPr>
        <p:spPr>
          <a:xfrm>
            <a:off x="566928" y="1828800"/>
            <a:ext cx="2469000" cy="3438000"/>
          </a:xfrm>
          <a:prstGeom prst="roundRect">
            <a:avLst>
              <a:gd fmla="val 3704" name="adj"/>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f733dfa63e_2_0"/>
          <p:cNvSpPr/>
          <p:nvPr/>
        </p:nvSpPr>
        <p:spPr>
          <a:xfrm>
            <a:off x="8979408" y="1828800"/>
            <a:ext cx="2645400" cy="3438000"/>
          </a:xfrm>
          <a:prstGeom prst="roundRect">
            <a:avLst>
              <a:gd fmla="val 3457" name="adj"/>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f733dfa63e_2_0"/>
          <p:cNvSpPr/>
          <p:nvPr/>
        </p:nvSpPr>
        <p:spPr>
          <a:xfrm>
            <a:off x="3035808" y="341071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2D2D7"/>
              </a:buClr>
              <a:buSzPts val="1600"/>
              <a:buFont typeface="Arial"/>
              <a:buNone/>
            </a:pPr>
            <a:r>
              <a:rPr b="1" i="0" lang="en-US" sz="1600" u="none" cap="none" strike="noStrike">
                <a:solidFill>
                  <a:srgbClr val="D2D2D7"/>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441" name="Google Shape;441;g3f733dfa63e_2_0"/>
          <p:cNvSpPr/>
          <p:nvPr/>
        </p:nvSpPr>
        <p:spPr>
          <a:xfrm>
            <a:off x="8705088" y="341071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2D2D7"/>
              </a:buClr>
              <a:buSzPts val="1600"/>
              <a:buFont typeface="Arial"/>
              <a:buNone/>
            </a:pPr>
            <a:r>
              <a:rPr b="1" i="0" lang="en-US" sz="1600" u="none" cap="none" strike="noStrike">
                <a:solidFill>
                  <a:srgbClr val="D2D2D7"/>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442" name="Google Shape;442;g3f733dfa63e_2_0"/>
          <p:cNvSpPr/>
          <p:nvPr/>
        </p:nvSpPr>
        <p:spPr>
          <a:xfrm>
            <a:off x="749808" y="1935480"/>
            <a:ext cx="210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00"/>
              <a:buFont typeface="Arial"/>
              <a:buNone/>
            </a:pPr>
            <a:r>
              <a:rPr b="1" i="0" lang="en-US" sz="900" u="none" cap="none" strike="noStrike">
                <a:solidFill>
                  <a:srgbClr val="0066CC"/>
                </a:solidFill>
                <a:latin typeface="Arial"/>
                <a:ea typeface="Arial"/>
                <a:cs typeface="Arial"/>
                <a:sym typeface="Arial"/>
              </a:rPr>
              <a:t>STEP 1</a:t>
            </a:r>
            <a:endParaRPr b="0" i="0" sz="900" u="none" cap="none" strike="noStrike">
              <a:solidFill>
                <a:schemeClr val="dk1"/>
              </a:solidFill>
              <a:latin typeface="Calibri"/>
              <a:ea typeface="Calibri"/>
              <a:cs typeface="Calibri"/>
              <a:sym typeface="Calibri"/>
            </a:endParaRPr>
          </a:p>
        </p:txBody>
      </p:sp>
      <p:sp>
        <p:nvSpPr>
          <p:cNvPr id="443" name="Google Shape;443;g3f733dfa63e_2_0"/>
          <p:cNvSpPr/>
          <p:nvPr/>
        </p:nvSpPr>
        <p:spPr>
          <a:xfrm>
            <a:off x="749808" y="2191512"/>
            <a:ext cx="2103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400"/>
              <a:buFont typeface="Arial"/>
              <a:buNone/>
            </a:pPr>
            <a:r>
              <a:rPr b="1" i="0" lang="en-US" sz="1550" u="none" cap="none" strike="noStrike">
                <a:solidFill>
                  <a:srgbClr val="1D1D1F"/>
                </a:solidFill>
                <a:latin typeface="Arial"/>
                <a:ea typeface="Arial"/>
                <a:cs typeface="Arial"/>
                <a:sym typeface="Arial"/>
              </a:rPr>
              <a:t>사용자·일 테이블 확장</a:t>
            </a:r>
            <a:endParaRPr b="0" i="0" sz="1550" u="none" cap="none" strike="noStrike">
              <a:solidFill>
                <a:schemeClr val="dk1"/>
              </a:solidFill>
              <a:latin typeface="Calibri"/>
              <a:ea typeface="Calibri"/>
              <a:cs typeface="Calibri"/>
              <a:sym typeface="Calibri"/>
            </a:endParaRPr>
          </a:p>
        </p:txBody>
      </p:sp>
      <p:sp>
        <p:nvSpPr>
          <p:cNvPr id="444" name="Google Shape;444;g3f733dfa63e_2_0"/>
          <p:cNvSpPr/>
          <p:nvPr/>
        </p:nvSpPr>
        <p:spPr>
          <a:xfrm>
            <a:off x="749808" y="2654808"/>
            <a:ext cx="2103000" cy="329100"/>
          </a:xfrm>
          <a:prstGeom prst="roundRect">
            <a:avLst>
              <a:gd fmla="val 19444"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f733dfa63e_2_0"/>
          <p:cNvSpPr/>
          <p:nvPr/>
        </p:nvSpPr>
        <p:spPr>
          <a:xfrm>
            <a:off x="749808" y="3227832"/>
            <a:ext cx="2103000" cy="411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성별, 나이대 세그먼트 정보를 포함한 사용자-일 테이블 생성</a:t>
            </a:r>
            <a:endParaRPr b="0" i="0" sz="1000" u="none" cap="none" strike="noStrike">
              <a:solidFill>
                <a:schemeClr val="dk1"/>
              </a:solidFill>
              <a:latin typeface="Calibri"/>
              <a:ea typeface="Calibri"/>
              <a:cs typeface="Calibri"/>
              <a:sym typeface="Calibri"/>
            </a:endParaRPr>
          </a:p>
        </p:txBody>
      </p:sp>
      <p:sp>
        <p:nvSpPr>
          <p:cNvPr id="446" name="Google Shape;446;g3f733dfa63e_2_0"/>
          <p:cNvSpPr/>
          <p:nvPr/>
        </p:nvSpPr>
        <p:spPr>
          <a:xfrm>
            <a:off x="749808" y="3971544"/>
            <a:ext cx="210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데이터프레임 예시</a:t>
            </a:r>
            <a:endParaRPr b="0" i="0" sz="800" u="none" cap="none" strike="noStrike">
              <a:solidFill>
                <a:schemeClr val="dk1"/>
              </a:solidFill>
              <a:latin typeface="Calibri"/>
              <a:ea typeface="Calibri"/>
              <a:cs typeface="Calibri"/>
              <a:sym typeface="Calibri"/>
            </a:endParaRPr>
          </a:p>
        </p:txBody>
      </p:sp>
      <p:graphicFrame>
        <p:nvGraphicFramePr>
          <p:cNvPr id="447" name="Google Shape;447;g3f733dfa63e_2_0"/>
          <p:cNvGraphicFramePr/>
          <p:nvPr/>
        </p:nvGraphicFramePr>
        <p:xfrm>
          <a:off x="749808" y="4204658"/>
          <a:ext cx="3000000" cy="3000000"/>
        </p:xfrm>
        <a:graphic>
          <a:graphicData uri="http://schemas.openxmlformats.org/drawingml/2006/table">
            <a:tbl>
              <a:tblPr>
                <a:noFill/>
                <a:tableStyleId>{369913E5-644F-4B3B-8039-99F165B5B33D}</a:tableStyleId>
              </a:tblPr>
              <a:tblGrid>
                <a:gridCol w="239825"/>
                <a:gridCol w="276725"/>
                <a:gridCol w="239825"/>
                <a:gridCol w="313625"/>
                <a:gridCol w="332075"/>
                <a:gridCol w="239825"/>
                <a:gridCol w="258275"/>
                <a:gridCol w="202925"/>
              </a:tblGrid>
              <a:tr h="141725">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var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user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date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age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gender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items</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clicks</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rev</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U001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ctrl</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U002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20-49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3</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U003</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8</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448" name="Google Shape;448;g3f733dfa63e_2_0"/>
          <p:cNvSpPr/>
          <p:nvPr/>
        </p:nvSpPr>
        <p:spPr>
          <a:xfrm>
            <a:off x="3493008" y="1935480"/>
            <a:ext cx="5029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00"/>
              <a:buFont typeface="Arial"/>
              <a:buNone/>
            </a:pPr>
            <a:r>
              <a:rPr b="1" i="0" lang="en-US" sz="900" u="none" cap="none" strike="noStrike">
                <a:solidFill>
                  <a:srgbClr val="0066CC"/>
                </a:solidFill>
                <a:latin typeface="Arial"/>
                <a:ea typeface="Arial"/>
                <a:cs typeface="Arial"/>
                <a:sym typeface="Arial"/>
              </a:rPr>
              <a:t>STEP 2</a:t>
            </a:r>
            <a:endParaRPr b="0" i="0" sz="900" u="none" cap="none" strike="noStrike">
              <a:solidFill>
                <a:schemeClr val="dk1"/>
              </a:solidFill>
              <a:latin typeface="Calibri"/>
              <a:ea typeface="Calibri"/>
              <a:cs typeface="Calibri"/>
              <a:sym typeface="Calibri"/>
            </a:endParaRPr>
          </a:p>
        </p:txBody>
      </p:sp>
      <p:sp>
        <p:nvSpPr>
          <p:cNvPr id="449" name="Google Shape;449;g3f733dfa63e_2_0"/>
          <p:cNvSpPr/>
          <p:nvPr/>
        </p:nvSpPr>
        <p:spPr>
          <a:xfrm>
            <a:off x="3493008" y="2191512"/>
            <a:ext cx="5029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400"/>
              <a:buFont typeface="Arial"/>
              <a:buNone/>
            </a:pPr>
            <a:r>
              <a:rPr b="1" i="0" lang="en-US" sz="1550" u="none" cap="none" strike="noStrike">
                <a:solidFill>
                  <a:srgbClr val="1D1D1F"/>
                </a:solidFill>
                <a:latin typeface="Arial"/>
                <a:ea typeface="Arial"/>
                <a:cs typeface="Arial"/>
                <a:sym typeface="Arial"/>
              </a:rPr>
              <a:t>세그먼트별 통계량 산출</a:t>
            </a:r>
            <a:endParaRPr b="0" i="0" sz="1550" u="none" cap="none" strike="noStrike">
              <a:solidFill>
                <a:schemeClr val="dk1"/>
              </a:solidFill>
              <a:latin typeface="Calibri"/>
              <a:ea typeface="Calibri"/>
              <a:cs typeface="Calibri"/>
              <a:sym typeface="Calibri"/>
            </a:endParaRPr>
          </a:p>
        </p:txBody>
      </p:sp>
      <p:sp>
        <p:nvSpPr>
          <p:cNvPr id="450" name="Google Shape;450;g3f733dfa63e_2_0"/>
          <p:cNvSpPr/>
          <p:nvPr/>
        </p:nvSpPr>
        <p:spPr>
          <a:xfrm>
            <a:off x="3493001" y="2578600"/>
            <a:ext cx="1692000" cy="329100"/>
          </a:xfrm>
          <a:prstGeom prst="roundRect">
            <a:avLst>
              <a:gd fmla="val 19444"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f733dfa63e_2_0"/>
          <p:cNvSpPr/>
          <p:nvPr/>
        </p:nvSpPr>
        <p:spPr>
          <a:xfrm>
            <a:off x="3602733" y="2578600"/>
            <a:ext cx="1446600" cy="329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1D1F"/>
              </a:buClr>
              <a:buSzPts val="875"/>
              <a:buFont typeface="Arial"/>
              <a:buNone/>
            </a:pPr>
            <a:r>
              <a:rPr b="1" i="0" lang="en-US" sz="675" u="none" cap="none" strike="noStrike">
                <a:solidFill>
                  <a:srgbClr val="1D1D1F"/>
                </a:solidFill>
                <a:latin typeface="Arial"/>
                <a:ea typeface="Arial"/>
                <a:cs typeface="Arial"/>
                <a:sym typeface="Arial"/>
              </a:rPr>
              <a:t>단위: date × variant × age × gender</a:t>
            </a:r>
            <a:endParaRPr b="0" i="0" sz="675" u="none" cap="none" strike="noStrike">
              <a:solidFill>
                <a:schemeClr val="dk1"/>
              </a:solidFill>
              <a:latin typeface="Calibri"/>
              <a:ea typeface="Calibri"/>
              <a:cs typeface="Calibri"/>
              <a:sym typeface="Calibri"/>
            </a:endParaRPr>
          </a:p>
        </p:txBody>
      </p:sp>
      <p:sp>
        <p:nvSpPr>
          <p:cNvPr id="452" name="Google Shape;452;g3f733dfa63e_2_0"/>
          <p:cNvSpPr/>
          <p:nvPr/>
        </p:nvSpPr>
        <p:spPr>
          <a:xfrm>
            <a:off x="3523726" y="3029954"/>
            <a:ext cx="5029200" cy="25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user_id를 제외하고 지표별 t-test 계산에 필요한 n·sum·sum²를 사전 집계</a:t>
            </a:r>
            <a:endParaRPr b="0" i="0" sz="1000" u="none" cap="none" strike="noStrike">
              <a:solidFill>
                <a:schemeClr val="dk1"/>
              </a:solidFill>
              <a:latin typeface="Calibri"/>
              <a:ea typeface="Calibri"/>
              <a:cs typeface="Calibri"/>
              <a:sym typeface="Calibri"/>
            </a:endParaRPr>
          </a:p>
        </p:txBody>
      </p:sp>
      <p:sp>
        <p:nvSpPr>
          <p:cNvPr id="453" name="Google Shape;453;g3f733dfa63e_2_0"/>
          <p:cNvSpPr/>
          <p:nvPr/>
        </p:nvSpPr>
        <p:spPr>
          <a:xfrm>
            <a:off x="3492958" y="3312174"/>
            <a:ext cx="5029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데이터프레임 예시</a:t>
            </a:r>
            <a:endParaRPr b="0" i="0" sz="800" u="none" cap="none" strike="noStrike">
              <a:solidFill>
                <a:schemeClr val="dk1"/>
              </a:solidFill>
              <a:latin typeface="Calibri"/>
              <a:ea typeface="Calibri"/>
              <a:cs typeface="Calibri"/>
              <a:sym typeface="Calibri"/>
            </a:endParaRPr>
          </a:p>
        </p:txBody>
      </p:sp>
      <p:sp>
        <p:nvSpPr>
          <p:cNvPr id="454" name="Google Shape;454;g3f733dfa63e_2_0"/>
          <p:cNvSpPr/>
          <p:nvPr/>
        </p:nvSpPr>
        <p:spPr>
          <a:xfrm>
            <a:off x="3493008" y="3478417"/>
            <a:ext cx="24414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800"/>
              <a:buFont typeface="Arial"/>
              <a:buNone/>
            </a:pPr>
            <a:r>
              <a:rPr b="1" i="0" lang="en-US" sz="600" u="none" cap="none" strike="noStrike">
                <a:solidFill>
                  <a:srgbClr val="0066CC"/>
                </a:solidFill>
                <a:latin typeface="Arial"/>
                <a:ea typeface="Arial"/>
                <a:cs typeface="Arial"/>
                <a:sym typeface="Arial"/>
              </a:rPr>
              <a:t>impression</a:t>
            </a:r>
            <a:endParaRPr b="0" i="0" sz="600" u="none" cap="none" strike="noStrike">
              <a:solidFill>
                <a:schemeClr val="dk1"/>
              </a:solidFill>
              <a:latin typeface="Calibri"/>
              <a:ea typeface="Calibri"/>
              <a:cs typeface="Calibri"/>
              <a:sym typeface="Calibri"/>
            </a:endParaRPr>
          </a:p>
        </p:txBody>
      </p:sp>
      <p:sp>
        <p:nvSpPr>
          <p:cNvPr id="455" name="Google Shape;455;g3f733dfa63e_2_0"/>
          <p:cNvSpPr/>
          <p:nvPr/>
        </p:nvSpPr>
        <p:spPr>
          <a:xfrm>
            <a:off x="6080760" y="3478417"/>
            <a:ext cx="24414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800"/>
              <a:buFont typeface="Arial"/>
              <a:buNone/>
            </a:pPr>
            <a:r>
              <a:rPr b="1" i="0" lang="en-US" sz="600" u="none" cap="none" strike="noStrike">
                <a:solidFill>
                  <a:srgbClr val="0066CC"/>
                </a:solidFill>
                <a:latin typeface="Arial"/>
                <a:ea typeface="Arial"/>
                <a:cs typeface="Arial"/>
                <a:sym typeface="Arial"/>
              </a:rPr>
              <a:t>click</a:t>
            </a:r>
            <a:endParaRPr b="0" i="0" sz="600" u="none" cap="none" strike="noStrike">
              <a:solidFill>
                <a:schemeClr val="dk1"/>
              </a:solidFill>
              <a:latin typeface="Calibri"/>
              <a:ea typeface="Calibri"/>
              <a:cs typeface="Calibri"/>
              <a:sym typeface="Calibri"/>
            </a:endParaRPr>
          </a:p>
        </p:txBody>
      </p:sp>
      <p:sp>
        <p:nvSpPr>
          <p:cNvPr id="456" name="Google Shape;456;g3f733dfa63e_2_0"/>
          <p:cNvSpPr/>
          <p:nvPr/>
        </p:nvSpPr>
        <p:spPr>
          <a:xfrm>
            <a:off x="3493008" y="4320156"/>
            <a:ext cx="24414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800"/>
              <a:buFont typeface="Arial"/>
              <a:buNone/>
            </a:pPr>
            <a:r>
              <a:rPr b="1" i="0" lang="en-US" sz="600" u="none" cap="none" strike="noStrike">
                <a:solidFill>
                  <a:srgbClr val="0066CC"/>
                </a:solidFill>
                <a:latin typeface="Arial"/>
                <a:ea typeface="Arial"/>
                <a:cs typeface="Arial"/>
                <a:sym typeface="Arial"/>
              </a:rPr>
              <a:t>purchase</a:t>
            </a:r>
            <a:endParaRPr b="0" i="0" sz="600" u="none" cap="none" strike="noStrike">
              <a:solidFill>
                <a:schemeClr val="dk1"/>
              </a:solidFill>
              <a:latin typeface="Calibri"/>
              <a:ea typeface="Calibri"/>
              <a:cs typeface="Calibri"/>
              <a:sym typeface="Calibri"/>
            </a:endParaRPr>
          </a:p>
        </p:txBody>
      </p:sp>
      <p:sp>
        <p:nvSpPr>
          <p:cNvPr id="457" name="Google Shape;457;g3f733dfa63e_2_0"/>
          <p:cNvSpPr/>
          <p:nvPr/>
        </p:nvSpPr>
        <p:spPr>
          <a:xfrm>
            <a:off x="6080760" y="4304793"/>
            <a:ext cx="24414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800"/>
              <a:buFont typeface="Arial"/>
              <a:buNone/>
            </a:pPr>
            <a:r>
              <a:rPr b="1" i="0" lang="en-US" sz="600" u="none" cap="none" strike="noStrike">
                <a:solidFill>
                  <a:srgbClr val="0066CC"/>
                </a:solidFill>
                <a:latin typeface="Arial"/>
                <a:ea typeface="Arial"/>
                <a:cs typeface="Arial"/>
                <a:sym typeface="Arial"/>
              </a:rPr>
              <a:t>revenue</a:t>
            </a:r>
            <a:endParaRPr b="0" i="0" sz="600" u="none" cap="none" strike="noStrike">
              <a:solidFill>
                <a:schemeClr val="dk1"/>
              </a:solidFill>
              <a:latin typeface="Calibri"/>
              <a:ea typeface="Calibri"/>
              <a:cs typeface="Calibri"/>
              <a:sym typeface="Calibri"/>
            </a:endParaRPr>
          </a:p>
        </p:txBody>
      </p:sp>
      <p:graphicFrame>
        <p:nvGraphicFramePr>
          <p:cNvPr id="458" name="Google Shape;458;g3f733dfa63e_2_0"/>
          <p:cNvGraphicFramePr/>
          <p:nvPr/>
        </p:nvGraphicFramePr>
        <p:xfrm>
          <a:off x="6080760" y="4511040"/>
          <a:ext cx="3000000" cy="3000000"/>
        </p:xfrm>
        <a:graphic>
          <a:graphicData uri="http://schemas.openxmlformats.org/drawingml/2006/table">
            <a:tbl>
              <a:tblPr>
                <a:noFill/>
                <a:tableStyleId>{369913E5-644F-4B3B-8039-99F165B5B33D}</a:tableStyleId>
              </a:tblPr>
              <a:tblGrid>
                <a:gridCol w="214150"/>
                <a:gridCol w="299825"/>
                <a:gridCol w="235575"/>
                <a:gridCol w="342650"/>
                <a:gridCol w="599650"/>
                <a:gridCol w="171325"/>
                <a:gridCol w="214150"/>
                <a:gridCol w="274750"/>
              </a:tblGrid>
              <a:tr h="141725">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date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var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age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gender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category</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sum²</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revenue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806</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19234</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control</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revenue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912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24576</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459" name="Google Shape;459;g3f733dfa63e_2_0"/>
          <p:cNvSpPr/>
          <p:nvPr/>
        </p:nvSpPr>
        <p:spPr>
          <a:xfrm>
            <a:off x="9162288" y="1935480"/>
            <a:ext cx="2279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00"/>
              <a:buFont typeface="Arial"/>
              <a:buNone/>
            </a:pPr>
            <a:r>
              <a:rPr b="1" i="0" lang="en-US" sz="900" u="none" cap="none" strike="noStrike">
                <a:solidFill>
                  <a:srgbClr val="0066CC"/>
                </a:solidFill>
                <a:latin typeface="Arial"/>
                <a:ea typeface="Arial"/>
                <a:cs typeface="Arial"/>
                <a:sym typeface="Arial"/>
              </a:rPr>
              <a:t>STEP 3</a:t>
            </a:r>
            <a:endParaRPr b="0" i="0" sz="900" u="none" cap="none" strike="noStrike">
              <a:solidFill>
                <a:schemeClr val="dk1"/>
              </a:solidFill>
              <a:latin typeface="Calibri"/>
              <a:ea typeface="Calibri"/>
              <a:cs typeface="Calibri"/>
              <a:sym typeface="Calibri"/>
            </a:endParaRPr>
          </a:p>
        </p:txBody>
      </p:sp>
      <p:sp>
        <p:nvSpPr>
          <p:cNvPr id="460" name="Google Shape;460;g3f733dfa63e_2_0"/>
          <p:cNvSpPr/>
          <p:nvPr/>
        </p:nvSpPr>
        <p:spPr>
          <a:xfrm>
            <a:off x="9162288" y="2191512"/>
            <a:ext cx="2279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400"/>
              <a:buFont typeface="Arial"/>
              <a:buNone/>
            </a:pPr>
            <a:r>
              <a:rPr b="1" i="0" lang="en-US" sz="1550" u="none" cap="none" strike="noStrike">
                <a:solidFill>
                  <a:srgbClr val="1D1D1F"/>
                </a:solidFill>
                <a:latin typeface="Arial"/>
                <a:ea typeface="Arial"/>
                <a:cs typeface="Arial"/>
                <a:sym typeface="Arial"/>
              </a:rPr>
              <a:t>OLAP_CUBE 세로형 통합</a:t>
            </a:r>
            <a:endParaRPr b="0" i="0" sz="1550" u="none" cap="none" strike="noStrike">
              <a:solidFill>
                <a:schemeClr val="dk1"/>
              </a:solidFill>
              <a:latin typeface="Calibri"/>
              <a:ea typeface="Calibri"/>
              <a:cs typeface="Calibri"/>
              <a:sym typeface="Calibri"/>
            </a:endParaRPr>
          </a:p>
        </p:txBody>
      </p:sp>
      <p:sp>
        <p:nvSpPr>
          <p:cNvPr id="461" name="Google Shape;461;g3f733dfa63e_2_0"/>
          <p:cNvSpPr/>
          <p:nvPr/>
        </p:nvSpPr>
        <p:spPr>
          <a:xfrm>
            <a:off x="9162288" y="2654808"/>
            <a:ext cx="2279700" cy="329100"/>
          </a:xfrm>
          <a:prstGeom prst="roundRect">
            <a:avLst>
              <a:gd fmla="val 19444" name="adj"/>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f733dfa63e_2_0"/>
          <p:cNvSpPr/>
          <p:nvPr/>
        </p:nvSpPr>
        <p:spPr>
          <a:xfrm>
            <a:off x="9162288" y="3151632"/>
            <a:ext cx="2279700" cy="411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UNION으로 노출·클릭·구매·매출을 category 기준 Long Format으로 결합</a:t>
            </a:r>
            <a:endParaRPr b="0" i="0" sz="1000" u="none" cap="none" strike="noStrike">
              <a:solidFill>
                <a:schemeClr val="dk1"/>
              </a:solidFill>
              <a:latin typeface="Calibri"/>
              <a:ea typeface="Calibri"/>
              <a:cs typeface="Calibri"/>
              <a:sym typeface="Calibri"/>
            </a:endParaRPr>
          </a:p>
        </p:txBody>
      </p:sp>
      <p:sp>
        <p:nvSpPr>
          <p:cNvPr id="463" name="Google Shape;463;g3f733dfa63e_2_0"/>
          <p:cNvSpPr/>
          <p:nvPr/>
        </p:nvSpPr>
        <p:spPr>
          <a:xfrm>
            <a:off x="9162288" y="3744788"/>
            <a:ext cx="2279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데이터프레임 예시</a:t>
            </a:r>
            <a:endParaRPr b="0" i="0" sz="800" u="none" cap="none" strike="noStrike">
              <a:solidFill>
                <a:schemeClr val="dk1"/>
              </a:solidFill>
              <a:latin typeface="Calibri"/>
              <a:ea typeface="Calibri"/>
              <a:cs typeface="Calibri"/>
              <a:sym typeface="Calibri"/>
            </a:endParaRPr>
          </a:p>
        </p:txBody>
      </p:sp>
      <p:graphicFrame>
        <p:nvGraphicFramePr>
          <p:cNvPr id="464" name="Google Shape;464;g3f733dfa63e_2_0"/>
          <p:cNvGraphicFramePr/>
          <p:nvPr/>
        </p:nvGraphicFramePr>
        <p:xfrm>
          <a:off x="9162288" y="3978182"/>
          <a:ext cx="3000000" cy="3000000"/>
        </p:xfrm>
        <a:graphic>
          <a:graphicData uri="http://schemas.openxmlformats.org/drawingml/2006/table">
            <a:tbl>
              <a:tblPr>
                <a:noFill/>
                <a:tableStyleId>{369913E5-644F-4B3B-8039-99F165B5B33D}</a:tableStyleId>
              </a:tblPr>
              <a:tblGrid>
                <a:gridCol w="290525"/>
                <a:gridCol w="245850"/>
                <a:gridCol w="335225"/>
                <a:gridCol w="379925"/>
                <a:gridCol w="603425"/>
                <a:gridCol w="156450"/>
                <a:gridCol w="268200"/>
              </a:tblGrid>
              <a:tr h="141725">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date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var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age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gender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category</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female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impression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female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click</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1/13</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20-49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female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purchase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male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revenue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806</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465" name="Google Shape;465;g3f733dfa63e_2_0"/>
          <p:cNvSpPr/>
          <p:nvPr/>
        </p:nvSpPr>
        <p:spPr>
          <a:xfrm>
            <a:off x="566928" y="5377164"/>
            <a:ext cx="1105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900"/>
              <a:buFont typeface="Arial"/>
              <a:buNone/>
            </a:pPr>
            <a:r>
              <a:rPr b="0" i="0" lang="en-US" sz="900" u="none" cap="none" strike="noStrike">
                <a:solidFill>
                  <a:srgbClr val="7A7A7A"/>
                </a:solidFill>
                <a:latin typeface="Arial"/>
                <a:ea typeface="Arial"/>
                <a:cs typeface="Arial"/>
                <a:sym typeface="Arial"/>
              </a:rPr>
              <a:t>n = 관측치 수 · sum = 합계 · sum² = 제곱합(분산 계산용)  →  mean = sum/n, var = sum²/n − mean², z-score = (Test−Control 평균차이) / 표준오차</a:t>
            </a:r>
            <a:endParaRPr b="0" i="0" sz="900" u="none" cap="none" strike="noStrike">
              <a:solidFill>
                <a:schemeClr val="dk1"/>
              </a:solidFill>
              <a:latin typeface="Calibri"/>
              <a:ea typeface="Calibri"/>
              <a:cs typeface="Calibri"/>
              <a:sym typeface="Calibri"/>
            </a:endParaRPr>
          </a:p>
        </p:txBody>
      </p:sp>
      <p:sp>
        <p:nvSpPr>
          <p:cNvPr id="466" name="Google Shape;466;g3f733dfa63e_2_0"/>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f733dfa63e_2_0"/>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Tableau에서 세그먼트별 A/B 테스트를 반복 실행할 수 있도록 차원과 통계량(n·sum·sum²)을 미리 준비했다.</a:t>
            </a:r>
            <a:endParaRPr b="0" i="0" sz="1300" u="none" cap="none" strike="noStrike">
              <a:solidFill>
                <a:schemeClr val="dk1"/>
              </a:solidFill>
              <a:latin typeface="Calibri"/>
              <a:ea typeface="Calibri"/>
              <a:cs typeface="Calibri"/>
              <a:sym typeface="Calibri"/>
            </a:endParaRPr>
          </a:p>
        </p:txBody>
      </p:sp>
      <p:sp>
        <p:nvSpPr>
          <p:cNvPr id="468" name="Google Shape;468;g3f733dfa63e_2_0"/>
          <p:cNvSpPr/>
          <p:nvPr/>
        </p:nvSpPr>
        <p:spPr>
          <a:xfrm>
            <a:off x="859524" y="2654800"/>
            <a:ext cx="1993200" cy="329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1D1F"/>
              </a:buClr>
              <a:buSzPts val="875"/>
              <a:buFont typeface="Arial"/>
              <a:buNone/>
            </a:pPr>
            <a:r>
              <a:rPr b="1" i="0" lang="en-US" sz="675" u="none" cap="none" strike="noStrike">
                <a:solidFill>
                  <a:srgbClr val="1D1D1F"/>
                </a:solidFill>
                <a:latin typeface="Arial"/>
                <a:ea typeface="Arial"/>
                <a:cs typeface="Arial"/>
                <a:sym typeface="Arial"/>
              </a:rPr>
              <a:t>단위: variant_id × user_id × date × age × gender</a:t>
            </a:r>
            <a:endParaRPr b="0" i="0" sz="675" u="none" cap="none" strike="noStrike">
              <a:solidFill>
                <a:schemeClr val="dk1"/>
              </a:solidFill>
              <a:latin typeface="Calibri"/>
              <a:ea typeface="Calibri"/>
              <a:cs typeface="Calibri"/>
              <a:sym typeface="Calibri"/>
            </a:endParaRPr>
          </a:p>
        </p:txBody>
      </p:sp>
      <p:sp>
        <p:nvSpPr>
          <p:cNvPr id="469" name="Google Shape;469;g3f733dfa63e_2_0"/>
          <p:cNvSpPr/>
          <p:nvPr/>
        </p:nvSpPr>
        <p:spPr>
          <a:xfrm>
            <a:off x="9272016" y="2654808"/>
            <a:ext cx="2060100" cy="329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1D1F"/>
              </a:buClr>
              <a:buSzPts val="875"/>
              <a:buFont typeface="Arial"/>
              <a:buNone/>
            </a:pPr>
            <a:r>
              <a:rPr b="1" i="0" lang="en-US" sz="675" u="none" cap="none" strike="noStrike">
                <a:solidFill>
                  <a:srgbClr val="1D1D1F"/>
                </a:solidFill>
                <a:latin typeface="Arial"/>
                <a:ea typeface="Arial"/>
                <a:cs typeface="Arial"/>
                <a:sym typeface="Arial"/>
              </a:rPr>
              <a:t>단위: date × variant × age × gender × category</a:t>
            </a:r>
            <a:endParaRPr b="0" i="0" sz="675" u="none" cap="none" strike="noStrike">
              <a:solidFill>
                <a:schemeClr val="dk1"/>
              </a:solidFill>
              <a:latin typeface="Calibri"/>
              <a:ea typeface="Calibri"/>
              <a:cs typeface="Calibri"/>
              <a:sym typeface="Calibri"/>
            </a:endParaRPr>
          </a:p>
        </p:txBody>
      </p:sp>
      <p:graphicFrame>
        <p:nvGraphicFramePr>
          <p:cNvPr id="470" name="Google Shape;470;g3f733dfa63e_2_0"/>
          <p:cNvGraphicFramePr/>
          <p:nvPr/>
        </p:nvGraphicFramePr>
        <p:xfrm>
          <a:off x="3493008" y="3654552"/>
          <a:ext cx="3000000" cy="3000000"/>
        </p:xfrm>
        <a:graphic>
          <a:graphicData uri="http://schemas.openxmlformats.org/drawingml/2006/table">
            <a:tbl>
              <a:tblPr>
                <a:noFill/>
                <a:tableStyleId>{369913E5-644F-4B3B-8039-99F165B5B33D}</a:tableStyleId>
              </a:tblPr>
              <a:tblGrid>
                <a:gridCol w="214150"/>
                <a:gridCol w="299825"/>
                <a:gridCol w="235575"/>
                <a:gridCol w="342650"/>
                <a:gridCol w="599650"/>
                <a:gridCol w="171325"/>
                <a:gridCol w="214150"/>
                <a:gridCol w="274225"/>
              </a:tblGrid>
              <a:tr h="141725">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date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var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age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gender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category</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sum²</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impression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2241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control</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impression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246</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3260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graphicFrame>
        <p:nvGraphicFramePr>
          <p:cNvPr id="471" name="Google Shape;471;g3f733dfa63e_2_0"/>
          <p:cNvGraphicFramePr/>
          <p:nvPr/>
        </p:nvGraphicFramePr>
        <p:xfrm>
          <a:off x="6080760" y="3654552"/>
          <a:ext cx="3000000" cy="3000000"/>
        </p:xfrm>
        <a:graphic>
          <a:graphicData uri="http://schemas.openxmlformats.org/drawingml/2006/table">
            <a:tbl>
              <a:tblPr>
                <a:noFill/>
                <a:tableStyleId>{369913E5-644F-4B3B-8039-99F165B5B33D}</a:tableStyleId>
              </a:tblPr>
              <a:tblGrid>
                <a:gridCol w="214150"/>
                <a:gridCol w="299825"/>
                <a:gridCol w="235575"/>
                <a:gridCol w="342650"/>
                <a:gridCol w="599650"/>
                <a:gridCol w="171325"/>
                <a:gridCol w="214150"/>
                <a:gridCol w="274750"/>
              </a:tblGrid>
              <a:tr h="141725">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date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var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age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gender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category</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sum²</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click</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401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control</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click</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63</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529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graphicFrame>
        <p:nvGraphicFramePr>
          <p:cNvPr id="472" name="Google Shape;472;g3f733dfa63e_2_0"/>
          <p:cNvGraphicFramePr/>
          <p:nvPr/>
        </p:nvGraphicFramePr>
        <p:xfrm>
          <a:off x="3493008" y="4511040"/>
          <a:ext cx="3000000" cy="3000000"/>
        </p:xfrm>
        <a:graphic>
          <a:graphicData uri="http://schemas.openxmlformats.org/drawingml/2006/table">
            <a:tbl>
              <a:tblPr>
                <a:noFill/>
                <a:tableStyleId>{369913E5-644F-4B3B-8039-99F165B5B33D}</a:tableStyleId>
              </a:tblPr>
              <a:tblGrid>
                <a:gridCol w="214150"/>
                <a:gridCol w="299825"/>
                <a:gridCol w="235575"/>
                <a:gridCol w="342650"/>
                <a:gridCol w="599650"/>
                <a:gridCol w="171325"/>
                <a:gridCol w="214150"/>
                <a:gridCol w="274225"/>
              </a:tblGrid>
              <a:tr h="141725">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date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var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age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gender</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category</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n</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Clr>
                          <a:srgbClr val="1D1D1F"/>
                        </a:buClr>
                        <a:buSzPts val="600"/>
                        <a:buFont typeface="Arial"/>
                        <a:buNone/>
                      </a:pPr>
                      <a:r>
                        <a:rPr b="1" lang="en-US" sz="600" u="none" cap="none" strike="noStrike">
                          <a:solidFill>
                            <a:srgbClr val="1D1D1F"/>
                          </a:solidFill>
                          <a:latin typeface="Arial"/>
                          <a:ea typeface="Arial"/>
                          <a:cs typeface="Arial"/>
                          <a:sym typeface="Arial"/>
                        </a:rPr>
                        <a:t>sum²</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5F5F7"/>
                    </a:solidFill>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1/11</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test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0-19</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F</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purchase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84</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600"/>
                        <a:buFont typeface="Arial"/>
                        <a:buNone/>
                      </a:pPr>
                      <a:r>
                        <a:rPr lang="en-US" sz="600" u="none" cap="none" strike="noStrike">
                          <a:solidFill>
                            <a:srgbClr val="7A7A7A"/>
                          </a:solidFill>
                          <a:latin typeface="Arial"/>
                          <a:ea typeface="Arial"/>
                          <a:cs typeface="Arial"/>
                          <a:sym typeface="Arial"/>
                        </a:rPr>
                        <a:t>…</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41725">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1/17</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control</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50+</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M</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purchase</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42</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15</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600"/>
                        <a:buFont typeface="Arial"/>
                        <a:buNone/>
                      </a:pPr>
                      <a:r>
                        <a:rPr lang="en-US" sz="600" u="none" cap="none" strike="noStrike">
                          <a:solidFill>
                            <a:srgbClr val="1D1D1F"/>
                          </a:solidFill>
                          <a:latin typeface="Arial"/>
                          <a:ea typeface="Arial"/>
                          <a:cs typeface="Arial"/>
                          <a:sym typeface="Arial"/>
                        </a:rPr>
                        <a:t>123</a:t>
                      </a:r>
                      <a:endParaRPr sz="600" u="none" cap="none" strike="noStrike">
                        <a:latin typeface="Arial"/>
                        <a:ea typeface="Arial"/>
                        <a:cs typeface="Arial"/>
                        <a:sym typeface="Arial"/>
                      </a:endParaRPr>
                    </a:p>
                  </a:txBody>
                  <a:tcPr marT="25400" marB="25400" marR="25400" marL="254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g3f73c14343f_0_528"/>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MONITORING</a:t>
            </a:r>
            <a:endParaRPr b="0" i="0" sz="1050" u="none" cap="none" strike="noStrike">
              <a:solidFill>
                <a:schemeClr val="dk1"/>
              </a:solidFill>
              <a:latin typeface="Calibri"/>
              <a:ea typeface="Calibri"/>
              <a:cs typeface="Calibri"/>
              <a:sym typeface="Calibri"/>
            </a:endParaRPr>
          </a:p>
        </p:txBody>
      </p:sp>
      <p:sp>
        <p:nvSpPr>
          <p:cNvPr id="479" name="Google Shape;479;g3f73c14343f_0_528"/>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5-1. 세그먼트별 KPI 모니터링 대시보드 구축</a:t>
            </a:r>
            <a:endParaRPr b="0" i="0" sz="3000" u="none" cap="none" strike="noStrike">
              <a:solidFill>
                <a:schemeClr val="dk1"/>
              </a:solidFill>
              <a:latin typeface="Calibri"/>
              <a:ea typeface="Calibri"/>
              <a:cs typeface="Calibri"/>
              <a:sym typeface="Calibri"/>
            </a:endParaRPr>
          </a:p>
        </p:txBody>
      </p:sp>
      <p:sp>
        <p:nvSpPr>
          <p:cNvPr id="480" name="Google Shape;480;g3f73c14343f_0_528"/>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날짜·성별·연령대별 핵심 비즈니스 성과와 Control 대비 변화, 시간 추이를 직관적으로 모니터링</a:t>
            </a:r>
            <a:endParaRPr b="0" i="0" sz="1275" u="none" cap="none" strike="noStrike">
              <a:solidFill>
                <a:schemeClr val="dk1"/>
              </a:solidFill>
              <a:latin typeface="Calibri"/>
              <a:ea typeface="Calibri"/>
              <a:cs typeface="Calibri"/>
              <a:sym typeface="Calibri"/>
            </a:endParaRPr>
          </a:p>
        </p:txBody>
      </p:sp>
      <p:sp>
        <p:nvSpPr>
          <p:cNvPr id="481" name="Google Shape;481;g3f73c14343f_0_528"/>
          <p:cNvSpPr/>
          <p:nvPr/>
        </p:nvSpPr>
        <p:spPr>
          <a:xfrm>
            <a:off x="566928" y="1828800"/>
            <a:ext cx="4206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550"/>
              <a:buFont typeface="Arial"/>
              <a:buNone/>
            </a:pPr>
            <a:r>
              <a:rPr b="1" i="0" lang="en-US" sz="1550" u="none" cap="none" strike="noStrike">
                <a:solidFill>
                  <a:srgbClr val="1D1D1F"/>
                </a:solidFill>
                <a:latin typeface="Arial"/>
                <a:ea typeface="Arial"/>
                <a:cs typeface="Arial"/>
                <a:sym typeface="Arial"/>
              </a:rPr>
              <a:t>대시보드 읽는 순서</a:t>
            </a:r>
            <a:endParaRPr b="0" i="0" sz="1550" u="none" cap="none" strike="noStrike">
              <a:solidFill>
                <a:schemeClr val="dk1"/>
              </a:solidFill>
              <a:latin typeface="Calibri"/>
              <a:ea typeface="Calibri"/>
              <a:cs typeface="Calibri"/>
              <a:sym typeface="Calibri"/>
            </a:endParaRPr>
          </a:p>
        </p:txBody>
      </p:sp>
      <p:cxnSp>
        <p:nvCxnSpPr>
          <p:cNvPr id="482" name="Google Shape;482;g3f73c14343f_0_528"/>
          <p:cNvCxnSpPr>
            <a:endCxn id="483" idx="0"/>
          </p:cNvCxnSpPr>
          <p:nvPr/>
        </p:nvCxnSpPr>
        <p:spPr>
          <a:xfrm>
            <a:off x="704028" y="2407920"/>
            <a:ext cx="0" cy="2286000"/>
          </a:xfrm>
          <a:prstGeom prst="straightConnector1">
            <a:avLst/>
          </a:prstGeom>
          <a:noFill/>
          <a:ln cap="flat" cmpd="sng" w="12700">
            <a:solidFill>
              <a:srgbClr val="D2D2D7"/>
            </a:solidFill>
            <a:prstDash val="solid"/>
            <a:round/>
            <a:headEnd len="sm" w="sm" type="none"/>
            <a:tailEnd len="sm" w="sm" type="none"/>
          </a:ln>
        </p:spPr>
      </p:cxnSp>
      <p:sp>
        <p:nvSpPr>
          <p:cNvPr id="484" name="Google Shape;484;g3f73c14343f_0_528"/>
          <p:cNvSpPr/>
          <p:nvPr/>
        </p:nvSpPr>
        <p:spPr>
          <a:xfrm>
            <a:off x="566928" y="2270760"/>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f73c14343f_0_528"/>
          <p:cNvSpPr/>
          <p:nvPr/>
        </p:nvSpPr>
        <p:spPr>
          <a:xfrm>
            <a:off x="566928" y="227076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1</a:t>
            </a:r>
            <a:endParaRPr b="0" i="0" sz="950" u="none" cap="none" strike="noStrike">
              <a:solidFill>
                <a:schemeClr val="dk1"/>
              </a:solidFill>
              <a:latin typeface="Calibri"/>
              <a:ea typeface="Calibri"/>
              <a:cs typeface="Calibri"/>
              <a:sym typeface="Calibri"/>
            </a:endParaRPr>
          </a:p>
        </p:txBody>
      </p:sp>
      <p:sp>
        <p:nvSpPr>
          <p:cNvPr id="486" name="Google Shape;486;g3f73c14343f_0_528"/>
          <p:cNvSpPr/>
          <p:nvPr/>
        </p:nvSpPr>
        <p:spPr>
          <a:xfrm>
            <a:off x="1005840" y="2243328"/>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분할 기준 선택</a:t>
            </a:r>
            <a:endParaRPr b="0" i="0" sz="1100" u="none" cap="none" strike="noStrike">
              <a:solidFill>
                <a:schemeClr val="dk1"/>
              </a:solidFill>
              <a:latin typeface="Calibri"/>
              <a:ea typeface="Calibri"/>
              <a:cs typeface="Calibri"/>
              <a:sym typeface="Calibri"/>
            </a:endParaRPr>
          </a:p>
        </p:txBody>
      </p:sp>
      <p:sp>
        <p:nvSpPr>
          <p:cNvPr id="487" name="Google Shape;487;g3f73c14343f_0_528"/>
          <p:cNvSpPr/>
          <p:nvPr/>
        </p:nvSpPr>
        <p:spPr>
          <a:xfrm>
            <a:off x="1005840" y="2435352"/>
            <a:ext cx="3767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Age · Gender · Datestamp 중 결과를 나눌 기준 선택</a:t>
            </a:r>
            <a:endParaRPr b="0" i="0" sz="875" u="none" cap="none" strike="noStrike">
              <a:solidFill>
                <a:schemeClr val="dk1"/>
              </a:solidFill>
              <a:latin typeface="Calibri"/>
              <a:ea typeface="Calibri"/>
              <a:cs typeface="Calibri"/>
              <a:sym typeface="Calibri"/>
            </a:endParaRPr>
          </a:p>
        </p:txBody>
      </p:sp>
      <p:sp>
        <p:nvSpPr>
          <p:cNvPr id="488" name="Google Shape;488;g3f73c14343f_0_528"/>
          <p:cNvSpPr/>
          <p:nvPr/>
        </p:nvSpPr>
        <p:spPr>
          <a:xfrm>
            <a:off x="566928" y="2819400"/>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f73c14343f_0_528"/>
          <p:cNvSpPr/>
          <p:nvPr/>
        </p:nvSpPr>
        <p:spPr>
          <a:xfrm>
            <a:off x="566928" y="281940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2</a:t>
            </a:r>
            <a:endParaRPr b="0" i="0" sz="950" u="none" cap="none" strike="noStrike">
              <a:solidFill>
                <a:schemeClr val="dk1"/>
              </a:solidFill>
              <a:latin typeface="Calibri"/>
              <a:ea typeface="Calibri"/>
              <a:cs typeface="Calibri"/>
              <a:sym typeface="Calibri"/>
            </a:endParaRPr>
          </a:p>
        </p:txBody>
      </p:sp>
      <p:sp>
        <p:nvSpPr>
          <p:cNvPr id="490" name="Google Shape;490;g3f73c14343f_0_528"/>
          <p:cNvSpPr/>
          <p:nvPr/>
        </p:nvSpPr>
        <p:spPr>
          <a:xfrm>
            <a:off x="1005840" y="2791968"/>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Test KPI 값 확인</a:t>
            </a:r>
            <a:endParaRPr b="0" i="0" sz="1100" u="none" cap="none" strike="noStrike">
              <a:solidFill>
                <a:schemeClr val="dk1"/>
              </a:solidFill>
              <a:latin typeface="Calibri"/>
              <a:ea typeface="Calibri"/>
              <a:cs typeface="Calibri"/>
              <a:sym typeface="Calibri"/>
            </a:endParaRPr>
          </a:p>
        </p:txBody>
      </p:sp>
      <p:sp>
        <p:nvSpPr>
          <p:cNvPr id="491" name="Google Shape;491;g3f73c14343f_0_528"/>
          <p:cNvSpPr/>
          <p:nvPr/>
        </p:nvSpPr>
        <p:spPr>
          <a:xfrm>
            <a:off x="1005840" y="2983992"/>
            <a:ext cx="3767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현재 실험군의 KPI 수준 확인</a:t>
            </a:r>
            <a:endParaRPr b="0" i="0" sz="875" u="none" cap="none" strike="noStrike">
              <a:solidFill>
                <a:schemeClr val="dk1"/>
              </a:solidFill>
              <a:latin typeface="Calibri"/>
              <a:ea typeface="Calibri"/>
              <a:cs typeface="Calibri"/>
              <a:sym typeface="Calibri"/>
            </a:endParaRPr>
          </a:p>
        </p:txBody>
      </p:sp>
      <p:graphicFrame>
        <p:nvGraphicFramePr>
          <p:cNvPr id="492" name="Google Shape;492;g3f73c14343f_0_528"/>
          <p:cNvGraphicFramePr/>
          <p:nvPr/>
        </p:nvGraphicFramePr>
        <p:xfrm>
          <a:off x="1005840" y="3203448"/>
          <a:ext cx="3000000" cy="3000000"/>
        </p:xfrm>
        <a:graphic>
          <a:graphicData uri="http://schemas.openxmlformats.org/drawingml/2006/table">
            <a:tbl>
              <a:tblPr>
                <a:noFill/>
                <a:tableStyleId>{369913E5-644F-4B3B-8039-99F165B5B33D}</a:tableStyleId>
              </a:tblPr>
              <a:tblGrid>
                <a:gridCol w="602775"/>
                <a:gridCol w="1054850"/>
                <a:gridCol w="2109700"/>
              </a:tblGrid>
              <a:tr h="155450">
                <a:tc>
                  <a:txBody>
                    <a:bodyPr/>
                    <a:lstStyle/>
                    <a:p>
                      <a:pPr indent="0" lvl="0" marL="0" marR="0" rtl="0" algn="l">
                        <a:spcBef>
                          <a:spcPts val="0"/>
                        </a:spcBef>
                        <a:spcAft>
                          <a:spcPts val="0"/>
                        </a:spcAft>
                        <a:buClr>
                          <a:srgbClr val="7A7A7A"/>
                        </a:buClr>
                        <a:buSzPts val="750"/>
                        <a:buFont typeface="Arial"/>
                        <a:buNone/>
                      </a:pPr>
                      <a:r>
                        <a:rPr b="1" lang="en-US" sz="750" u="none" cap="none" strike="noStrike">
                          <a:solidFill>
                            <a:srgbClr val="7A7A7A"/>
                          </a:solidFill>
                          <a:latin typeface="Arial"/>
                          <a:ea typeface="Arial"/>
                          <a:cs typeface="Arial"/>
                          <a:sym typeface="Arial"/>
                        </a:rPr>
                        <a:t>KPI</a:t>
                      </a:r>
                      <a:endParaRPr sz="750" u="none" cap="none" strike="noStrike">
                        <a:latin typeface="Arial"/>
                        <a:ea typeface="Arial"/>
                        <a:cs typeface="Arial"/>
                        <a:sym typeface="Arial"/>
                      </a:endParaRPr>
                    </a:p>
                  </a:txBody>
                  <a:tcPr marT="12700" marB="12700" marR="25400" marL="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750"/>
                        <a:buFont typeface="Arial"/>
                        <a:buNone/>
                      </a:pPr>
                      <a:r>
                        <a:rPr b="1" lang="en-US" sz="750" u="none" cap="none" strike="noStrike">
                          <a:solidFill>
                            <a:srgbClr val="7A7A7A"/>
                          </a:solidFill>
                          <a:latin typeface="Arial"/>
                          <a:ea typeface="Arial"/>
                          <a:cs typeface="Arial"/>
                          <a:sym typeface="Arial"/>
                        </a:rPr>
                        <a:t>지표명</a:t>
                      </a:r>
                      <a:endParaRPr sz="75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7A7A7A"/>
                        </a:buClr>
                        <a:buSzPts val="750"/>
                        <a:buFont typeface="Arial"/>
                        <a:buNone/>
                      </a:pPr>
                      <a:r>
                        <a:rPr b="1" lang="en-US" sz="750" u="none" cap="none" strike="noStrike">
                          <a:solidFill>
                            <a:srgbClr val="7A7A7A"/>
                          </a:solidFill>
                          <a:latin typeface="Arial"/>
                          <a:ea typeface="Arial"/>
                          <a:cs typeface="Arial"/>
                          <a:sym typeface="Arial"/>
                        </a:rPr>
                        <a:t>해석 관점</a:t>
                      </a:r>
                      <a:endParaRPr sz="75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5450">
                <a:tc>
                  <a:txBody>
                    <a:bodyPr/>
                    <a:lstStyle/>
                    <a:p>
                      <a:pPr indent="0" lvl="0" marL="0" marR="0" rtl="0" algn="l">
                        <a:spcBef>
                          <a:spcPts val="0"/>
                        </a:spcBef>
                        <a:spcAft>
                          <a:spcPts val="0"/>
                        </a:spcAft>
                        <a:buClr>
                          <a:srgbClr val="0066CC"/>
                        </a:buClr>
                        <a:buSzPts val="800"/>
                        <a:buFont typeface="Arial"/>
                        <a:buNone/>
                      </a:pPr>
                      <a:r>
                        <a:rPr b="1" lang="en-US" sz="800" u="none" cap="none" strike="noStrike">
                          <a:solidFill>
                            <a:srgbClr val="0066CC"/>
                          </a:solidFill>
                          <a:latin typeface="Arial"/>
                          <a:ea typeface="Arial"/>
                          <a:cs typeface="Arial"/>
                          <a:sym typeface="Arial"/>
                        </a:rPr>
                        <a:t>CTR</a:t>
                      </a:r>
                      <a:endParaRPr sz="800" u="none" cap="none" strike="noStrike">
                        <a:latin typeface="Arial"/>
                        <a:ea typeface="Arial"/>
                        <a:cs typeface="Arial"/>
                        <a:sym typeface="Arial"/>
                      </a:endParaRPr>
                    </a:p>
                  </a:txBody>
                  <a:tcPr marT="12700" marB="12700" marR="25400" marL="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클릭률</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노출 대비 클릭 비율 · 상품 관심도 변화</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5450">
                <a:tc>
                  <a:txBody>
                    <a:bodyPr/>
                    <a:lstStyle/>
                    <a:p>
                      <a:pPr indent="0" lvl="0" marL="0" marR="0" rtl="0" algn="l">
                        <a:spcBef>
                          <a:spcPts val="0"/>
                        </a:spcBef>
                        <a:spcAft>
                          <a:spcPts val="0"/>
                        </a:spcAft>
                        <a:buClr>
                          <a:srgbClr val="0066CC"/>
                        </a:buClr>
                        <a:buSzPts val="800"/>
                        <a:buFont typeface="Arial"/>
                        <a:buNone/>
                      </a:pPr>
                      <a:r>
                        <a:rPr b="1" lang="en-US" sz="800" u="none" cap="none" strike="noStrike">
                          <a:solidFill>
                            <a:srgbClr val="0066CC"/>
                          </a:solidFill>
                          <a:latin typeface="Arial"/>
                          <a:ea typeface="Arial"/>
                          <a:cs typeface="Arial"/>
                          <a:sym typeface="Arial"/>
                        </a:rPr>
                        <a:t>CVR</a:t>
                      </a:r>
                      <a:endParaRPr sz="800" u="none" cap="none" strike="noStrike">
                        <a:latin typeface="Arial"/>
                        <a:ea typeface="Arial"/>
                        <a:cs typeface="Arial"/>
                        <a:sym typeface="Arial"/>
                      </a:endParaRPr>
                    </a:p>
                  </a:txBody>
                  <a:tcPr marT="12700" marB="12700" marR="25400" marL="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구매 전환율</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구매 전환 수준 · 구매 행동 변화</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5450">
                <a:tc>
                  <a:txBody>
                    <a:bodyPr/>
                    <a:lstStyle/>
                    <a:p>
                      <a:pPr indent="0" lvl="0" marL="0" marR="0" rtl="0" algn="l">
                        <a:spcBef>
                          <a:spcPts val="0"/>
                        </a:spcBef>
                        <a:spcAft>
                          <a:spcPts val="0"/>
                        </a:spcAft>
                        <a:buClr>
                          <a:srgbClr val="0066CC"/>
                        </a:buClr>
                        <a:buSzPts val="800"/>
                        <a:buFont typeface="Arial"/>
                        <a:buNone/>
                      </a:pPr>
                      <a:r>
                        <a:rPr b="1" lang="en-US" sz="800" u="none" cap="none" strike="noStrike">
                          <a:solidFill>
                            <a:srgbClr val="0066CC"/>
                          </a:solidFill>
                          <a:latin typeface="Arial"/>
                          <a:ea typeface="Arial"/>
                          <a:cs typeface="Arial"/>
                          <a:sym typeface="Arial"/>
                        </a:rPr>
                        <a:t>AOV</a:t>
                      </a:r>
                      <a:endParaRPr sz="800" u="none" cap="none" strike="noStrike">
                        <a:latin typeface="Arial"/>
                        <a:ea typeface="Arial"/>
                        <a:cs typeface="Arial"/>
                        <a:sym typeface="Arial"/>
                      </a:endParaRPr>
                    </a:p>
                  </a:txBody>
                  <a:tcPr marT="12700" marB="12700" marR="25400" marL="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평균 주문금액</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구매당 평균 결제금액 · 주문 가치 변화</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r h="155450">
                <a:tc>
                  <a:txBody>
                    <a:bodyPr/>
                    <a:lstStyle/>
                    <a:p>
                      <a:pPr indent="0" lvl="0" marL="0" marR="0" rtl="0" algn="l">
                        <a:spcBef>
                          <a:spcPts val="0"/>
                        </a:spcBef>
                        <a:spcAft>
                          <a:spcPts val="0"/>
                        </a:spcAft>
                        <a:buClr>
                          <a:srgbClr val="0066CC"/>
                        </a:buClr>
                        <a:buSzPts val="800"/>
                        <a:buFont typeface="Arial"/>
                        <a:buNone/>
                      </a:pPr>
                      <a:r>
                        <a:rPr b="1" lang="en-US" sz="800" u="none" cap="none" strike="noStrike">
                          <a:solidFill>
                            <a:srgbClr val="0066CC"/>
                          </a:solidFill>
                          <a:latin typeface="Arial"/>
                          <a:ea typeface="Arial"/>
                          <a:cs typeface="Arial"/>
                          <a:sym typeface="Arial"/>
                        </a:rPr>
                        <a:t>ARPU</a:t>
                      </a:r>
                      <a:endParaRPr sz="800" u="none" cap="none" strike="noStrike">
                        <a:latin typeface="Arial"/>
                        <a:ea typeface="Arial"/>
                        <a:cs typeface="Arial"/>
                        <a:sym typeface="Arial"/>
                      </a:endParaRPr>
                    </a:p>
                  </a:txBody>
                  <a:tcPr marT="12700" marB="12700" marR="25400" marL="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사용자당 평균 매출</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c>
                  <a:txBody>
                    <a:bodyPr/>
                    <a:lstStyle/>
                    <a:p>
                      <a:pPr indent="0" lvl="0" marL="0" marR="0" rtl="0" algn="l">
                        <a:spcBef>
                          <a:spcPts val="0"/>
                        </a:spcBef>
                        <a:spcAft>
                          <a:spcPts val="0"/>
                        </a:spcAft>
                        <a:buClr>
                          <a:srgbClr val="1D1D1F"/>
                        </a:buClr>
                        <a:buSzPts val="800"/>
                        <a:buFont typeface="Arial"/>
                        <a:buNone/>
                      </a:pPr>
                      <a:r>
                        <a:rPr lang="en-US" sz="800" u="none" cap="none" strike="noStrike">
                          <a:solidFill>
                            <a:srgbClr val="1D1D1F"/>
                          </a:solidFill>
                          <a:latin typeface="Arial"/>
                          <a:ea typeface="Arial"/>
                          <a:cs typeface="Arial"/>
                          <a:sym typeface="Arial"/>
                        </a:rPr>
                        <a:t>사용자 가치 및 매출 기여 변화</a:t>
                      </a:r>
                      <a:endParaRPr sz="800" u="none" cap="none" strike="noStrike">
                        <a:latin typeface="Arial"/>
                        <a:ea typeface="Arial"/>
                        <a:cs typeface="Arial"/>
                        <a:sym typeface="Arial"/>
                      </a:endParaRPr>
                    </a:p>
                  </a:txBody>
                  <a:tcPr marT="12700" marB="12700" marR="25400" marL="50800" anchor="ctr">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tcPr>
                </a:tc>
              </a:tr>
            </a:tbl>
          </a:graphicData>
        </a:graphic>
      </p:graphicFrame>
      <p:sp>
        <p:nvSpPr>
          <p:cNvPr id="493" name="Google Shape;493;g3f73c14343f_0_528"/>
          <p:cNvSpPr/>
          <p:nvPr/>
        </p:nvSpPr>
        <p:spPr>
          <a:xfrm>
            <a:off x="566928" y="4145280"/>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f73c14343f_0_528"/>
          <p:cNvSpPr/>
          <p:nvPr/>
        </p:nvSpPr>
        <p:spPr>
          <a:xfrm>
            <a:off x="566928" y="414528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3</a:t>
            </a:r>
            <a:endParaRPr b="0" i="0" sz="950" u="none" cap="none" strike="noStrike">
              <a:solidFill>
                <a:schemeClr val="dk1"/>
              </a:solidFill>
              <a:latin typeface="Calibri"/>
              <a:ea typeface="Calibri"/>
              <a:cs typeface="Calibri"/>
              <a:sym typeface="Calibri"/>
            </a:endParaRPr>
          </a:p>
        </p:txBody>
      </p:sp>
      <p:sp>
        <p:nvSpPr>
          <p:cNvPr id="495" name="Google Shape;495;g3f73c14343f_0_528"/>
          <p:cNvSpPr/>
          <p:nvPr/>
        </p:nvSpPr>
        <p:spPr>
          <a:xfrm>
            <a:off x="1005840" y="4117848"/>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Control 대비 증감률 확인</a:t>
            </a:r>
            <a:endParaRPr b="0" i="0" sz="1100" u="none" cap="none" strike="noStrike">
              <a:solidFill>
                <a:schemeClr val="dk1"/>
              </a:solidFill>
              <a:latin typeface="Calibri"/>
              <a:ea typeface="Calibri"/>
              <a:cs typeface="Calibri"/>
              <a:sym typeface="Calibri"/>
            </a:endParaRPr>
          </a:p>
        </p:txBody>
      </p:sp>
      <p:sp>
        <p:nvSpPr>
          <p:cNvPr id="496" name="Google Shape;496;g3f73c14343f_0_528"/>
          <p:cNvSpPr/>
          <p:nvPr/>
        </p:nvSpPr>
        <p:spPr>
          <a:xfrm>
            <a:off x="1005840" y="4309872"/>
            <a:ext cx="3767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증가 · 감소 방향과 변화 크기 파악</a:t>
            </a:r>
            <a:endParaRPr b="0" i="0" sz="875" u="none" cap="none" strike="noStrike">
              <a:solidFill>
                <a:schemeClr val="dk1"/>
              </a:solidFill>
              <a:latin typeface="Calibri"/>
              <a:ea typeface="Calibri"/>
              <a:cs typeface="Calibri"/>
              <a:sym typeface="Calibri"/>
            </a:endParaRPr>
          </a:p>
        </p:txBody>
      </p:sp>
      <p:sp>
        <p:nvSpPr>
          <p:cNvPr id="497" name="Google Shape;497;g3f73c14343f_0_528"/>
          <p:cNvSpPr/>
          <p:nvPr/>
        </p:nvSpPr>
        <p:spPr>
          <a:xfrm>
            <a:off x="566928" y="4693920"/>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f73c14343f_0_528"/>
          <p:cNvSpPr/>
          <p:nvPr/>
        </p:nvSpPr>
        <p:spPr>
          <a:xfrm>
            <a:off x="566928" y="469392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4</a:t>
            </a:r>
            <a:endParaRPr b="0" i="0" sz="950" u="none" cap="none" strike="noStrike">
              <a:solidFill>
                <a:schemeClr val="dk1"/>
              </a:solidFill>
              <a:latin typeface="Calibri"/>
              <a:ea typeface="Calibri"/>
              <a:cs typeface="Calibri"/>
              <a:sym typeface="Calibri"/>
            </a:endParaRPr>
          </a:p>
        </p:txBody>
      </p:sp>
      <p:sp>
        <p:nvSpPr>
          <p:cNvPr id="498" name="Google Shape;498;g3f73c14343f_0_528"/>
          <p:cNvSpPr/>
          <p:nvPr/>
        </p:nvSpPr>
        <p:spPr>
          <a:xfrm>
            <a:off x="1005840" y="4666488"/>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일자별 Test/Control 추이 비교</a:t>
            </a:r>
            <a:endParaRPr b="0" i="0" sz="1100" u="none" cap="none" strike="noStrike">
              <a:solidFill>
                <a:schemeClr val="dk1"/>
              </a:solidFill>
              <a:latin typeface="Calibri"/>
              <a:ea typeface="Calibri"/>
              <a:cs typeface="Calibri"/>
              <a:sym typeface="Calibri"/>
            </a:endParaRPr>
          </a:p>
        </p:txBody>
      </p:sp>
      <p:sp>
        <p:nvSpPr>
          <p:cNvPr id="499" name="Google Shape;499;g3f73c14343f_0_528"/>
          <p:cNvSpPr/>
          <p:nvPr/>
        </p:nvSpPr>
        <p:spPr>
          <a:xfrm>
            <a:off x="1005840" y="4858512"/>
            <a:ext cx="3767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시간에 따른 변화 패턴과 변동성 모니터링</a:t>
            </a:r>
            <a:endParaRPr b="0" i="0" sz="875" u="none" cap="none" strike="noStrike">
              <a:solidFill>
                <a:schemeClr val="dk1"/>
              </a:solidFill>
              <a:latin typeface="Calibri"/>
              <a:ea typeface="Calibri"/>
              <a:cs typeface="Calibri"/>
              <a:sym typeface="Calibri"/>
            </a:endParaRPr>
          </a:p>
        </p:txBody>
      </p:sp>
      <p:pic>
        <p:nvPicPr>
          <p:cNvPr descr="/home/claude/work31/tableau_dash.png" id="500" name="Google Shape;500;g3f73c14343f_0_528"/>
          <p:cNvPicPr preferRelativeResize="0"/>
          <p:nvPr/>
        </p:nvPicPr>
        <p:blipFill rotWithShape="1">
          <a:blip r:embed="rId3">
            <a:alphaModFix/>
          </a:blip>
          <a:srcRect b="0" l="0" r="0" t="0"/>
          <a:stretch/>
        </p:blipFill>
        <p:spPr>
          <a:xfrm>
            <a:off x="6019452" y="1828800"/>
            <a:ext cx="4679074" cy="3749038"/>
          </a:xfrm>
          <a:prstGeom prst="rect">
            <a:avLst/>
          </a:prstGeom>
          <a:noFill/>
          <a:ln>
            <a:noFill/>
          </a:ln>
        </p:spPr>
      </p:pic>
      <p:sp>
        <p:nvSpPr>
          <p:cNvPr id="501" name="Google Shape;501;g3f73c14343f_0_528"/>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f73c14343f_0_528"/>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세그먼트별 CTR·CVR·AOV·ARPU의 Test 성과와 Control 대비 증감, 추이를 함께 모니터링한다</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 name="Shape 507"/>
        <p:cNvGrpSpPr/>
        <p:nvPr/>
      </p:nvGrpSpPr>
      <p:grpSpPr>
        <a:xfrm>
          <a:off x="0" y="0"/>
          <a:ext cx="0" cy="0"/>
          <a:chOff x="0" y="0"/>
          <a:chExt cx="0" cy="0"/>
        </a:xfrm>
      </p:grpSpPr>
      <p:sp>
        <p:nvSpPr>
          <p:cNvPr id="508" name="Google Shape;508;g3f73c14343f_0_483"/>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VALIDATION</a:t>
            </a:r>
            <a:endParaRPr b="0" i="0" sz="1050" u="none" cap="none" strike="noStrike">
              <a:solidFill>
                <a:schemeClr val="dk1"/>
              </a:solidFill>
              <a:latin typeface="Calibri"/>
              <a:ea typeface="Calibri"/>
              <a:cs typeface="Calibri"/>
              <a:sym typeface="Calibri"/>
            </a:endParaRPr>
          </a:p>
        </p:txBody>
      </p:sp>
      <p:sp>
        <p:nvSpPr>
          <p:cNvPr id="509" name="Google Shape;509;g3f73c14343f_0_483"/>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5-2. 세그먼트별 A/B 테스트 분석 대시보드 구축</a:t>
            </a:r>
            <a:endParaRPr b="0" i="0" sz="3000" u="none" cap="none" strike="noStrike">
              <a:solidFill>
                <a:schemeClr val="dk1"/>
              </a:solidFill>
              <a:latin typeface="Calibri"/>
              <a:ea typeface="Calibri"/>
              <a:cs typeface="Calibri"/>
              <a:sym typeface="Calibri"/>
            </a:endParaRPr>
          </a:p>
        </p:txBody>
      </p:sp>
      <p:sp>
        <p:nvSpPr>
          <p:cNvPr id="510" name="Google Shape;510;g3f73c14343f_0_483"/>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세그먼트별 A/B 결과를 탐색하고, 원천 행동지표를 기반으로 퍼널 단계별 행동 변화와 매출 효과를 비교·검증</a:t>
            </a:r>
            <a:endParaRPr b="0" i="0" sz="1275" u="none" cap="none" strike="noStrike">
              <a:solidFill>
                <a:schemeClr val="dk1"/>
              </a:solidFill>
              <a:latin typeface="Calibri"/>
              <a:ea typeface="Calibri"/>
              <a:cs typeface="Calibri"/>
              <a:sym typeface="Calibri"/>
            </a:endParaRPr>
          </a:p>
        </p:txBody>
      </p:sp>
      <p:sp>
        <p:nvSpPr>
          <p:cNvPr id="511" name="Google Shape;511;g3f73c14343f_0_483"/>
          <p:cNvSpPr/>
          <p:nvPr/>
        </p:nvSpPr>
        <p:spPr>
          <a:xfrm>
            <a:off x="566928" y="1828800"/>
            <a:ext cx="4206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550"/>
              <a:buFont typeface="Arial"/>
              <a:buNone/>
            </a:pPr>
            <a:r>
              <a:rPr b="1" i="0" lang="en-US" sz="1550" u="none" cap="none" strike="noStrike">
                <a:solidFill>
                  <a:srgbClr val="1D1D1F"/>
                </a:solidFill>
                <a:latin typeface="Arial"/>
                <a:ea typeface="Arial"/>
                <a:cs typeface="Arial"/>
                <a:sym typeface="Arial"/>
              </a:rPr>
              <a:t>대시보드 읽는 순서</a:t>
            </a:r>
            <a:endParaRPr b="0" i="0" sz="1550" u="none" cap="none" strike="noStrike">
              <a:solidFill>
                <a:schemeClr val="dk1"/>
              </a:solidFill>
              <a:latin typeface="Calibri"/>
              <a:ea typeface="Calibri"/>
              <a:cs typeface="Calibri"/>
              <a:sym typeface="Calibri"/>
            </a:endParaRPr>
          </a:p>
        </p:txBody>
      </p:sp>
      <p:cxnSp>
        <p:nvCxnSpPr>
          <p:cNvPr id="512" name="Google Shape;512;g3f73c14343f_0_483"/>
          <p:cNvCxnSpPr/>
          <p:nvPr/>
        </p:nvCxnSpPr>
        <p:spPr>
          <a:xfrm>
            <a:off x="704088" y="2407920"/>
            <a:ext cx="0" cy="2048400"/>
          </a:xfrm>
          <a:prstGeom prst="straightConnector1">
            <a:avLst/>
          </a:prstGeom>
          <a:noFill/>
          <a:ln cap="flat" cmpd="sng" w="12700">
            <a:solidFill>
              <a:srgbClr val="D2D2D7"/>
            </a:solidFill>
            <a:prstDash val="solid"/>
            <a:round/>
            <a:headEnd len="sm" w="sm" type="none"/>
            <a:tailEnd len="sm" w="sm" type="none"/>
          </a:ln>
        </p:spPr>
      </p:cxnSp>
      <p:sp>
        <p:nvSpPr>
          <p:cNvPr id="513" name="Google Shape;513;g3f73c14343f_0_483"/>
          <p:cNvSpPr/>
          <p:nvPr/>
        </p:nvSpPr>
        <p:spPr>
          <a:xfrm>
            <a:off x="566928" y="2270760"/>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3f73c14343f_0_483"/>
          <p:cNvSpPr/>
          <p:nvPr/>
        </p:nvSpPr>
        <p:spPr>
          <a:xfrm>
            <a:off x="566928" y="2270760"/>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1</a:t>
            </a:r>
            <a:endParaRPr b="0" i="0" sz="950" u="none" cap="none" strike="noStrike">
              <a:solidFill>
                <a:schemeClr val="dk1"/>
              </a:solidFill>
              <a:latin typeface="Calibri"/>
              <a:ea typeface="Calibri"/>
              <a:cs typeface="Calibri"/>
              <a:sym typeface="Calibri"/>
            </a:endParaRPr>
          </a:p>
        </p:txBody>
      </p:sp>
      <p:sp>
        <p:nvSpPr>
          <p:cNvPr id="515" name="Google Shape;515;g3f73c14343f_0_483"/>
          <p:cNvSpPr/>
          <p:nvPr/>
        </p:nvSpPr>
        <p:spPr>
          <a:xfrm>
            <a:off x="1005840" y="2243328"/>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Traffic Trend 확인</a:t>
            </a:r>
            <a:endParaRPr b="0" i="0" sz="1100" u="none" cap="none" strike="noStrike">
              <a:solidFill>
                <a:schemeClr val="dk1"/>
              </a:solidFill>
              <a:latin typeface="Calibri"/>
              <a:ea typeface="Calibri"/>
              <a:cs typeface="Calibri"/>
              <a:sym typeface="Calibri"/>
            </a:endParaRPr>
          </a:p>
        </p:txBody>
      </p:sp>
      <p:sp>
        <p:nvSpPr>
          <p:cNvPr id="516" name="Google Shape;516;g3f73c14343f_0_483"/>
          <p:cNvSpPr/>
          <p:nvPr/>
        </p:nvSpPr>
        <p:spPr>
          <a:xfrm>
            <a:off x="1005840" y="2435352"/>
            <a:ext cx="3767400" cy="274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Test/Control 유입 비율이 50:50 수준으로 유지되는지 확인</a:t>
            </a:r>
            <a:endParaRPr b="0" i="0" sz="875" u="none" cap="none" strike="noStrike">
              <a:solidFill>
                <a:schemeClr val="dk1"/>
              </a:solidFill>
              <a:latin typeface="Calibri"/>
              <a:ea typeface="Calibri"/>
              <a:cs typeface="Calibri"/>
              <a:sym typeface="Calibri"/>
            </a:endParaRPr>
          </a:p>
        </p:txBody>
      </p:sp>
      <p:sp>
        <p:nvSpPr>
          <p:cNvPr id="517" name="Google Shape;517;g3f73c14343f_0_483"/>
          <p:cNvSpPr/>
          <p:nvPr/>
        </p:nvSpPr>
        <p:spPr>
          <a:xfrm>
            <a:off x="566928" y="2782824"/>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3f73c14343f_0_483"/>
          <p:cNvSpPr/>
          <p:nvPr/>
        </p:nvSpPr>
        <p:spPr>
          <a:xfrm>
            <a:off x="566928" y="2782824"/>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2</a:t>
            </a:r>
            <a:endParaRPr b="0" i="0" sz="950" u="none" cap="none" strike="noStrike">
              <a:solidFill>
                <a:schemeClr val="dk1"/>
              </a:solidFill>
              <a:latin typeface="Calibri"/>
              <a:ea typeface="Calibri"/>
              <a:cs typeface="Calibri"/>
              <a:sym typeface="Calibri"/>
            </a:endParaRPr>
          </a:p>
        </p:txBody>
      </p:sp>
      <p:sp>
        <p:nvSpPr>
          <p:cNvPr id="519" name="Google Shape;519;g3f73c14343f_0_483"/>
          <p:cNvSpPr/>
          <p:nvPr/>
        </p:nvSpPr>
        <p:spPr>
          <a:xfrm>
            <a:off x="1005840" y="2755392"/>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분할 기준 선택</a:t>
            </a:r>
            <a:endParaRPr b="0" i="0" sz="1100" u="none" cap="none" strike="noStrike">
              <a:solidFill>
                <a:schemeClr val="dk1"/>
              </a:solidFill>
              <a:latin typeface="Calibri"/>
              <a:ea typeface="Calibri"/>
              <a:cs typeface="Calibri"/>
              <a:sym typeface="Calibri"/>
            </a:endParaRPr>
          </a:p>
        </p:txBody>
      </p:sp>
      <p:sp>
        <p:nvSpPr>
          <p:cNvPr id="520" name="Google Shape;520;g3f73c14343f_0_483"/>
          <p:cNvSpPr/>
          <p:nvPr/>
        </p:nvSpPr>
        <p:spPr>
          <a:xfrm>
            <a:off x="1005840" y="2947416"/>
            <a:ext cx="3767400" cy="274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Age · Gender · Datestamp 중 결과를 나눌 기준을 선택</a:t>
            </a:r>
            <a:endParaRPr b="0" i="0" sz="875" u="none" cap="none" strike="noStrike">
              <a:solidFill>
                <a:schemeClr val="dk1"/>
              </a:solidFill>
              <a:latin typeface="Calibri"/>
              <a:ea typeface="Calibri"/>
              <a:cs typeface="Calibri"/>
              <a:sym typeface="Calibri"/>
            </a:endParaRPr>
          </a:p>
        </p:txBody>
      </p:sp>
      <p:sp>
        <p:nvSpPr>
          <p:cNvPr id="521" name="Google Shape;521;g3f73c14343f_0_483"/>
          <p:cNvSpPr/>
          <p:nvPr/>
        </p:nvSpPr>
        <p:spPr>
          <a:xfrm>
            <a:off x="566928" y="3294888"/>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g3f73c14343f_0_483"/>
          <p:cNvSpPr/>
          <p:nvPr/>
        </p:nvSpPr>
        <p:spPr>
          <a:xfrm>
            <a:off x="566928" y="3294888"/>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3</a:t>
            </a:r>
            <a:endParaRPr b="0" i="0" sz="950" u="none" cap="none" strike="noStrike">
              <a:solidFill>
                <a:schemeClr val="dk1"/>
              </a:solidFill>
              <a:latin typeface="Calibri"/>
              <a:ea typeface="Calibri"/>
              <a:cs typeface="Calibri"/>
              <a:sym typeface="Calibri"/>
            </a:endParaRPr>
          </a:p>
        </p:txBody>
      </p:sp>
      <p:sp>
        <p:nvSpPr>
          <p:cNvPr id="523" name="Google Shape;523;g3f73c14343f_0_483"/>
          <p:cNvSpPr/>
          <p:nvPr/>
        </p:nvSpPr>
        <p:spPr>
          <a:xfrm>
            <a:off x="1005840" y="3267456"/>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조회 조건 적용</a:t>
            </a:r>
            <a:endParaRPr b="0" i="0" sz="1100" u="none" cap="none" strike="noStrike">
              <a:solidFill>
                <a:schemeClr val="dk1"/>
              </a:solidFill>
              <a:latin typeface="Calibri"/>
              <a:ea typeface="Calibri"/>
              <a:cs typeface="Calibri"/>
              <a:sym typeface="Calibri"/>
            </a:endParaRPr>
          </a:p>
        </p:txBody>
      </p:sp>
      <p:sp>
        <p:nvSpPr>
          <p:cNvPr id="524" name="Google Shape;524;g3f73c14343f_0_483"/>
          <p:cNvSpPr/>
          <p:nvPr/>
        </p:nvSpPr>
        <p:spPr>
          <a:xfrm>
            <a:off x="1005840" y="3459480"/>
            <a:ext cx="3767400" cy="274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Filter로 필요한 세그먼트 결과만 선별 조회</a:t>
            </a:r>
            <a:endParaRPr b="0" i="0" sz="875" u="none" cap="none" strike="noStrike">
              <a:solidFill>
                <a:schemeClr val="dk1"/>
              </a:solidFill>
              <a:latin typeface="Calibri"/>
              <a:ea typeface="Calibri"/>
              <a:cs typeface="Calibri"/>
              <a:sym typeface="Calibri"/>
            </a:endParaRPr>
          </a:p>
        </p:txBody>
      </p:sp>
      <p:sp>
        <p:nvSpPr>
          <p:cNvPr id="525" name="Google Shape;525;g3f73c14343f_0_483"/>
          <p:cNvSpPr/>
          <p:nvPr/>
        </p:nvSpPr>
        <p:spPr>
          <a:xfrm>
            <a:off x="566928" y="3806952"/>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3f73c14343f_0_483"/>
          <p:cNvSpPr/>
          <p:nvPr/>
        </p:nvSpPr>
        <p:spPr>
          <a:xfrm>
            <a:off x="566928" y="380695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4</a:t>
            </a:r>
            <a:endParaRPr b="0" i="0" sz="950" u="none" cap="none" strike="noStrike">
              <a:solidFill>
                <a:schemeClr val="dk1"/>
              </a:solidFill>
              <a:latin typeface="Calibri"/>
              <a:ea typeface="Calibri"/>
              <a:cs typeface="Calibri"/>
              <a:sym typeface="Calibri"/>
            </a:endParaRPr>
          </a:p>
        </p:txBody>
      </p:sp>
      <p:sp>
        <p:nvSpPr>
          <p:cNvPr id="527" name="Google Shape;527;g3f73c14343f_0_483"/>
          <p:cNvSpPr/>
          <p:nvPr/>
        </p:nvSpPr>
        <p:spPr>
          <a:xfrm>
            <a:off x="1005840" y="3779520"/>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원천 행동지표 확인</a:t>
            </a:r>
            <a:endParaRPr b="0" i="0" sz="1100" u="none" cap="none" strike="noStrike">
              <a:solidFill>
                <a:schemeClr val="dk1"/>
              </a:solidFill>
              <a:latin typeface="Calibri"/>
              <a:ea typeface="Calibri"/>
              <a:cs typeface="Calibri"/>
              <a:sym typeface="Calibri"/>
            </a:endParaRPr>
          </a:p>
        </p:txBody>
      </p:sp>
      <p:sp>
        <p:nvSpPr>
          <p:cNvPr id="528" name="Google Shape;528;g3f73c14343f_0_483"/>
          <p:cNvSpPr/>
          <p:nvPr/>
        </p:nvSpPr>
        <p:spPr>
          <a:xfrm>
            <a:off x="1005840" y="3971544"/>
            <a:ext cx="3767400" cy="274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노출 · 클릭 · 구매 · 매출 지표별 효과를 비교</a:t>
            </a:r>
            <a:endParaRPr b="0" i="0" sz="875" u="none" cap="none" strike="noStrike">
              <a:solidFill>
                <a:schemeClr val="dk1"/>
              </a:solidFill>
              <a:latin typeface="Calibri"/>
              <a:ea typeface="Calibri"/>
              <a:cs typeface="Calibri"/>
              <a:sym typeface="Calibri"/>
            </a:endParaRPr>
          </a:p>
        </p:txBody>
      </p:sp>
      <p:sp>
        <p:nvSpPr>
          <p:cNvPr id="529" name="Google Shape;529;g3f73c14343f_0_483"/>
          <p:cNvSpPr/>
          <p:nvPr/>
        </p:nvSpPr>
        <p:spPr>
          <a:xfrm>
            <a:off x="566928" y="4319016"/>
            <a:ext cx="274200" cy="274200"/>
          </a:xfrm>
          <a:prstGeom prst="ellipse">
            <a:avLst/>
          </a:prstGeom>
          <a:solidFill>
            <a:srgbClr val="FFFFFF"/>
          </a:solidFill>
          <a:ln cap="flat" cmpd="sng" w="12700">
            <a:solidFill>
              <a:srgbClr val="D2D2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f73c14343f_0_483"/>
          <p:cNvSpPr/>
          <p:nvPr/>
        </p:nvSpPr>
        <p:spPr>
          <a:xfrm>
            <a:off x="566928" y="431901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5</a:t>
            </a:r>
            <a:endParaRPr b="0" i="0" sz="950" u="none" cap="none" strike="noStrike">
              <a:solidFill>
                <a:schemeClr val="dk1"/>
              </a:solidFill>
              <a:latin typeface="Calibri"/>
              <a:ea typeface="Calibri"/>
              <a:cs typeface="Calibri"/>
              <a:sym typeface="Calibri"/>
            </a:endParaRPr>
          </a:p>
        </p:txBody>
      </p:sp>
      <p:sp>
        <p:nvSpPr>
          <p:cNvPr id="531" name="Google Shape;531;g3f73c14343f_0_483"/>
          <p:cNvSpPr/>
          <p:nvPr/>
        </p:nvSpPr>
        <p:spPr>
          <a:xfrm>
            <a:off x="1005840" y="4291584"/>
            <a:ext cx="3767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100"/>
              <a:buFont typeface="Arial"/>
              <a:buNone/>
            </a:pPr>
            <a:r>
              <a:rPr b="1" i="0" lang="en-US" sz="1100" u="none" cap="none" strike="noStrike">
                <a:solidFill>
                  <a:srgbClr val="1D1D1F"/>
                </a:solidFill>
                <a:latin typeface="Arial"/>
                <a:ea typeface="Arial"/>
                <a:cs typeface="Arial"/>
                <a:sym typeface="Arial"/>
              </a:rPr>
              <a:t>유의성 판단 — 2표본 Z검정</a:t>
            </a:r>
            <a:endParaRPr b="0" i="0" sz="1100" u="none" cap="none" strike="noStrike">
              <a:solidFill>
                <a:schemeClr val="dk1"/>
              </a:solidFill>
              <a:latin typeface="Calibri"/>
              <a:ea typeface="Calibri"/>
              <a:cs typeface="Calibri"/>
              <a:sym typeface="Calibri"/>
            </a:endParaRPr>
          </a:p>
        </p:txBody>
      </p:sp>
      <p:sp>
        <p:nvSpPr>
          <p:cNvPr id="532" name="Google Shape;532;g3f73c14343f_0_483"/>
          <p:cNvSpPr/>
          <p:nvPr/>
        </p:nvSpPr>
        <p:spPr>
          <a:xfrm>
            <a:off x="1005840" y="4483608"/>
            <a:ext cx="3767400" cy="274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7A7A7A"/>
              </a:buClr>
              <a:buSzPts val="875"/>
              <a:buFont typeface="Arial"/>
              <a:buNone/>
            </a:pPr>
            <a:r>
              <a:rPr b="0" i="0" lang="en-US" sz="875" u="none" cap="none" strike="noStrike">
                <a:solidFill>
                  <a:srgbClr val="7A7A7A"/>
                </a:solidFill>
                <a:latin typeface="Arial"/>
                <a:ea typeface="Arial"/>
                <a:cs typeface="Arial"/>
                <a:sym typeface="Arial"/>
              </a:rPr>
              <a:t>Z-score와 색상으로 유의한 증가·감소 여부를 판단</a:t>
            </a:r>
            <a:endParaRPr b="0" i="0" sz="875" u="none" cap="none" strike="noStrike">
              <a:solidFill>
                <a:schemeClr val="dk1"/>
              </a:solidFill>
              <a:latin typeface="Calibri"/>
              <a:ea typeface="Calibri"/>
              <a:cs typeface="Calibri"/>
              <a:sym typeface="Calibri"/>
            </a:endParaRPr>
          </a:p>
        </p:txBody>
      </p:sp>
      <p:sp>
        <p:nvSpPr>
          <p:cNvPr id="533" name="Google Shape;533;g3f73c14343f_0_483"/>
          <p:cNvSpPr/>
          <p:nvPr/>
        </p:nvSpPr>
        <p:spPr>
          <a:xfrm>
            <a:off x="1005840" y="4800431"/>
            <a:ext cx="818400" cy="18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1D1F"/>
              </a:buClr>
              <a:buSzPts val="900"/>
              <a:buFont typeface="Arial"/>
              <a:buNone/>
            </a:pPr>
            <a:r>
              <a:rPr b="1" i="0" lang="en-US" sz="900" u="none" cap="none" strike="noStrike">
                <a:solidFill>
                  <a:srgbClr val="1D1D1F"/>
                </a:solidFill>
                <a:latin typeface="Arial"/>
                <a:ea typeface="Arial"/>
                <a:cs typeface="Arial"/>
                <a:sym typeface="Arial"/>
              </a:rPr>
              <a:t>Control Mean</a:t>
            </a:r>
            <a:endParaRPr b="0" i="0" sz="900" u="none" cap="none" strike="noStrike">
              <a:solidFill>
                <a:schemeClr val="dk1"/>
              </a:solidFill>
              <a:latin typeface="Calibri"/>
              <a:ea typeface="Calibri"/>
              <a:cs typeface="Calibri"/>
              <a:sym typeface="Calibri"/>
            </a:endParaRPr>
          </a:p>
        </p:txBody>
      </p:sp>
      <p:sp>
        <p:nvSpPr>
          <p:cNvPr id="534" name="Google Shape;534;g3f73c14343f_0_483"/>
          <p:cNvSpPr/>
          <p:nvPr/>
        </p:nvSpPr>
        <p:spPr>
          <a:xfrm>
            <a:off x="1005840" y="5001599"/>
            <a:ext cx="818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대조군 평균</a:t>
            </a:r>
            <a:endParaRPr b="0" i="0" sz="800" u="none" cap="none" strike="noStrike">
              <a:solidFill>
                <a:schemeClr val="dk1"/>
              </a:solidFill>
              <a:latin typeface="Calibri"/>
              <a:ea typeface="Calibri"/>
              <a:cs typeface="Calibri"/>
              <a:sym typeface="Calibri"/>
            </a:endParaRPr>
          </a:p>
        </p:txBody>
      </p:sp>
      <p:cxnSp>
        <p:nvCxnSpPr>
          <p:cNvPr id="535" name="Google Shape;535;g3f73c14343f_0_483"/>
          <p:cNvCxnSpPr/>
          <p:nvPr/>
        </p:nvCxnSpPr>
        <p:spPr>
          <a:xfrm>
            <a:off x="1906524" y="4800431"/>
            <a:ext cx="0" cy="420600"/>
          </a:xfrm>
          <a:prstGeom prst="straightConnector1">
            <a:avLst/>
          </a:prstGeom>
          <a:noFill/>
          <a:ln cap="flat" cmpd="sng" w="9525">
            <a:solidFill>
              <a:srgbClr val="E0E0E0"/>
            </a:solidFill>
            <a:prstDash val="solid"/>
            <a:round/>
            <a:headEnd len="sm" w="sm" type="none"/>
            <a:tailEnd len="sm" w="sm" type="none"/>
          </a:ln>
        </p:spPr>
      </p:cxnSp>
      <p:sp>
        <p:nvSpPr>
          <p:cNvPr id="536" name="Google Shape;536;g3f73c14343f_0_483"/>
          <p:cNvSpPr/>
          <p:nvPr/>
        </p:nvSpPr>
        <p:spPr>
          <a:xfrm>
            <a:off x="1988820" y="4800431"/>
            <a:ext cx="818400" cy="18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1D1F"/>
              </a:buClr>
              <a:buSzPts val="900"/>
              <a:buFont typeface="Arial"/>
              <a:buNone/>
            </a:pPr>
            <a:r>
              <a:rPr b="1" i="0" lang="en-US" sz="900" u="none" cap="none" strike="noStrike">
                <a:solidFill>
                  <a:srgbClr val="1D1D1F"/>
                </a:solidFill>
                <a:latin typeface="Arial"/>
                <a:ea typeface="Arial"/>
                <a:cs typeface="Arial"/>
                <a:sym typeface="Arial"/>
              </a:rPr>
              <a:t>Test − Control</a:t>
            </a:r>
            <a:endParaRPr b="0" i="0" sz="900" u="none" cap="none" strike="noStrike">
              <a:solidFill>
                <a:schemeClr val="dk1"/>
              </a:solidFill>
              <a:latin typeface="Calibri"/>
              <a:ea typeface="Calibri"/>
              <a:cs typeface="Calibri"/>
              <a:sym typeface="Calibri"/>
            </a:endParaRPr>
          </a:p>
        </p:txBody>
      </p:sp>
      <p:sp>
        <p:nvSpPr>
          <p:cNvPr id="537" name="Google Shape;537;g3f73c14343f_0_483"/>
          <p:cNvSpPr/>
          <p:nvPr/>
        </p:nvSpPr>
        <p:spPr>
          <a:xfrm>
            <a:off x="1988820" y="5001599"/>
            <a:ext cx="818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평균 차이</a:t>
            </a:r>
            <a:endParaRPr b="0" i="0" sz="800" u="none" cap="none" strike="noStrike">
              <a:solidFill>
                <a:schemeClr val="dk1"/>
              </a:solidFill>
              <a:latin typeface="Calibri"/>
              <a:ea typeface="Calibri"/>
              <a:cs typeface="Calibri"/>
              <a:sym typeface="Calibri"/>
            </a:endParaRPr>
          </a:p>
        </p:txBody>
      </p:sp>
      <p:cxnSp>
        <p:nvCxnSpPr>
          <p:cNvPr id="538" name="Google Shape;538;g3f73c14343f_0_483"/>
          <p:cNvCxnSpPr/>
          <p:nvPr/>
        </p:nvCxnSpPr>
        <p:spPr>
          <a:xfrm>
            <a:off x="2889504" y="4800431"/>
            <a:ext cx="0" cy="420600"/>
          </a:xfrm>
          <a:prstGeom prst="straightConnector1">
            <a:avLst/>
          </a:prstGeom>
          <a:noFill/>
          <a:ln cap="flat" cmpd="sng" w="9525">
            <a:solidFill>
              <a:srgbClr val="E0E0E0"/>
            </a:solidFill>
            <a:prstDash val="solid"/>
            <a:round/>
            <a:headEnd len="sm" w="sm" type="none"/>
            <a:tailEnd len="sm" w="sm" type="none"/>
          </a:ln>
        </p:spPr>
      </p:cxnSp>
      <p:sp>
        <p:nvSpPr>
          <p:cNvPr id="539" name="Google Shape;539;g3f73c14343f_0_483"/>
          <p:cNvSpPr/>
          <p:nvPr/>
        </p:nvSpPr>
        <p:spPr>
          <a:xfrm>
            <a:off x="2971800" y="4800431"/>
            <a:ext cx="818400" cy="18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1D1F"/>
              </a:buClr>
              <a:buSzPts val="900"/>
              <a:buFont typeface="Arial"/>
              <a:buNone/>
            </a:pPr>
            <a:r>
              <a:rPr b="1" i="0" lang="en-US" sz="900" u="none" cap="none" strike="noStrike">
                <a:solidFill>
                  <a:srgbClr val="1D1D1F"/>
                </a:solidFill>
                <a:latin typeface="Arial"/>
                <a:ea typeface="Arial"/>
                <a:cs typeface="Arial"/>
                <a:sym typeface="Arial"/>
              </a:rPr>
              <a:t>Uplift</a:t>
            </a:r>
            <a:endParaRPr b="0" i="0" sz="900" u="none" cap="none" strike="noStrike">
              <a:solidFill>
                <a:schemeClr val="dk1"/>
              </a:solidFill>
              <a:latin typeface="Calibri"/>
              <a:ea typeface="Calibri"/>
              <a:cs typeface="Calibri"/>
              <a:sym typeface="Calibri"/>
            </a:endParaRPr>
          </a:p>
        </p:txBody>
      </p:sp>
      <p:sp>
        <p:nvSpPr>
          <p:cNvPr id="540" name="Google Shape;540;g3f73c14343f_0_483"/>
          <p:cNvSpPr/>
          <p:nvPr/>
        </p:nvSpPr>
        <p:spPr>
          <a:xfrm>
            <a:off x="2971800" y="5001599"/>
            <a:ext cx="818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상대 변화율</a:t>
            </a:r>
            <a:endParaRPr b="0" i="0" sz="800" u="none" cap="none" strike="noStrike">
              <a:solidFill>
                <a:schemeClr val="dk1"/>
              </a:solidFill>
              <a:latin typeface="Calibri"/>
              <a:ea typeface="Calibri"/>
              <a:cs typeface="Calibri"/>
              <a:sym typeface="Calibri"/>
            </a:endParaRPr>
          </a:p>
        </p:txBody>
      </p:sp>
      <p:cxnSp>
        <p:nvCxnSpPr>
          <p:cNvPr id="541" name="Google Shape;541;g3f73c14343f_0_483"/>
          <p:cNvCxnSpPr/>
          <p:nvPr/>
        </p:nvCxnSpPr>
        <p:spPr>
          <a:xfrm>
            <a:off x="3872484" y="4800431"/>
            <a:ext cx="0" cy="420600"/>
          </a:xfrm>
          <a:prstGeom prst="straightConnector1">
            <a:avLst/>
          </a:prstGeom>
          <a:noFill/>
          <a:ln cap="flat" cmpd="sng" w="9525">
            <a:solidFill>
              <a:srgbClr val="E0E0E0"/>
            </a:solidFill>
            <a:prstDash val="solid"/>
            <a:round/>
            <a:headEnd len="sm" w="sm" type="none"/>
            <a:tailEnd len="sm" w="sm" type="none"/>
          </a:ln>
        </p:spPr>
      </p:cxnSp>
      <p:sp>
        <p:nvSpPr>
          <p:cNvPr id="542" name="Google Shape;542;g3f73c14343f_0_483"/>
          <p:cNvSpPr/>
          <p:nvPr/>
        </p:nvSpPr>
        <p:spPr>
          <a:xfrm>
            <a:off x="3954780" y="4800431"/>
            <a:ext cx="818400" cy="18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1D1F"/>
              </a:buClr>
              <a:buSzPts val="900"/>
              <a:buFont typeface="Arial"/>
              <a:buNone/>
            </a:pPr>
            <a:r>
              <a:rPr b="1" i="0" lang="en-US" sz="900" u="none" cap="none" strike="noStrike">
                <a:solidFill>
                  <a:srgbClr val="1D1D1F"/>
                </a:solidFill>
                <a:latin typeface="Arial"/>
                <a:ea typeface="Arial"/>
                <a:cs typeface="Arial"/>
                <a:sym typeface="Arial"/>
              </a:rPr>
              <a:t>Z-score</a:t>
            </a:r>
            <a:endParaRPr b="0" i="0" sz="900" u="none" cap="none" strike="noStrike">
              <a:solidFill>
                <a:schemeClr val="dk1"/>
              </a:solidFill>
              <a:latin typeface="Calibri"/>
              <a:ea typeface="Calibri"/>
              <a:cs typeface="Calibri"/>
              <a:sym typeface="Calibri"/>
            </a:endParaRPr>
          </a:p>
        </p:txBody>
      </p:sp>
      <p:sp>
        <p:nvSpPr>
          <p:cNvPr id="543" name="Google Shape;543;g3f73c14343f_0_483"/>
          <p:cNvSpPr/>
          <p:nvPr/>
        </p:nvSpPr>
        <p:spPr>
          <a:xfrm>
            <a:off x="3954780" y="5001599"/>
            <a:ext cx="818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00"/>
              <a:buFont typeface="Arial"/>
              <a:buNone/>
            </a:pPr>
            <a:r>
              <a:rPr b="0" i="0" lang="en-US" sz="800" u="none" cap="none" strike="noStrike">
                <a:solidFill>
                  <a:srgbClr val="7A7A7A"/>
                </a:solidFill>
                <a:latin typeface="Arial"/>
                <a:ea typeface="Arial"/>
                <a:cs typeface="Arial"/>
                <a:sym typeface="Arial"/>
              </a:rPr>
              <a:t>유의성 판단</a:t>
            </a:r>
            <a:endParaRPr b="0" i="0" sz="800" u="none" cap="none" strike="noStrike">
              <a:solidFill>
                <a:schemeClr val="dk1"/>
              </a:solidFill>
              <a:latin typeface="Calibri"/>
              <a:ea typeface="Calibri"/>
              <a:cs typeface="Calibri"/>
              <a:sym typeface="Calibri"/>
            </a:endParaRPr>
          </a:p>
        </p:txBody>
      </p:sp>
      <p:pic>
        <p:nvPicPr>
          <p:cNvPr descr="/home/claude/work30/ab_dashboard.png" id="544" name="Google Shape;544;g3f73c14343f_0_483"/>
          <p:cNvPicPr preferRelativeResize="0"/>
          <p:nvPr/>
        </p:nvPicPr>
        <p:blipFill rotWithShape="1">
          <a:blip r:embed="rId3">
            <a:alphaModFix/>
          </a:blip>
          <a:srcRect b="0" l="0" r="0" t="0"/>
          <a:stretch/>
        </p:blipFill>
        <p:spPr>
          <a:xfrm>
            <a:off x="6013471" y="1828800"/>
            <a:ext cx="4691032" cy="3749039"/>
          </a:xfrm>
          <a:prstGeom prst="rect">
            <a:avLst/>
          </a:prstGeom>
          <a:noFill/>
          <a:ln>
            <a:noFill/>
          </a:ln>
        </p:spPr>
      </p:pic>
      <p:sp>
        <p:nvSpPr>
          <p:cNvPr id="545" name="Google Shape;545;g3f73c14343f_0_483"/>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g3f73c14343f_0_483"/>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Segment by로 결과를 나누고 Filter로 조회한 뒤, 퍼널 단계별 Test-Control 차이의 유의성을 검증</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g3f733dfa63e_2_175"/>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SEGMENT</a:t>
            </a:r>
            <a:endParaRPr b="0" i="0" sz="1050" u="none" cap="none" strike="noStrike">
              <a:solidFill>
                <a:schemeClr val="dk1"/>
              </a:solidFill>
              <a:latin typeface="Calibri"/>
              <a:ea typeface="Calibri"/>
              <a:cs typeface="Calibri"/>
              <a:sym typeface="Calibri"/>
            </a:endParaRPr>
          </a:p>
        </p:txBody>
      </p:sp>
      <p:sp>
        <p:nvSpPr>
          <p:cNvPr id="553" name="Google Shape;553;g3f733dfa63e_2_175"/>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6-1. 연령대별 A/B 테스트 인사이트</a:t>
            </a:r>
            <a:endParaRPr b="0" i="0" sz="3000" u="none" cap="none" strike="noStrike">
              <a:solidFill>
                <a:schemeClr val="dk1"/>
              </a:solidFill>
              <a:latin typeface="Calibri"/>
              <a:ea typeface="Calibri"/>
              <a:cs typeface="Calibri"/>
              <a:sym typeface="Calibri"/>
            </a:endParaRPr>
          </a:p>
        </p:txBody>
      </p:sp>
      <p:sp>
        <p:nvSpPr>
          <p:cNvPr id="554" name="Google Shape;554;g3f733dfa63e_2_175"/>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연령대별 Uplift와 통계적 유의성을 함께 비교해 효과의 방향과 집중 구간을 확인</a:t>
            </a:r>
            <a:endParaRPr b="0" i="0" sz="1275" u="none" cap="none" strike="noStrike">
              <a:solidFill>
                <a:schemeClr val="dk1"/>
              </a:solidFill>
              <a:latin typeface="Calibri"/>
              <a:ea typeface="Calibri"/>
              <a:cs typeface="Calibri"/>
              <a:sym typeface="Calibri"/>
            </a:endParaRPr>
          </a:p>
        </p:txBody>
      </p:sp>
      <p:sp>
        <p:nvSpPr>
          <p:cNvPr id="555" name="Google Shape;555;g3f733dfa63e_2_175"/>
          <p:cNvSpPr/>
          <p:nvPr/>
        </p:nvSpPr>
        <p:spPr>
          <a:xfrm>
            <a:off x="9613087" y="420624"/>
            <a:ext cx="20118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7A7A"/>
              </a:buClr>
              <a:buSzPts val="1200"/>
              <a:buFont typeface="Arial"/>
              <a:buNone/>
            </a:pPr>
            <a:r>
              <a:rPr b="0" i="1" lang="en-US" sz="1200" u="none" cap="none" strike="noStrike">
                <a:solidFill>
                  <a:srgbClr val="7A7A7A"/>
                </a:solidFill>
                <a:latin typeface="Arial"/>
                <a:ea typeface="Arial"/>
                <a:cs typeface="Arial"/>
                <a:sym typeface="Arial"/>
              </a:rPr>
              <a:t>Age</a:t>
            </a:r>
            <a:endParaRPr b="0" i="0" sz="1200" u="none" cap="none" strike="noStrike">
              <a:solidFill>
                <a:schemeClr val="dk1"/>
              </a:solidFill>
              <a:latin typeface="Calibri"/>
              <a:ea typeface="Calibri"/>
              <a:cs typeface="Calibri"/>
              <a:sym typeface="Calibri"/>
            </a:endParaRPr>
          </a:p>
        </p:txBody>
      </p:sp>
      <p:sp>
        <p:nvSpPr>
          <p:cNvPr id="556" name="Google Shape;556;g3f733dfa63e_2_175"/>
          <p:cNvSpPr/>
          <p:nvPr/>
        </p:nvSpPr>
        <p:spPr>
          <a:xfrm>
            <a:off x="566928" y="2020824"/>
            <a:ext cx="4937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400"/>
              <a:buFont typeface="Arial"/>
              <a:buNone/>
            </a:pPr>
            <a:r>
              <a:rPr b="1" i="0" lang="en-US" sz="1550" u="none" cap="none" strike="noStrike">
                <a:solidFill>
                  <a:srgbClr val="1D1D1F"/>
                </a:solidFill>
                <a:latin typeface="Arial"/>
                <a:ea typeface="Arial"/>
                <a:cs typeface="Arial"/>
                <a:sym typeface="Arial"/>
              </a:rPr>
              <a:t>연령대별 Uplift 결과</a:t>
            </a:r>
            <a:endParaRPr b="0" i="0" sz="1550" u="none" cap="none" strike="noStrike">
              <a:solidFill>
                <a:schemeClr val="dk1"/>
              </a:solidFill>
              <a:latin typeface="Calibri"/>
              <a:ea typeface="Calibri"/>
              <a:cs typeface="Calibri"/>
              <a:sym typeface="Calibri"/>
            </a:endParaRPr>
          </a:p>
        </p:txBody>
      </p:sp>
      <p:sp>
        <p:nvSpPr>
          <p:cNvPr id="557" name="Google Shape;557;g3f733dfa63e_2_175"/>
          <p:cNvSpPr/>
          <p:nvPr/>
        </p:nvSpPr>
        <p:spPr>
          <a:xfrm>
            <a:off x="566928" y="2353056"/>
            <a:ext cx="493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25"/>
              <a:buFont typeface="Arial"/>
              <a:buNone/>
            </a:pPr>
            <a:r>
              <a:rPr b="0" i="0" lang="en-US" sz="825" u="none" cap="none" strike="noStrike">
                <a:solidFill>
                  <a:srgbClr val="7A7A7A"/>
                </a:solidFill>
                <a:latin typeface="Arial"/>
                <a:ea typeface="Arial"/>
                <a:cs typeface="Arial"/>
                <a:sym typeface="Arial"/>
              </a:rPr>
              <a:t>숫자는 Uplift, 색상은 Z-score 유의성 기준</a:t>
            </a:r>
            <a:endParaRPr b="0" i="0" sz="825" u="none" cap="none" strike="noStrike">
              <a:solidFill>
                <a:schemeClr val="dk1"/>
              </a:solidFill>
              <a:latin typeface="Calibri"/>
              <a:ea typeface="Calibri"/>
              <a:cs typeface="Calibri"/>
              <a:sym typeface="Calibri"/>
            </a:endParaRPr>
          </a:p>
        </p:txBody>
      </p:sp>
      <p:sp>
        <p:nvSpPr>
          <p:cNvPr id="558" name="Google Shape;558;g3f733dfa63e_2_175"/>
          <p:cNvSpPr/>
          <p:nvPr/>
        </p:nvSpPr>
        <p:spPr>
          <a:xfrm>
            <a:off x="566928" y="2551176"/>
            <a:ext cx="1185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950"/>
              <a:buFont typeface="Arial"/>
              <a:buNone/>
            </a:pPr>
            <a:r>
              <a:rPr b="1" i="0" lang="en-US" sz="950" u="none" cap="none" strike="noStrike">
                <a:solidFill>
                  <a:srgbClr val="7A7A7A"/>
                </a:solidFill>
                <a:latin typeface="Arial"/>
                <a:ea typeface="Arial"/>
                <a:cs typeface="Arial"/>
                <a:sym typeface="Arial"/>
              </a:rPr>
              <a:t>지표</a:t>
            </a:r>
            <a:endParaRPr b="0" i="0" sz="950" u="none" cap="none" strike="noStrike">
              <a:solidFill>
                <a:schemeClr val="dk1"/>
              </a:solidFill>
              <a:latin typeface="Calibri"/>
              <a:ea typeface="Calibri"/>
              <a:cs typeface="Calibri"/>
              <a:sym typeface="Calibri"/>
            </a:endParaRPr>
          </a:p>
        </p:txBody>
      </p:sp>
      <p:sp>
        <p:nvSpPr>
          <p:cNvPr id="559" name="Google Shape;559;g3f733dfa63e_2_175"/>
          <p:cNvSpPr/>
          <p:nvPr/>
        </p:nvSpPr>
        <p:spPr>
          <a:xfrm>
            <a:off x="1751990" y="262737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0–19</a:t>
            </a:r>
            <a:endParaRPr b="0" i="0" sz="950" u="none" cap="none" strike="noStrike">
              <a:solidFill>
                <a:schemeClr val="dk1"/>
              </a:solidFill>
              <a:latin typeface="Calibri"/>
              <a:ea typeface="Calibri"/>
              <a:cs typeface="Calibri"/>
              <a:sym typeface="Calibri"/>
            </a:endParaRPr>
          </a:p>
        </p:txBody>
      </p:sp>
      <p:sp>
        <p:nvSpPr>
          <p:cNvPr id="560" name="Google Shape;560;g3f733dfa63e_2_175"/>
          <p:cNvSpPr/>
          <p:nvPr/>
        </p:nvSpPr>
        <p:spPr>
          <a:xfrm>
            <a:off x="3002890" y="262737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20–49</a:t>
            </a:r>
            <a:endParaRPr b="0" i="0" sz="950" u="none" cap="none" strike="noStrike">
              <a:solidFill>
                <a:schemeClr val="dk1"/>
              </a:solidFill>
              <a:latin typeface="Calibri"/>
              <a:ea typeface="Calibri"/>
              <a:cs typeface="Calibri"/>
              <a:sym typeface="Calibri"/>
            </a:endParaRPr>
          </a:p>
        </p:txBody>
      </p:sp>
      <p:sp>
        <p:nvSpPr>
          <p:cNvPr id="561" name="Google Shape;561;g3f733dfa63e_2_175"/>
          <p:cNvSpPr/>
          <p:nvPr/>
        </p:nvSpPr>
        <p:spPr>
          <a:xfrm>
            <a:off x="4253789" y="262737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50+</a:t>
            </a:r>
            <a:endParaRPr b="0" i="0" sz="950" u="none" cap="none" strike="noStrike">
              <a:solidFill>
                <a:schemeClr val="dk1"/>
              </a:solidFill>
              <a:latin typeface="Calibri"/>
              <a:ea typeface="Calibri"/>
              <a:cs typeface="Calibri"/>
              <a:sym typeface="Calibri"/>
            </a:endParaRPr>
          </a:p>
        </p:txBody>
      </p:sp>
      <p:cxnSp>
        <p:nvCxnSpPr>
          <p:cNvPr id="562" name="Google Shape;562;g3f733dfa63e_2_175"/>
          <p:cNvCxnSpPr/>
          <p:nvPr/>
        </p:nvCxnSpPr>
        <p:spPr>
          <a:xfrm>
            <a:off x="566928" y="2938272"/>
            <a:ext cx="4937700" cy="0"/>
          </a:xfrm>
          <a:prstGeom prst="straightConnector1">
            <a:avLst/>
          </a:prstGeom>
          <a:noFill/>
          <a:ln cap="flat" cmpd="sng" w="12700">
            <a:solidFill>
              <a:srgbClr val="E0E0E0"/>
            </a:solidFill>
            <a:prstDash val="solid"/>
            <a:round/>
            <a:headEnd len="sm" w="sm" type="none"/>
            <a:tailEnd len="sm" w="sm" type="none"/>
          </a:ln>
        </p:spPr>
      </p:cxnSp>
      <p:sp>
        <p:nvSpPr>
          <p:cNvPr id="563" name="Google Shape;563;g3f733dfa63e_2_175"/>
          <p:cNvSpPr/>
          <p:nvPr/>
        </p:nvSpPr>
        <p:spPr>
          <a:xfrm>
            <a:off x="566928" y="2862072"/>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Impression</a:t>
            </a:r>
            <a:endParaRPr b="0" i="0" sz="1050" u="none" cap="none" strike="noStrike">
              <a:solidFill>
                <a:schemeClr val="dk1"/>
              </a:solidFill>
              <a:latin typeface="Calibri"/>
              <a:ea typeface="Calibri"/>
              <a:cs typeface="Calibri"/>
              <a:sym typeface="Calibri"/>
            </a:endParaRPr>
          </a:p>
        </p:txBody>
      </p:sp>
      <p:sp>
        <p:nvSpPr>
          <p:cNvPr id="564" name="Google Shape;564;g3f733dfa63e_2_175"/>
          <p:cNvSpPr/>
          <p:nvPr/>
        </p:nvSpPr>
        <p:spPr>
          <a:xfrm>
            <a:off x="1751990" y="293827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+0.65%</a:t>
            </a:r>
            <a:endParaRPr b="0" i="0" sz="1100" u="none" cap="none" strike="noStrike">
              <a:solidFill>
                <a:schemeClr val="dk1"/>
              </a:solidFill>
              <a:latin typeface="Calibri"/>
              <a:ea typeface="Calibri"/>
              <a:cs typeface="Calibri"/>
              <a:sym typeface="Calibri"/>
            </a:endParaRPr>
          </a:p>
        </p:txBody>
      </p:sp>
      <p:sp>
        <p:nvSpPr>
          <p:cNvPr id="565" name="Google Shape;565;g3f733dfa63e_2_175"/>
          <p:cNvSpPr/>
          <p:nvPr/>
        </p:nvSpPr>
        <p:spPr>
          <a:xfrm>
            <a:off x="3002890" y="293827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+0.37%</a:t>
            </a:r>
            <a:endParaRPr b="0" i="0" sz="1100" u="none" cap="none" strike="noStrike">
              <a:solidFill>
                <a:schemeClr val="dk1"/>
              </a:solidFill>
              <a:latin typeface="Calibri"/>
              <a:ea typeface="Calibri"/>
              <a:cs typeface="Calibri"/>
              <a:sym typeface="Calibri"/>
            </a:endParaRPr>
          </a:p>
        </p:txBody>
      </p:sp>
      <p:sp>
        <p:nvSpPr>
          <p:cNvPr id="566" name="Google Shape;566;g3f733dfa63e_2_175"/>
          <p:cNvSpPr/>
          <p:nvPr/>
        </p:nvSpPr>
        <p:spPr>
          <a:xfrm>
            <a:off x="4253789" y="293827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−0.37%</a:t>
            </a:r>
            <a:endParaRPr b="0" i="0" sz="1100" u="none" cap="none" strike="noStrike">
              <a:solidFill>
                <a:schemeClr val="dk1"/>
              </a:solidFill>
              <a:latin typeface="Calibri"/>
              <a:ea typeface="Calibri"/>
              <a:cs typeface="Calibri"/>
              <a:sym typeface="Calibri"/>
            </a:endParaRPr>
          </a:p>
        </p:txBody>
      </p:sp>
      <p:cxnSp>
        <p:nvCxnSpPr>
          <p:cNvPr id="567" name="Google Shape;567;g3f733dfa63e_2_175"/>
          <p:cNvCxnSpPr/>
          <p:nvPr/>
        </p:nvCxnSpPr>
        <p:spPr>
          <a:xfrm>
            <a:off x="566928" y="3358896"/>
            <a:ext cx="4937700" cy="0"/>
          </a:xfrm>
          <a:prstGeom prst="straightConnector1">
            <a:avLst/>
          </a:prstGeom>
          <a:noFill/>
          <a:ln cap="flat" cmpd="sng" w="9525">
            <a:solidFill>
              <a:srgbClr val="E0E0E0"/>
            </a:solidFill>
            <a:prstDash val="solid"/>
            <a:round/>
            <a:headEnd len="sm" w="sm" type="none"/>
            <a:tailEnd len="sm" w="sm" type="none"/>
          </a:ln>
        </p:spPr>
      </p:cxnSp>
      <p:sp>
        <p:nvSpPr>
          <p:cNvPr id="568" name="Google Shape;568;g3f733dfa63e_2_175"/>
          <p:cNvSpPr/>
          <p:nvPr/>
        </p:nvSpPr>
        <p:spPr>
          <a:xfrm>
            <a:off x="566928" y="3282696"/>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Click</a:t>
            </a:r>
            <a:endParaRPr b="0" i="0" sz="1050" u="none" cap="none" strike="noStrike">
              <a:solidFill>
                <a:schemeClr val="dk1"/>
              </a:solidFill>
              <a:latin typeface="Calibri"/>
              <a:ea typeface="Calibri"/>
              <a:cs typeface="Calibri"/>
              <a:sym typeface="Calibri"/>
            </a:endParaRPr>
          </a:p>
        </p:txBody>
      </p:sp>
      <p:sp>
        <p:nvSpPr>
          <p:cNvPr id="569" name="Google Shape;569;g3f733dfa63e_2_175"/>
          <p:cNvSpPr/>
          <p:nvPr/>
        </p:nvSpPr>
        <p:spPr>
          <a:xfrm>
            <a:off x="1751990" y="335889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rgbClr val="0066CC"/>
                </a:solidFill>
                <a:latin typeface="Arial"/>
                <a:ea typeface="Arial"/>
                <a:cs typeface="Arial"/>
                <a:sym typeface="Arial"/>
              </a:rPr>
              <a:t>▲ +3.46%</a:t>
            </a:r>
            <a:endParaRPr b="0" i="0" sz="1100" u="none" cap="none" strike="noStrike">
              <a:solidFill>
                <a:schemeClr val="dk1"/>
              </a:solidFill>
              <a:latin typeface="Calibri"/>
              <a:ea typeface="Calibri"/>
              <a:cs typeface="Calibri"/>
              <a:sym typeface="Calibri"/>
            </a:endParaRPr>
          </a:p>
        </p:txBody>
      </p:sp>
      <p:sp>
        <p:nvSpPr>
          <p:cNvPr id="570" name="Google Shape;570;g3f733dfa63e_2_175"/>
          <p:cNvSpPr/>
          <p:nvPr/>
        </p:nvSpPr>
        <p:spPr>
          <a:xfrm>
            <a:off x="3002890" y="335889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−0.55%</a:t>
            </a:r>
            <a:endParaRPr b="0" i="0" sz="1100" u="none" cap="none" strike="noStrike">
              <a:solidFill>
                <a:schemeClr val="dk1"/>
              </a:solidFill>
              <a:latin typeface="Calibri"/>
              <a:ea typeface="Calibri"/>
              <a:cs typeface="Calibri"/>
              <a:sym typeface="Calibri"/>
            </a:endParaRPr>
          </a:p>
        </p:txBody>
      </p:sp>
      <p:sp>
        <p:nvSpPr>
          <p:cNvPr id="571" name="Google Shape;571;g3f733dfa63e_2_175"/>
          <p:cNvSpPr/>
          <p:nvPr/>
        </p:nvSpPr>
        <p:spPr>
          <a:xfrm>
            <a:off x="4253789" y="335889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+0.58%</a:t>
            </a:r>
            <a:endParaRPr b="0" i="0" sz="1100" u="none" cap="none" strike="noStrike">
              <a:solidFill>
                <a:schemeClr val="dk1"/>
              </a:solidFill>
              <a:latin typeface="Calibri"/>
              <a:ea typeface="Calibri"/>
              <a:cs typeface="Calibri"/>
              <a:sym typeface="Calibri"/>
            </a:endParaRPr>
          </a:p>
        </p:txBody>
      </p:sp>
      <p:cxnSp>
        <p:nvCxnSpPr>
          <p:cNvPr id="572" name="Google Shape;572;g3f733dfa63e_2_175"/>
          <p:cNvCxnSpPr/>
          <p:nvPr/>
        </p:nvCxnSpPr>
        <p:spPr>
          <a:xfrm>
            <a:off x="566928" y="3779520"/>
            <a:ext cx="4937700" cy="0"/>
          </a:xfrm>
          <a:prstGeom prst="straightConnector1">
            <a:avLst/>
          </a:prstGeom>
          <a:noFill/>
          <a:ln cap="flat" cmpd="sng" w="9525">
            <a:solidFill>
              <a:srgbClr val="E0E0E0"/>
            </a:solidFill>
            <a:prstDash val="solid"/>
            <a:round/>
            <a:headEnd len="sm" w="sm" type="none"/>
            <a:tailEnd len="sm" w="sm" type="none"/>
          </a:ln>
        </p:spPr>
      </p:cxnSp>
      <p:sp>
        <p:nvSpPr>
          <p:cNvPr id="573" name="Google Shape;573;g3f733dfa63e_2_175"/>
          <p:cNvSpPr/>
          <p:nvPr/>
        </p:nvSpPr>
        <p:spPr>
          <a:xfrm>
            <a:off x="566928" y="3703320"/>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Purchase</a:t>
            </a:r>
            <a:endParaRPr b="0" i="0" sz="1050" u="none" cap="none" strike="noStrike">
              <a:solidFill>
                <a:schemeClr val="dk1"/>
              </a:solidFill>
              <a:latin typeface="Calibri"/>
              <a:ea typeface="Calibri"/>
              <a:cs typeface="Calibri"/>
              <a:sym typeface="Calibri"/>
            </a:endParaRPr>
          </a:p>
        </p:txBody>
      </p:sp>
      <p:sp>
        <p:nvSpPr>
          <p:cNvPr id="574" name="Google Shape;574;g3f733dfa63e_2_175"/>
          <p:cNvSpPr/>
          <p:nvPr/>
        </p:nvSpPr>
        <p:spPr>
          <a:xfrm>
            <a:off x="1751990" y="377952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rgbClr val="0066CC"/>
                </a:solidFill>
                <a:latin typeface="Arial"/>
                <a:ea typeface="Arial"/>
                <a:cs typeface="Arial"/>
                <a:sym typeface="Arial"/>
              </a:rPr>
              <a:t>▲ +5.21%</a:t>
            </a:r>
            <a:endParaRPr b="0" i="0" sz="1100" u="none" cap="none" strike="noStrike">
              <a:solidFill>
                <a:schemeClr val="dk1"/>
              </a:solidFill>
              <a:latin typeface="Calibri"/>
              <a:ea typeface="Calibri"/>
              <a:cs typeface="Calibri"/>
              <a:sym typeface="Calibri"/>
            </a:endParaRPr>
          </a:p>
        </p:txBody>
      </p:sp>
      <p:sp>
        <p:nvSpPr>
          <p:cNvPr id="575" name="Google Shape;575;g3f733dfa63e_2_175"/>
          <p:cNvSpPr/>
          <p:nvPr/>
        </p:nvSpPr>
        <p:spPr>
          <a:xfrm>
            <a:off x="3002890" y="377952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100"/>
              <a:buFont typeface="Arial"/>
              <a:buNone/>
            </a:pPr>
            <a:r>
              <a:rPr b="1" i="0" lang="en-US" sz="1100" u="none" cap="none" strike="noStrike">
                <a:solidFill>
                  <a:srgbClr val="C90000"/>
                </a:solidFill>
                <a:latin typeface="Arial"/>
                <a:ea typeface="Arial"/>
                <a:cs typeface="Arial"/>
                <a:sym typeface="Arial"/>
              </a:rPr>
              <a:t>▼ −2.94%</a:t>
            </a:r>
            <a:endParaRPr b="0" i="0" sz="1100" u="none" cap="none" strike="noStrike">
              <a:solidFill>
                <a:srgbClr val="C90000"/>
              </a:solidFill>
              <a:latin typeface="Calibri"/>
              <a:ea typeface="Calibri"/>
              <a:cs typeface="Calibri"/>
              <a:sym typeface="Calibri"/>
            </a:endParaRPr>
          </a:p>
        </p:txBody>
      </p:sp>
      <p:sp>
        <p:nvSpPr>
          <p:cNvPr id="576" name="Google Shape;576;g3f733dfa63e_2_175"/>
          <p:cNvSpPr/>
          <p:nvPr/>
        </p:nvSpPr>
        <p:spPr>
          <a:xfrm>
            <a:off x="4253789" y="377952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−1.20%</a:t>
            </a:r>
            <a:endParaRPr b="0" i="0" sz="1100" u="none" cap="none" strike="noStrike">
              <a:solidFill>
                <a:schemeClr val="dk1"/>
              </a:solidFill>
              <a:latin typeface="Calibri"/>
              <a:ea typeface="Calibri"/>
              <a:cs typeface="Calibri"/>
              <a:sym typeface="Calibri"/>
            </a:endParaRPr>
          </a:p>
        </p:txBody>
      </p:sp>
      <p:cxnSp>
        <p:nvCxnSpPr>
          <p:cNvPr id="577" name="Google Shape;577;g3f733dfa63e_2_175"/>
          <p:cNvCxnSpPr/>
          <p:nvPr/>
        </p:nvCxnSpPr>
        <p:spPr>
          <a:xfrm>
            <a:off x="566928" y="4200144"/>
            <a:ext cx="4937700" cy="0"/>
          </a:xfrm>
          <a:prstGeom prst="straightConnector1">
            <a:avLst/>
          </a:prstGeom>
          <a:noFill/>
          <a:ln cap="flat" cmpd="sng" w="9525">
            <a:solidFill>
              <a:srgbClr val="E0E0E0"/>
            </a:solidFill>
            <a:prstDash val="solid"/>
            <a:round/>
            <a:headEnd len="sm" w="sm" type="none"/>
            <a:tailEnd len="sm" w="sm" type="none"/>
          </a:ln>
        </p:spPr>
      </p:cxnSp>
      <p:sp>
        <p:nvSpPr>
          <p:cNvPr id="578" name="Google Shape;578;g3f733dfa63e_2_175"/>
          <p:cNvSpPr/>
          <p:nvPr/>
        </p:nvSpPr>
        <p:spPr>
          <a:xfrm>
            <a:off x="566928" y="4123944"/>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Revenue</a:t>
            </a:r>
            <a:endParaRPr b="0" i="0" sz="1050" u="none" cap="none" strike="noStrike">
              <a:solidFill>
                <a:schemeClr val="dk1"/>
              </a:solidFill>
              <a:latin typeface="Calibri"/>
              <a:ea typeface="Calibri"/>
              <a:cs typeface="Calibri"/>
              <a:sym typeface="Calibri"/>
            </a:endParaRPr>
          </a:p>
        </p:txBody>
      </p:sp>
      <p:sp>
        <p:nvSpPr>
          <p:cNvPr id="579" name="Google Shape;579;g3f733dfa63e_2_175"/>
          <p:cNvSpPr/>
          <p:nvPr/>
        </p:nvSpPr>
        <p:spPr>
          <a:xfrm>
            <a:off x="1751990" y="420014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rgbClr val="0066CC"/>
                </a:solidFill>
                <a:latin typeface="Arial"/>
                <a:ea typeface="Arial"/>
                <a:cs typeface="Arial"/>
                <a:sym typeface="Arial"/>
              </a:rPr>
              <a:t>▲ +7.19%</a:t>
            </a:r>
            <a:endParaRPr b="0" i="0" sz="1100" u="none" cap="none" strike="noStrike">
              <a:solidFill>
                <a:schemeClr val="dk1"/>
              </a:solidFill>
              <a:latin typeface="Calibri"/>
              <a:ea typeface="Calibri"/>
              <a:cs typeface="Calibri"/>
              <a:sym typeface="Calibri"/>
            </a:endParaRPr>
          </a:p>
        </p:txBody>
      </p:sp>
      <p:sp>
        <p:nvSpPr>
          <p:cNvPr id="580" name="Google Shape;580;g3f733dfa63e_2_175"/>
          <p:cNvSpPr/>
          <p:nvPr/>
        </p:nvSpPr>
        <p:spPr>
          <a:xfrm>
            <a:off x="3002890" y="420014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100"/>
              <a:buFont typeface="Arial"/>
              <a:buNone/>
            </a:pPr>
            <a:r>
              <a:rPr b="1" i="0" lang="en-US" sz="1100" u="none" cap="none" strike="noStrike">
                <a:solidFill>
                  <a:srgbClr val="C90000"/>
                </a:solidFill>
                <a:latin typeface="Arial"/>
                <a:ea typeface="Arial"/>
                <a:cs typeface="Arial"/>
                <a:sym typeface="Arial"/>
              </a:rPr>
              <a:t>▼ −3.07%</a:t>
            </a:r>
            <a:endParaRPr b="0" i="0" sz="1100" u="none" cap="none" strike="noStrike">
              <a:solidFill>
                <a:srgbClr val="C90000"/>
              </a:solidFill>
              <a:latin typeface="Calibri"/>
              <a:ea typeface="Calibri"/>
              <a:cs typeface="Calibri"/>
              <a:sym typeface="Calibri"/>
            </a:endParaRPr>
          </a:p>
        </p:txBody>
      </p:sp>
      <p:sp>
        <p:nvSpPr>
          <p:cNvPr id="581" name="Google Shape;581;g3f733dfa63e_2_175"/>
          <p:cNvSpPr/>
          <p:nvPr/>
        </p:nvSpPr>
        <p:spPr>
          <a:xfrm>
            <a:off x="4253789" y="420014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−0.78%</a:t>
            </a:r>
            <a:endParaRPr b="0" i="0" sz="1100" u="none" cap="none" strike="noStrike">
              <a:solidFill>
                <a:schemeClr val="dk1"/>
              </a:solidFill>
              <a:latin typeface="Calibri"/>
              <a:ea typeface="Calibri"/>
              <a:cs typeface="Calibri"/>
              <a:sym typeface="Calibri"/>
            </a:endParaRPr>
          </a:p>
        </p:txBody>
      </p:sp>
      <p:sp>
        <p:nvSpPr>
          <p:cNvPr id="582" name="Google Shape;582;g3f733dfa63e_2_175"/>
          <p:cNvSpPr/>
          <p:nvPr/>
        </p:nvSpPr>
        <p:spPr>
          <a:xfrm>
            <a:off x="6099048" y="2020824"/>
            <a:ext cx="5754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인사이트 해석</a:t>
            </a:r>
            <a:endParaRPr b="0" i="0" sz="1575" u="none" cap="none" strike="noStrike">
              <a:solidFill>
                <a:schemeClr val="dk1"/>
              </a:solidFill>
              <a:latin typeface="Calibri"/>
              <a:ea typeface="Calibri"/>
              <a:cs typeface="Calibri"/>
              <a:sym typeface="Calibri"/>
            </a:endParaRPr>
          </a:p>
        </p:txBody>
      </p:sp>
      <p:sp>
        <p:nvSpPr>
          <p:cNvPr id="583" name="Google Shape;583;g3f733dfa63e_2_175"/>
          <p:cNvSpPr/>
          <p:nvPr/>
        </p:nvSpPr>
        <p:spPr>
          <a:xfrm>
            <a:off x="6099048" y="2557272"/>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f733dfa63e_2_175"/>
          <p:cNvSpPr/>
          <p:nvPr/>
        </p:nvSpPr>
        <p:spPr>
          <a:xfrm>
            <a:off x="6464808" y="2538984"/>
            <a:ext cx="5388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0–19세: 하단 퍼널까지 이어진 긍정 효과</a:t>
            </a:r>
            <a:endParaRPr b="0" i="0" sz="1300" u="none" cap="none" strike="noStrike">
              <a:solidFill>
                <a:schemeClr val="dk1"/>
              </a:solidFill>
              <a:latin typeface="Calibri"/>
              <a:ea typeface="Calibri"/>
              <a:cs typeface="Calibri"/>
              <a:sym typeface="Calibri"/>
            </a:endParaRPr>
          </a:p>
        </p:txBody>
      </p:sp>
      <p:sp>
        <p:nvSpPr>
          <p:cNvPr id="585" name="Google Shape;585;g3f733dfa63e_2_175"/>
          <p:cNvSpPr/>
          <p:nvPr/>
        </p:nvSpPr>
        <p:spPr>
          <a:xfrm>
            <a:off x="6464808" y="2795016"/>
            <a:ext cx="5388600" cy="4023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노출량에는 유의한 변화가 없었지만 클릭이 증가했고 이후 구매와 매출까지 유의한 증가가 이어짐</a:t>
            </a:r>
            <a:endParaRPr b="0" i="0" sz="95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 변경된 실험 요소가 0-19세 사용자 행동과 매출 성과에 긍정적 영향을 준 것으로 해석</a:t>
            </a:r>
            <a:endParaRPr b="0" i="0" sz="950" u="none" cap="none" strike="noStrike">
              <a:solidFill>
                <a:schemeClr val="dk1"/>
              </a:solidFill>
              <a:latin typeface="Calibri"/>
              <a:ea typeface="Calibri"/>
              <a:cs typeface="Calibri"/>
              <a:sym typeface="Calibri"/>
            </a:endParaRPr>
          </a:p>
        </p:txBody>
      </p:sp>
      <p:sp>
        <p:nvSpPr>
          <p:cNvPr id="586" name="Google Shape;586;g3f733dfa63e_2_175"/>
          <p:cNvSpPr/>
          <p:nvPr/>
        </p:nvSpPr>
        <p:spPr>
          <a:xfrm>
            <a:off x="6099048" y="3361944"/>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587" name="Google Shape;587;g3f733dfa63e_2_175"/>
          <p:cNvSpPr/>
          <p:nvPr/>
        </p:nvSpPr>
        <p:spPr>
          <a:xfrm>
            <a:off x="6464808" y="3343656"/>
            <a:ext cx="5388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248"/>
              </a:buClr>
              <a:buSzPts val="1300"/>
              <a:buFont typeface="Arial"/>
              <a:buNone/>
            </a:pPr>
            <a:r>
              <a:rPr b="1" i="0" lang="en-US" sz="1300" u="none" cap="none" strike="noStrike">
                <a:solidFill>
                  <a:srgbClr val="C90000"/>
                </a:solidFill>
                <a:latin typeface="Arial"/>
                <a:ea typeface="Arial"/>
                <a:cs typeface="Arial"/>
                <a:sym typeface="Arial"/>
              </a:rPr>
              <a:t>20–49세: 구매·매출 단계의 부정 효과</a:t>
            </a:r>
            <a:endParaRPr b="0" i="0" sz="1300" u="none" cap="none" strike="noStrike">
              <a:solidFill>
                <a:srgbClr val="C90000"/>
              </a:solidFill>
              <a:latin typeface="Calibri"/>
              <a:ea typeface="Calibri"/>
              <a:cs typeface="Calibri"/>
              <a:sym typeface="Calibri"/>
            </a:endParaRPr>
          </a:p>
        </p:txBody>
      </p:sp>
      <p:sp>
        <p:nvSpPr>
          <p:cNvPr id="588" name="Google Shape;588;g3f733dfa63e_2_175"/>
          <p:cNvSpPr/>
          <p:nvPr/>
        </p:nvSpPr>
        <p:spPr>
          <a:xfrm>
            <a:off x="6464808" y="3599688"/>
            <a:ext cx="5388600" cy="4023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노출량과 클릭에는 유의한 변화가 없었지만 구매와 매출은 유의하게 감소함.</a:t>
            </a:r>
            <a:endParaRPr b="0" i="0" sz="95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 변경된 실험 요소가 20–49세 이용자의 구매 행동과 매출 성과에 부정적인 영향을 미쳤을 가능성이 있음.</a:t>
            </a:r>
            <a:endParaRPr b="0" i="0" sz="950" u="none" cap="none" strike="noStrike">
              <a:solidFill>
                <a:schemeClr val="dk1"/>
              </a:solidFill>
              <a:latin typeface="Calibri"/>
              <a:ea typeface="Calibri"/>
              <a:cs typeface="Calibri"/>
              <a:sym typeface="Calibri"/>
            </a:endParaRPr>
          </a:p>
        </p:txBody>
      </p:sp>
      <p:sp>
        <p:nvSpPr>
          <p:cNvPr id="589" name="Google Shape;589;g3f733dfa63e_2_175"/>
          <p:cNvSpPr/>
          <p:nvPr/>
        </p:nvSpPr>
        <p:spPr>
          <a:xfrm>
            <a:off x="6099048" y="4166616"/>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g3f733dfa63e_2_175"/>
          <p:cNvSpPr/>
          <p:nvPr/>
        </p:nvSpPr>
        <p:spPr>
          <a:xfrm>
            <a:off x="6464808" y="4148328"/>
            <a:ext cx="5388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300"/>
              <a:buFont typeface="Arial"/>
              <a:buNone/>
            </a:pPr>
            <a:r>
              <a:rPr b="1" i="0" lang="en-US" sz="1300" u="none" cap="none" strike="noStrike">
                <a:solidFill>
                  <a:srgbClr val="7A7A7A"/>
                </a:solidFill>
                <a:latin typeface="Arial"/>
                <a:ea typeface="Arial"/>
                <a:cs typeface="Arial"/>
                <a:sym typeface="Arial"/>
              </a:rPr>
              <a:t>50+: 뚜렷한 효과 없음</a:t>
            </a:r>
            <a:endParaRPr b="0" i="0" sz="1300" u="none" cap="none" strike="noStrike">
              <a:solidFill>
                <a:schemeClr val="dk1"/>
              </a:solidFill>
              <a:latin typeface="Calibri"/>
              <a:ea typeface="Calibri"/>
              <a:cs typeface="Calibri"/>
              <a:sym typeface="Calibri"/>
            </a:endParaRPr>
          </a:p>
        </p:txBody>
      </p:sp>
      <p:sp>
        <p:nvSpPr>
          <p:cNvPr id="591" name="Google Shape;591;g3f733dfa63e_2_175"/>
          <p:cNvSpPr/>
          <p:nvPr/>
        </p:nvSpPr>
        <p:spPr>
          <a:xfrm>
            <a:off x="6464808" y="4404360"/>
            <a:ext cx="5388600" cy="22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4개 원천 행동지표 모두 통계적으로 유의한 변화가 확인되지 않음.</a:t>
            </a:r>
            <a:endParaRPr b="0" i="0" sz="950" u="none" cap="none" strike="noStrike">
              <a:solidFill>
                <a:schemeClr val="dk1"/>
              </a:solidFill>
              <a:latin typeface="Calibri"/>
              <a:ea typeface="Calibri"/>
              <a:cs typeface="Calibri"/>
              <a:sym typeface="Calibri"/>
            </a:endParaRPr>
          </a:p>
        </p:txBody>
      </p:sp>
      <p:sp>
        <p:nvSpPr>
          <p:cNvPr id="592" name="Google Shape;592;g3f733dfa63e_2_175"/>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3f733dfa63e_2_175"/>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통계 검정 결과, 0–19세는 긍정 효과, 20–49세는 구매·매출 감소, 50세 이상은 유의한 변화 없음</a:t>
            </a:r>
            <a:endParaRPr b="0" i="0" sz="1300" u="none" cap="none" strike="noStrike">
              <a:solidFill>
                <a:schemeClr val="dk1"/>
              </a:solidFill>
              <a:latin typeface="Calibri"/>
              <a:ea typeface="Calibri"/>
              <a:cs typeface="Calibri"/>
              <a:sym typeface="Calibri"/>
            </a:endParaRPr>
          </a:p>
        </p:txBody>
      </p:sp>
      <p:sp>
        <p:nvSpPr>
          <p:cNvPr id="594" name="Google Shape;594;g3f733dfa63e_2_175"/>
          <p:cNvSpPr/>
          <p:nvPr/>
        </p:nvSpPr>
        <p:spPr>
          <a:xfrm>
            <a:off x="6099048" y="2557272"/>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000"/>
              <a:buFont typeface="Arial"/>
              <a:buNone/>
            </a:pPr>
            <a:r>
              <a:rPr b="1" i="0" lang="en-US" sz="1000" u="none" cap="none" strike="noStrike">
                <a:solidFill>
                  <a:srgbClr val="1D1D1F"/>
                </a:solidFill>
                <a:latin typeface="Arial"/>
                <a:ea typeface="Arial"/>
                <a:cs typeface="Arial"/>
                <a:sym typeface="Arial"/>
              </a:rPr>
              <a:t>1</a:t>
            </a:r>
            <a:endParaRPr b="0" i="0" sz="1000" u="none" cap="none" strike="noStrike">
              <a:solidFill>
                <a:srgbClr val="1D1D1F"/>
              </a:solidFill>
              <a:latin typeface="Calibri"/>
              <a:ea typeface="Calibri"/>
              <a:cs typeface="Calibri"/>
              <a:sym typeface="Calibri"/>
            </a:endParaRPr>
          </a:p>
        </p:txBody>
      </p:sp>
      <p:sp>
        <p:nvSpPr>
          <p:cNvPr id="595" name="Google Shape;595;g3f733dfa63e_2_175"/>
          <p:cNvSpPr/>
          <p:nvPr/>
        </p:nvSpPr>
        <p:spPr>
          <a:xfrm>
            <a:off x="6099048" y="3361944"/>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000"/>
              <a:buFont typeface="Arial"/>
              <a:buNone/>
            </a:pPr>
            <a:r>
              <a:rPr b="1" i="0" lang="en-US" sz="1000" u="none" cap="none" strike="noStrike">
                <a:solidFill>
                  <a:schemeClr val="dk1"/>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596" name="Google Shape;596;g3f733dfa63e_2_175"/>
          <p:cNvSpPr/>
          <p:nvPr/>
        </p:nvSpPr>
        <p:spPr>
          <a:xfrm>
            <a:off x="6099048" y="4166616"/>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1" i="0" lang="en-US" sz="1000" u="none" cap="none" strike="noStrike">
                <a:solidFill>
                  <a:schemeClr val="dk1"/>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g3f733dfa63e_2_224"/>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SEGMENT</a:t>
            </a:r>
            <a:endParaRPr b="0" i="0" sz="1050" u="none" cap="none" strike="noStrike">
              <a:solidFill>
                <a:schemeClr val="dk1"/>
              </a:solidFill>
              <a:latin typeface="Calibri"/>
              <a:ea typeface="Calibri"/>
              <a:cs typeface="Calibri"/>
              <a:sym typeface="Calibri"/>
            </a:endParaRPr>
          </a:p>
        </p:txBody>
      </p:sp>
      <p:sp>
        <p:nvSpPr>
          <p:cNvPr id="603" name="Google Shape;603;g3f733dfa63e_2_224"/>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6-2. 성별 A/B 테스트 인사이트</a:t>
            </a:r>
            <a:endParaRPr b="0" i="0" sz="3000" u="none" cap="none" strike="noStrike">
              <a:solidFill>
                <a:schemeClr val="dk1"/>
              </a:solidFill>
              <a:latin typeface="Calibri"/>
              <a:ea typeface="Calibri"/>
              <a:cs typeface="Calibri"/>
              <a:sym typeface="Calibri"/>
            </a:endParaRPr>
          </a:p>
        </p:txBody>
      </p:sp>
      <p:sp>
        <p:nvSpPr>
          <p:cNvPr id="604" name="Google Shape;604;g3f733dfa63e_2_224"/>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성별 Uplift와 통계적 유의성을 비교해 퍼널 어느 단계에서 차이가 발생했는지 확인</a:t>
            </a:r>
            <a:endParaRPr b="0" i="0" sz="1275" u="none" cap="none" strike="noStrike">
              <a:solidFill>
                <a:schemeClr val="dk1"/>
              </a:solidFill>
              <a:latin typeface="Calibri"/>
              <a:ea typeface="Calibri"/>
              <a:cs typeface="Calibri"/>
              <a:sym typeface="Calibri"/>
            </a:endParaRPr>
          </a:p>
        </p:txBody>
      </p:sp>
      <p:sp>
        <p:nvSpPr>
          <p:cNvPr id="605" name="Google Shape;605;g3f733dfa63e_2_224"/>
          <p:cNvSpPr/>
          <p:nvPr/>
        </p:nvSpPr>
        <p:spPr>
          <a:xfrm>
            <a:off x="9613087" y="420624"/>
            <a:ext cx="20118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7A7A"/>
              </a:buClr>
              <a:buSzPts val="1200"/>
              <a:buFont typeface="Arial"/>
              <a:buNone/>
            </a:pPr>
            <a:r>
              <a:rPr b="0" i="1" lang="en-US" sz="1200" u="none" cap="none" strike="noStrike">
                <a:solidFill>
                  <a:srgbClr val="7A7A7A"/>
                </a:solidFill>
                <a:latin typeface="Arial"/>
                <a:ea typeface="Arial"/>
                <a:cs typeface="Arial"/>
                <a:sym typeface="Arial"/>
              </a:rPr>
              <a:t>Gender</a:t>
            </a:r>
            <a:endParaRPr b="0" i="0" sz="1200" u="none" cap="none" strike="noStrike">
              <a:solidFill>
                <a:schemeClr val="dk1"/>
              </a:solidFill>
              <a:latin typeface="Calibri"/>
              <a:ea typeface="Calibri"/>
              <a:cs typeface="Calibri"/>
              <a:sym typeface="Calibri"/>
            </a:endParaRPr>
          </a:p>
        </p:txBody>
      </p:sp>
      <p:sp>
        <p:nvSpPr>
          <p:cNvPr id="606" name="Google Shape;606;g3f733dfa63e_2_224"/>
          <p:cNvSpPr/>
          <p:nvPr/>
        </p:nvSpPr>
        <p:spPr>
          <a:xfrm>
            <a:off x="566928" y="2020824"/>
            <a:ext cx="4937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400"/>
              <a:buFont typeface="Arial"/>
              <a:buNone/>
            </a:pPr>
            <a:r>
              <a:rPr b="1" i="0" lang="en-US" sz="1550" u="none" cap="none" strike="noStrike">
                <a:solidFill>
                  <a:srgbClr val="1D1D1F"/>
                </a:solidFill>
                <a:latin typeface="Arial"/>
                <a:ea typeface="Arial"/>
                <a:cs typeface="Arial"/>
                <a:sym typeface="Arial"/>
              </a:rPr>
              <a:t>성별 Uplift 결과</a:t>
            </a:r>
            <a:endParaRPr b="0" i="0" sz="1550" u="none" cap="none" strike="noStrike">
              <a:solidFill>
                <a:schemeClr val="dk1"/>
              </a:solidFill>
              <a:latin typeface="Calibri"/>
              <a:ea typeface="Calibri"/>
              <a:cs typeface="Calibri"/>
              <a:sym typeface="Calibri"/>
            </a:endParaRPr>
          </a:p>
        </p:txBody>
      </p:sp>
      <p:sp>
        <p:nvSpPr>
          <p:cNvPr id="607" name="Google Shape;607;g3f733dfa63e_2_224"/>
          <p:cNvSpPr/>
          <p:nvPr/>
        </p:nvSpPr>
        <p:spPr>
          <a:xfrm>
            <a:off x="566928" y="2353056"/>
            <a:ext cx="493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25"/>
              <a:buFont typeface="Arial"/>
              <a:buNone/>
            </a:pPr>
            <a:r>
              <a:rPr b="0" i="0" lang="en-US" sz="825" u="none" cap="none" strike="noStrike">
                <a:solidFill>
                  <a:srgbClr val="7A7A7A"/>
                </a:solidFill>
                <a:latin typeface="Arial"/>
                <a:ea typeface="Arial"/>
                <a:cs typeface="Arial"/>
                <a:sym typeface="Arial"/>
              </a:rPr>
              <a:t>숫자는 Uplift, 색상은 Z-score 유의성 기준</a:t>
            </a:r>
            <a:endParaRPr b="0" i="0" sz="825" u="none" cap="none" strike="noStrike">
              <a:solidFill>
                <a:schemeClr val="dk1"/>
              </a:solidFill>
              <a:latin typeface="Calibri"/>
              <a:ea typeface="Calibri"/>
              <a:cs typeface="Calibri"/>
              <a:sym typeface="Calibri"/>
            </a:endParaRPr>
          </a:p>
        </p:txBody>
      </p:sp>
      <p:sp>
        <p:nvSpPr>
          <p:cNvPr id="608" name="Google Shape;608;g3f733dfa63e_2_224"/>
          <p:cNvSpPr/>
          <p:nvPr/>
        </p:nvSpPr>
        <p:spPr>
          <a:xfrm>
            <a:off x="566928" y="2627376"/>
            <a:ext cx="1185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950"/>
              <a:buFont typeface="Arial"/>
              <a:buNone/>
            </a:pPr>
            <a:r>
              <a:rPr b="1" i="0" lang="en-US" sz="950" u="none" cap="none" strike="noStrike">
                <a:solidFill>
                  <a:srgbClr val="7A7A7A"/>
                </a:solidFill>
                <a:latin typeface="Arial"/>
                <a:ea typeface="Arial"/>
                <a:cs typeface="Arial"/>
                <a:sym typeface="Arial"/>
              </a:rPr>
              <a:t>지표</a:t>
            </a:r>
            <a:endParaRPr b="0" i="0" sz="950" u="none" cap="none" strike="noStrike">
              <a:solidFill>
                <a:schemeClr val="dk1"/>
              </a:solidFill>
              <a:latin typeface="Calibri"/>
              <a:ea typeface="Calibri"/>
              <a:cs typeface="Calibri"/>
              <a:sym typeface="Calibri"/>
            </a:endParaRPr>
          </a:p>
        </p:txBody>
      </p:sp>
      <p:sp>
        <p:nvSpPr>
          <p:cNvPr id="609" name="Google Shape;609;g3f733dfa63e_2_224"/>
          <p:cNvSpPr/>
          <p:nvPr/>
        </p:nvSpPr>
        <p:spPr>
          <a:xfrm>
            <a:off x="1751990" y="262737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Female</a:t>
            </a:r>
            <a:endParaRPr b="0" i="0" sz="950" u="none" cap="none" strike="noStrike">
              <a:solidFill>
                <a:schemeClr val="dk1"/>
              </a:solidFill>
              <a:latin typeface="Calibri"/>
              <a:ea typeface="Calibri"/>
              <a:cs typeface="Calibri"/>
              <a:sym typeface="Calibri"/>
            </a:endParaRPr>
          </a:p>
        </p:txBody>
      </p:sp>
      <p:sp>
        <p:nvSpPr>
          <p:cNvPr id="610" name="Google Shape;610;g3f733dfa63e_2_224"/>
          <p:cNvSpPr/>
          <p:nvPr/>
        </p:nvSpPr>
        <p:spPr>
          <a:xfrm>
            <a:off x="3002890" y="262737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Male</a:t>
            </a:r>
            <a:endParaRPr b="0" i="0" sz="950" u="none" cap="none" strike="noStrike">
              <a:solidFill>
                <a:schemeClr val="dk1"/>
              </a:solidFill>
              <a:latin typeface="Calibri"/>
              <a:ea typeface="Calibri"/>
              <a:cs typeface="Calibri"/>
              <a:sym typeface="Calibri"/>
            </a:endParaRPr>
          </a:p>
        </p:txBody>
      </p:sp>
      <p:sp>
        <p:nvSpPr>
          <p:cNvPr id="611" name="Google Shape;611;g3f733dfa63e_2_224"/>
          <p:cNvSpPr/>
          <p:nvPr/>
        </p:nvSpPr>
        <p:spPr>
          <a:xfrm>
            <a:off x="4253789" y="262737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Undefined</a:t>
            </a:r>
            <a:endParaRPr b="0" i="0" sz="950" u="none" cap="none" strike="noStrike">
              <a:solidFill>
                <a:schemeClr val="dk1"/>
              </a:solidFill>
              <a:latin typeface="Calibri"/>
              <a:ea typeface="Calibri"/>
              <a:cs typeface="Calibri"/>
              <a:sym typeface="Calibri"/>
            </a:endParaRPr>
          </a:p>
        </p:txBody>
      </p:sp>
      <p:cxnSp>
        <p:nvCxnSpPr>
          <p:cNvPr id="612" name="Google Shape;612;g3f733dfa63e_2_224"/>
          <p:cNvCxnSpPr/>
          <p:nvPr/>
        </p:nvCxnSpPr>
        <p:spPr>
          <a:xfrm>
            <a:off x="566928" y="2938272"/>
            <a:ext cx="4937700" cy="0"/>
          </a:xfrm>
          <a:prstGeom prst="straightConnector1">
            <a:avLst/>
          </a:prstGeom>
          <a:noFill/>
          <a:ln cap="flat" cmpd="sng" w="12700">
            <a:solidFill>
              <a:srgbClr val="E0E0E0"/>
            </a:solidFill>
            <a:prstDash val="solid"/>
            <a:round/>
            <a:headEnd len="sm" w="sm" type="none"/>
            <a:tailEnd len="sm" w="sm" type="none"/>
          </a:ln>
        </p:spPr>
      </p:cxnSp>
      <p:sp>
        <p:nvSpPr>
          <p:cNvPr id="613" name="Google Shape;613;g3f733dfa63e_2_224"/>
          <p:cNvSpPr/>
          <p:nvPr/>
        </p:nvSpPr>
        <p:spPr>
          <a:xfrm>
            <a:off x="566928" y="2938272"/>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Impression</a:t>
            </a:r>
            <a:endParaRPr b="0" i="0" sz="1050" u="none" cap="none" strike="noStrike">
              <a:solidFill>
                <a:schemeClr val="dk1"/>
              </a:solidFill>
              <a:latin typeface="Calibri"/>
              <a:ea typeface="Calibri"/>
              <a:cs typeface="Calibri"/>
              <a:sym typeface="Calibri"/>
            </a:endParaRPr>
          </a:p>
        </p:txBody>
      </p:sp>
      <p:sp>
        <p:nvSpPr>
          <p:cNvPr id="614" name="Google Shape;614;g3f733dfa63e_2_224"/>
          <p:cNvSpPr/>
          <p:nvPr/>
        </p:nvSpPr>
        <p:spPr>
          <a:xfrm>
            <a:off x="1751990" y="293827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−1.63%</a:t>
            </a:r>
            <a:endParaRPr b="0" i="0" sz="1100" u="none" cap="none" strike="noStrike">
              <a:solidFill>
                <a:schemeClr val="dk1"/>
              </a:solidFill>
              <a:latin typeface="Calibri"/>
              <a:ea typeface="Calibri"/>
              <a:cs typeface="Calibri"/>
              <a:sym typeface="Calibri"/>
            </a:endParaRPr>
          </a:p>
        </p:txBody>
      </p:sp>
      <p:sp>
        <p:nvSpPr>
          <p:cNvPr id="615" name="Google Shape;615;g3f733dfa63e_2_224"/>
          <p:cNvSpPr/>
          <p:nvPr/>
        </p:nvSpPr>
        <p:spPr>
          <a:xfrm>
            <a:off x="3002890" y="293827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rgbClr val="0066CC"/>
                </a:solidFill>
                <a:latin typeface="Arial"/>
                <a:ea typeface="Arial"/>
                <a:cs typeface="Arial"/>
                <a:sym typeface="Arial"/>
              </a:rPr>
              <a:t>▲ +2.96%</a:t>
            </a:r>
            <a:endParaRPr b="0" i="0" sz="1100" u="none" cap="none" strike="noStrike">
              <a:solidFill>
                <a:schemeClr val="dk1"/>
              </a:solidFill>
              <a:latin typeface="Calibri"/>
              <a:ea typeface="Calibri"/>
              <a:cs typeface="Calibri"/>
              <a:sym typeface="Calibri"/>
            </a:endParaRPr>
          </a:p>
        </p:txBody>
      </p:sp>
      <p:sp>
        <p:nvSpPr>
          <p:cNvPr id="616" name="Google Shape;616;g3f733dfa63e_2_224"/>
          <p:cNvSpPr/>
          <p:nvPr/>
        </p:nvSpPr>
        <p:spPr>
          <a:xfrm>
            <a:off x="4253789" y="293827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+0.46%</a:t>
            </a:r>
            <a:endParaRPr b="0" i="0" sz="1100" u="none" cap="none" strike="noStrike">
              <a:solidFill>
                <a:schemeClr val="dk1"/>
              </a:solidFill>
              <a:latin typeface="Calibri"/>
              <a:ea typeface="Calibri"/>
              <a:cs typeface="Calibri"/>
              <a:sym typeface="Calibri"/>
            </a:endParaRPr>
          </a:p>
        </p:txBody>
      </p:sp>
      <p:cxnSp>
        <p:nvCxnSpPr>
          <p:cNvPr id="617" name="Google Shape;617;g3f733dfa63e_2_224"/>
          <p:cNvCxnSpPr/>
          <p:nvPr/>
        </p:nvCxnSpPr>
        <p:spPr>
          <a:xfrm>
            <a:off x="566928" y="3358896"/>
            <a:ext cx="4937700" cy="0"/>
          </a:xfrm>
          <a:prstGeom prst="straightConnector1">
            <a:avLst/>
          </a:prstGeom>
          <a:noFill/>
          <a:ln cap="flat" cmpd="sng" w="9525">
            <a:solidFill>
              <a:srgbClr val="E0E0E0"/>
            </a:solidFill>
            <a:prstDash val="solid"/>
            <a:round/>
            <a:headEnd len="sm" w="sm" type="none"/>
            <a:tailEnd len="sm" w="sm" type="none"/>
          </a:ln>
        </p:spPr>
      </p:cxnSp>
      <p:sp>
        <p:nvSpPr>
          <p:cNvPr id="618" name="Google Shape;618;g3f733dfa63e_2_224"/>
          <p:cNvSpPr/>
          <p:nvPr/>
        </p:nvSpPr>
        <p:spPr>
          <a:xfrm>
            <a:off x="566928" y="3358896"/>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Click</a:t>
            </a:r>
            <a:endParaRPr b="0" i="0" sz="1050" u="none" cap="none" strike="noStrike">
              <a:solidFill>
                <a:schemeClr val="dk1"/>
              </a:solidFill>
              <a:latin typeface="Calibri"/>
              <a:ea typeface="Calibri"/>
              <a:cs typeface="Calibri"/>
              <a:sym typeface="Calibri"/>
            </a:endParaRPr>
          </a:p>
        </p:txBody>
      </p:sp>
      <p:sp>
        <p:nvSpPr>
          <p:cNvPr id="619" name="Google Shape;619;g3f733dfa63e_2_224"/>
          <p:cNvSpPr/>
          <p:nvPr/>
        </p:nvSpPr>
        <p:spPr>
          <a:xfrm>
            <a:off x="1751990" y="335889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−1.47%</a:t>
            </a:r>
            <a:endParaRPr b="0" i="0" sz="1100" u="none" cap="none" strike="noStrike">
              <a:solidFill>
                <a:schemeClr val="dk1"/>
              </a:solidFill>
              <a:latin typeface="Calibri"/>
              <a:ea typeface="Calibri"/>
              <a:cs typeface="Calibri"/>
              <a:sym typeface="Calibri"/>
            </a:endParaRPr>
          </a:p>
        </p:txBody>
      </p:sp>
      <p:sp>
        <p:nvSpPr>
          <p:cNvPr id="620" name="Google Shape;620;g3f733dfa63e_2_224"/>
          <p:cNvSpPr/>
          <p:nvPr/>
        </p:nvSpPr>
        <p:spPr>
          <a:xfrm>
            <a:off x="3002890" y="335889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rgbClr val="0066CC"/>
                </a:solidFill>
                <a:latin typeface="Arial"/>
                <a:ea typeface="Arial"/>
                <a:cs typeface="Arial"/>
                <a:sym typeface="Arial"/>
              </a:rPr>
              <a:t>▲ +3.48%</a:t>
            </a:r>
            <a:endParaRPr b="0" i="0" sz="1100" u="none" cap="none" strike="noStrike">
              <a:solidFill>
                <a:schemeClr val="dk1"/>
              </a:solidFill>
              <a:latin typeface="Calibri"/>
              <a:ea typeface="Calibri"/>
              <a:cs typeface="Calibri"/>
              <a:sym typeface="Calibri"/>
            </a:endParaRPr>
          </a:p>
        </p:txBody>
      </p:sp>
      <p:sp>
        <p:nvSpPr>
          <p:cNvPr id="621" name="Google Shape;621;g3f733dfa63e_2_224"/>
          <p:cNvSpPr/>
          <p:nvPr/>
        </p:nvSpPr>
        <p:spPr>
          <a:xfrm>
            <a:off x="4253789" y="335889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+1.25%</a:t>
            </a:r>
            <a:endParaRPr b="0" i="0" sz="1100" u="none" cap="none" strike="noStrike">
              <a:solidFill>
                <a:schemeClr val="dk1"/>
              </a:solidFill>
              <a:latin typeface="Calibri"/>
              <a:ea typeface="Calibri"/>
              <a:cs typeface="Calibri"/>
              <a:sym typeface="Calibri"/>
            </a:endParaRPr>
          </a:p>
        </p:txBody>
      </p:sp>
      <p:cxnSp>
        <p:nvCxnSpPr>
          <p:cNvPr id="622" name="Google Shape;622;g3f733dfa63e_2_224"/>
          <p:cNvCxnSpPr/>
          <p:nvPr/>
        </p:nvCxnSpPr>
        <p:spPr>
          <a:xfrm>
            <a:off x="566928" y="3779520"/>
            <a:ext cx="4937700" cy="0"/>
          </a:xfrm>
          <a:prstGeom prst="straightConnector1">
            <a:avLst/>
          </a:prstGeom>
          <a:noFill/>
          <a:ln cap="flat" cmpd="sng" w="9525">
            <a:solidFill>
              <a:srgbClr val="E0E0E0"/>
            </a:solidFill>
            <a:prstDash val="solid"/>
            <a:round/>
            <a:headEnd len="sm" w="sm" type="none"/>
            <a:tailEnd len="sm" w="sm" type="none"/>
          </a:ln>
        </p:spPr>
      </p:cxnSp>
      <p:sp>
        <p:nvSpPr>
          <p:cNvPr id="623" name="Google Shape;623;g3f733dfa63e_2_224"/>
          <p:cNvSpPr/>
          <p:nvPr/>
        </p:nvSpPr>
        <p:spPr>
          <a:xfrm>
            <a:off x="566928" y="3779520"/>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Purchase</a:t>
            </a:r>
            <a:endParaRPr b="0" i="0" sz="1050" u="none" cap="none" strike="noStrike">
              <a:solidFill>
                <a:schemeClr val="dk1"/>
              </a:solidFill>
              <a:latin typeface="Calibri"/>
              <a:ea typeface="Calibri"/>
              <a:cs typeface="Calibri"/>
              <a:sym typeface="Calibri"/>
            </a:endParaRPr>
          </a:p>
        </p:txBody>
      </p:sp>
      <p:sp>
        <p:nvSpPr>
          <p:cNvPr id="624" name="Google Shape;624;g3f733dfa63e_2_224"/>
          <p:cNvSpPr/>
          <p:nvPr/>
        </p:nvSpPr>
        <p:spPr>
          <a:xfrm>
            <a:off x="1751990" y="377952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100"/>
              <a:buFont typeface="Arial"/>
              <a:buNone/>
            </a:pPr>
            <a:r>
              <a:rPr b="1" i="0" lang="en-US" sz="1100" u="none" cap="none" strike="noStrike">
                <a:solidFill>
                  <a:srgbClr val="C90000"/>
                </a:solidFill>
                <a:latin typeface="Arial"/>
                <a:ea typeface="Arial"/>
                <a:cs typeface="Arial"/>
                <a:sym typeface="Arial"/>
              </a:rPr>
              <a:t>▼ −3.48%</a:t>
            </a:r>
            <a:endParaRPr b="0" i="0" sz="1100" u="none" cap="none" strike="noStrike">
              <a:solidFill>
                <a:srgbClr val="C90000"/>
              </a:solidFill>
              <a:latin typeface="Calibri"/>
              <a:ea typeface="Calibri"/>
              <a:cs typeface="Calibri"/>
              <a:sym typeface="Calibri"/>
            </a:endParaRPr>
          </a:p>
        </p:txBody>
      </p:sp>
      <p:sp>
        <p:nvSpPr>
          <p:cNvPr id="625" name="Google Shape;625;g3f733dfa63e_2_224"/>
          <p:cNvSpPr/>
          <p:nvPr/>
        </p:nvSpPr>
        <p:spPr>
          <a:xfrm>
            <a:off x="3002890" y="377952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+1.86%</a:t>
            </a:r>
            <a:endParaRPr b="0" i="0" sz="1100" u="none" cap="none" strike="noStrike">
              <a:solidFill>
                <a:schemeClr val="dk1"/>
              </a:solidFill>
              <a:latin typeface="Calibri"/>
              <a:ea typeface="Calibri"/>
              <a:cs typeface="Calibri"/>
              <a:sym typeface="Calibri"/>
            </a:endParaRPr>
          </a:p>
        </p:txBody>
      </p:sp>
      <p:sp>
        <p:nvSpPr>
          <p:cNvPr id="626" name="Google Shape;626;g3f733dfa63e_2_224"/>
          <p:cNvSpPr/>
          <p:nvPr/>
        </p:nvSpPr>
        <p:spPr>
          <a:xfrm>
            <a:off x="4253789" y="377952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+1.15%</a:t>
            </a:r>
            <a:endParaRPr b="0" i="0" sz="1100" u="none" cap="none" strike="noStrike">
              <a:solidFill>
                <a:schemeClr val="dk1"/>
              </a:solidFill>
              <a:latin typeface="Calibri"/>
              <a:ea typeface="Calibri"/>
              <a:cs typeface="Calibri"/>
              <a:sym typeface="Calibri"/>
            </a:endParaRPr>
          </a:p>
        </p:txBody>
      </p:sp>
      <p:cxnSp>
        <p:nvCxnSpPr>
          <p:cNvPr id="627" name="Google Shape;627;g3f733dfa63e_2_224"/>
          <p:cNvCxnSpPr/>
          <p:nvPr/>
        </p:nvCxnSpPr>
        <p:spPr>
          <a:xfrm>
            <a:off x="566928" y="4200144"/>
            <a:ext cx="4937700" cy="0"/>
          </a:xfrm>
          <a:prstGeom prst="straightConnector1">
            <a:avLst/>
          </a:prstGeom>
          <a:noFill/>
          <a:ln cap="flat" cmpd="sng" w="9525">
            <a:solidFill>
              <a:srgbClr val="E0E0E0"/>
            </a:solidFill>
            <a:prstDash val="solid"/>
            <a:round/>
            <a:headEnd len="sm" w="sm" type="none"/>
            <a:tailEnd len="sm" w="sm" type="none"/>
          </a:ln>
        </p:spPr>
      </p:cxnSp>
      <p:sp>
        <p:nvSpPr>
          <p:cNvPr id="628" name="Google Shape;628;g3f733dfa63e_2_224"/>
          <p:cNvSpPr/>
          <p:nvPr/>
        </p:nvSpPr>
        <p:spPr>
          <a:xfrm>
            <a:off x="566928" y="4200144"/>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Revenue</a:t>
            </a:r>
            <a:endParaRPr b="0" i="0" sz="1050" u="none" cap="none" strike="noStrike">
              <a:solidFill>
                <a:schemeClr val="dk1"/>
              </a:solidFill>
              <a:latin typeface="Calibri"/>
              <a:ea typeface="Calibri"/>
              <a:cs typeface="Calibri"/>
              <a:sym typeface="Calibri"/>
            </a:endParaRPr>
          </a:p>
        </p:txBody>
      </p:sp>
      <p:sp>
        <p:nvSpPr>
          <p:cNvPr id="629" name="Google Shape;629;g3f733dfa63e_2_224"/>
          <p:cNvSpPr/>
          <p:nvPr/>
        </p:nvSpPr>
        <p:spPr>
          <a:xfrm>
            <a:off x="1751990" y="420014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−3.65%</a:t>
            </a:r>
            <a:endParaRPr b="0" i="0" sz="1100" u="none" cap="none" strike="noStrike">
              <a:solidFill>
                <a:schemeClr val="dk1"/>
              </a:solidFill>
              <a:latin typeface="Calibri"/>
              <a:ea typeface="Calibri"/>
              <a:cs typeface="Calibri"/>
              <a:sym typeface="Calibri"/>
            </a:endParaRPr>
          </a:p>
        </p:txBody>
      </p:sp>
      <p:sp>
        <p:nvSpPr>
          <p:cNvPr id="630" name="Google Shape;630;g3f733dfa63e_2_224"/>
          <p:cNvSpPr/>
          <p:nvPr/>
        </p:nvSpPr>
        <p:spPr>
          <a:xfrm>
            <a:off x="3002890" y="420014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+3.16%</a:t>
            </a:r>
            <a:endParaRPr b="0" i="0" sz="1100" u="none" cap="none" strike="noStrike">
              <a:solidFill>
                <a:schemeClr val="dk1"/>
              </a:solidFill>
              <a:latin typeface="Calibri"/>
              <a:ea typeface="Calibri"/>
              <a:cs typeface="Calibri"/>
              <a:sym typeface="Calibri"/>
            </a:endParaRPr>
          </a:p>
        </p:txBody>
      </p:sp>
      <p:sp>
        <p:nvSpPr>
          <p:cNvPr id="631" name="Google Shape;631;g3f733dfa63e_2_224"/>
          <p:cNvSpPr/>
          <p:nvPr/>
        </p:nvSpPr>
        <p:spPr>
          <a:xfrm>
            <a:off x="4253789" y="420014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+1.23%</a:t>
            </a:r>
            <a:endParaRPr b="0" i="0" sz="1100" u="none" cap="none" strike="noStrike">
              <a:solidFill>
                <a:schemeClr val="dk1"/>
              </a:solidFill>
              <a:latin typeface="Calibri"/>
              <a:ea typeface="Calibri"/>
              <a:cs typeface="Calibri"/>
              <a:sym typeface="Calibri"/>
            </a:endParaRPr>
          </a:p>
        </p:txBody>
      </p:sp>
      <p:sp>
        <p:nvSpPr>
          <p:cNvPr id="632" name="Google Shape;632;g3f733dfa63e_2_224"/>
          <p:cNvSpPr/>
          <p:nvPr/>
        </p:nvSpPr>
        <p:spPr>
          <a:xfrm>
            <a:off x="6099048" y="2020824"/>
            <a:ext cx="5754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인사이트 해석</a:t>
            </a:r>
            <a:endParaRPr b="0" i="0" sz="1575" u="none" cap="none" strike="noStrike">
              <a:solidFill>
                <a:schemeClr val="dk1"/>
              </a:solidFill>
              <a:latin typeface="Calibri"/>
              <a:ea typeface="Calibri"/>
              <a:cs typeface="Calibri"/>
              <a:sym typeface="Calibri"/>
            </a:endParaRPr>
          </a:p>
        </p:txBody>
      </p:sp>
      <p:sp>
        <p:nvSpPr>
          <p:cNvPr id="633" name="Google Shape;633;g3f733dfa63e_2_224"/>
          <p:cNvSpPr/>
          <p:nvPr/>
        </p:nvSpPr>
        <p:spPr>
          <a:xfrm>
            <a:off x="6099048" y="2557272"/>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0E0E0"/>
              </a:solidFill>
            </a:endParaRPr>
          </a:p>
        </p:txBody>
      </p:sp>
      <p:sp>
        <p:nvSpPr>
          <p:cNvPr id="634" name="Google Shape;634;g3f733dfa63e_2_224"/>
          <p:cNvSpPr/>
          <p:nvPr/>
        </p:nvSpPr>
        <p:spPr>
          <a:xfrm>
            <a:off x="6464808" y="2538984"/>
            <a:ext cx="5388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남성: 상단 퍼널 개선</a:t>
            </a:r>
            <a:endParaRPr b="0" i="0" sz="1300" u="none" cap="none" strike="noStrike">
              <a:solidFill>
                <a:schemeClr val="dk1"/>
              </a:solidFill>
              <a:latin typeface="Calibri"/>
              <a:ea typeface="Calibri"/>
              <a:cs typeface="Calibri"/>
              <a:sym typeface="Calibri"/>
            </a:endParaRPr>
          </a:p>
        </p:txBody>
      </p:sp>
      <p:sp>
        <p:nvSpPr>
          <p:cNvPr id="635" name="Google Shape;635;g3f733dfa63e_2_224"/>
          <p:cNvSpPr/>
          <p:nvPr/>
        </p:nvSpPr>
        <p:spPr>
          <a:xfrm>
            <a:off x="6464808" y="2795016"/>
            <a:ext cx="5388600" cy="4023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노출량과 클릭은 유의하게 증가했지만 구매와 매출에는 유의한 변화가 없음.</a:t>
            </a:r>
            <a:endParaRPr b="0" i="0" sz="95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 상단의 긍정적 변화가 실제 구매 성과까지 이어지지는 않음</a:t>
            </a:r>
            <a:endParaRPr b="0" i="0" sz="950" u="none" cap="none" strike="noStrike">
              <a:solidFill>
                <a:schemeClr val="dk1"/>
              </a:solidFill>
              <a:latin typeface="Calibri"/>
              <a:ea typeface="Calibri"/>
              <a:cs typeface="Calibri"/>
              <a:sym typeface="Calibri"/>
            </a:endParaRPr>
          </a:p>
        </p:txBody>
      </p:sp>
      <p:sp>
        <p:nvSpPr>
          <p:cNvPr id="636" name="Google Shape;636;g3f733dfa63e_2_224"/>
          <p:cNvSpPr/>
          <p:nvPr/>
        </p:nvSpPr>
        <p:spPr>
          <a:xfrm>
            <a:off x="6099048" y="3361944"/>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0E0E0"/>
              </a:solidFill>
            </a:endParaRPr>
          </a:p>
        </p:txBody>
      </p:sp>
      <p:sp>
        <p:nvSpPr>
          <p:cNvPr id="637" name="Google Shape;637;g3f733dfa63e_2_224"/>
          <p:cNvSpPr/>
          <p:nvPr/>
        </p:nvSpPr>
        <p:spPr>
          <a:xfrm>
            <a:off x="6464808" y="3343656"/>
            <a:ext cx="5388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248"/>
              </a:buClr>
              <a:buSzPts val="1300"/>
              <a:buFont typeface="Arial"/>
              <a:buNone/>
            </a:pPr>
            <a:r>
              <a:rPr b="1" i="0" lang="en-US" sz="1300" u="none" cap="none" strike="noStrike">
                <a:solidFill>
                  <a:srgbClr val="C90000"/>
                </a:solidFill>
                <a:latin typeface="Arial"/>
                <a:ea typeface="Arial"/>
                <a:cs typeface="Arial"/>
                <a:sym typeface="Arial"/>
              </a:rPr>
              <a:t>여성: 구매 단계의 부정 효과</a:t>
            </a:r>
            <a:endParaRPr b="0" i="0" sz="1300" u="none" cap="none" strike="noStrike">
              <a:solidFill>
                <a:srgbClr val="C90000"/>
              </a:solidFill>
              <a:latin typeface="Calibri"/>
              <a:ea typeface="Calibri"/>
              <a:cs typeface="Calibri"/>
              <a:sym typeface="Calibri"/>
            </a:endParaRPr>
          </a:p>
        </p:txBody>
      </p:sp>
      <p:sp>
        <p:nvSpPr>
          <p:cNvPr id="638" name="Google Shape;638;g3f733dfa63e_2_224"/>
          <p:cNvSpPr/>
          <p:nvPr/>
        </p:nvSpPr>
        <p:spPr>
          <a:xfrm>
            <a:off x="6464808" y="3599688"/>
            <a:ext cx="5388600" cy="4023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노출량과 클릭에는 유의한 변화가 없었지만 구매는 유의하게 감소함.</a:t>
            </a:r>
            <a:endParaRPr b="0" i="0" sz="95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 변경된 실험 요소가 여성 이용자의 구매 행동에 부정적인 영향을 미쳤을 가능성이 있음.</a:t>
            </a:r>
            <a:endParaRPr b="0" i="0" sz="950" u="none" cap="none" strike="noStrike">
              <a:solidFill>
                <a:schemeClr val="dk1"/>
              </a:solidFill>
              <a:latin typeface="Calibri"/>
              <a:ea typeface="Calibri"/>
              <a:cs typeface="Calibri"/>
              <a:sym typeface="Calibri"/>
            </a:endParaRPr>
          </a:p>
        </p:txBody>
      </p:sp>
      <p:sp>
        <p:nvSpPr>
          <p:cNvPr id="639" name="Google Shape;639;g3f733dfa63e_2_224"/>
          <p:cNvSpPr/>
          <p:nvPr/>
        </p:nvSpPr>
        <p:spPr>
          <a:xfrm>
            <a:off x="6099048" y="4166616"/>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3f733dfa63e_2_224"/>
          <p:cNvSpPr/>
          <p:nvPr/>
        </p:nvSpPr>
        <p:spPr>
          <a:xfrm>
            <a:off x="6464808" y="4148328"/>
            <a:ext cx="5388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300"/>
              <a:buFont typeface="Arial"/>
              <a:buNone/>
            </a:pPr>
            <a:r>
              <a:rPr b="1" i="0" lang="en-US" sz="1300" u="none" cap="none" strike="noStrike">
                <a:solidFill>
                  <a:srgbClr val="7A7A7A"/>
                </a:solidFill>
                <a:latin typeface="Arial"/>
                <a:ea typeface="Arial"/>
                <a:cs typeface="Arial"/>
                <a:sym typeface="Arial"/>
              </a:rPr>
              <a:t>Undefined: 해석 보류</a:t>
            </a:r>
            <a:endParaRPr b="0" i="0" sz="1300" u="none" cap="none" strike="noStrike">
              <a:solidFill>
                <a:schemeClr val="dk1"/>
              </a:solidFill>
              <a:latin typeface="Calibri"/>
              <a:ea typeface="Calibri"/>
              <a:cs typeface="Calibri"/>
              <a:sym typeface="Calibri"/>
            </a:endParaRPr>
          </a:p>
        </p:txBody>
      </p:sp>
      <p:sp>
        <p:nvSpPr>
          <p:cNvPr id="641" name="Google Shape;641;g3f733dfa63e_2_224"/>
          <p:cNvSpPr/>
          <p:nvPr/>
        </p:nvSpPr>
        <p:spPr>
          <a:xfrm>
            <a:off x="6464808" y="4404360"/>
            <a:ext cx="5388600" cy="22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D1D1F"/>
              </a:buClr>
              <a:buSzPts val="950"/>
              <a:buFont typeface="Arial"/>
              <a:buNone/>
            </a:pPr>
            <a:r>
              <a:rPr b="0" i="0" lang="en-US" sz="950" u="none" cap="none" strike="noStrike">
                <a:solidFill>
                  <a:srgbClr val="1D1D1F"/>
                </a:solidFill>
                <a:latin typeface="Arial"/>
                <a:ea typeface="Arial"/>
                <a:cs typeface="Arial"/>
                <a:sym typeface="Arial"/>
              </a:rPr>
              <a:t>노출량·클릭·구매·매출 모두 유의한 변화가 나타나지 않음</a:t>
            </a:r>
            <a:endParaRPr b="0" i="0" sz="950" u="none" cap="none" strike="noStrike">
              <a:solidFill>
                <a:schemeClr val="dk1"/>
              </a:solidFill>
              <a:latin typeface="Calibri"/>
              <a:ea typeface="Calibri"/>
              <a:cs typeface="Calibri"/>
              <a:sym typeface="Calibri"/>
            </a:endParaRPr>
          </a:p>
        </p:txBody>
      </p:sp>
      <p:sp>
        <p:nvSpPr>
          <p:cNvPr id="642" name="Google Shape;642;g3f733dfa63e_2_224"/>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f733dfa63e_2_224"/>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변경된 실험 요소는 남성에게 노출·클릭 단계 긍정적, 여성에게 구매 단계 부정적 영향</a:t>
            </a:r>
            <a:endParaRPr b="0" i="0" sz="1300" u="none" cap="none" strike="noStrike">
              <a:solidFill>
                <a:schemeClr val="dk1"/>
              </a:solidFill>
              <a:latin typeface="Calibri"/>
              <a:ea typeface="Calibri"/>
              <a:cs typeface="Calibri"/>
              <a:sym typeface="Calibri"/>
            </a:endParaRPr>
          </a:p>
        </p:txBody>
      </p:sp>
      <p:sp>
        <p:nvSpPr>
          <p:cNvPr id="644" name="Google Shape;644;g3f733dfa63e_2_224"/>
          <p:cNvSpPr/>
          <p:nvPr/>
        </p:nvSpPr>
        <p:spPr>
          <a:xfrm>
            <a:off x="6099048" y="2557272"/>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000"/>
              <a:buFont typeface="Arial"/>
              <a:buNone/>
            </a:pPr>
            <a:r>
              <a:rPr b="1" i="0" lang="en-US" sz="1000" u="none" cap="none" strike="noStrike">
                <a:solidFill>
                  <a:schemeClr val="dk1"/>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645" name="Google Shape;645;g3f733dfa63e_2_224"/>
          <p:cNvSpPr/>
          <p:nvPr/>
        </p:nvSpPr>
        <p:spPr>
          <a:xfrm>
            <a:off x="6099048" y="3361944"/>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000"/>
              <a:buFont typeface="Arial"/>
              <a:buNone/>
            </a:pPr>
            <a:r>
              <a:rPr b="1" i="0" lang="en-US" sz="1000" u="none" cap="none" strike="noStrike">
                <a:solidFill>
                  <a:schemeClr val="dk1"/>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646" name="Google Shape;646;g3f733dfa63e_2_224"/>
          <p:cNvSpPr/>
          <p:nvPr/>
        </p:nvSpPr>
        <p:spPr>
          <a:xfrm>
            <a:off x="6099048" y="4166616"/>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1" i="0" lang="en-US" sz="1000" u="none" cap="none" strike="noStrike">
                <a:solidFill>
                  <a:schemeClr val="dk1"/>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1" name="Shape 651"/>
        <p:cNvGrpSpPr/>
        <p:nvPr/>
      </p:nvGrpSpPr>
      <p:grpSpPr>
        <a:xfrm>
          <a:off x="0" y="0"/>
          <a:ext cx="0" cy="0"/>
          <a:chOff x="0" y="0"/>
          <a:chExt cx="0" cy="0"/>
        </a:xfrm>
      </p:grpSpPr>
      <p:sp>
        <p:nvSpPr>
          <p:cNvPr id="652" name="Google Shape;652;g3f733dfa63e_2_537"/>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SEGMENT</a:t>
            </a:r>
            <a:endParaRPr b="0" i="0" sz="1050" u="none" cap="none" strike="noStrike">
              <a:solidFill>
                <a:schemeClr val="dk1"/>
              </a:solidFill>
              <a:latin typeface="Calibri"/>
              <a:ea typeface="Calibri"/>
              <a:cs typeface="Calibri"/>
              <a:sym typeface="Calibri"/>
            </a:endParaRPr>
          </a:p>
        </p:txBody>
      </p:sp>
      <p:sp>
        <p:nvSpPr>
          <p:cNvPr id="653" name="Google Shape;653;g3f733dfa63e_2_537"/>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D1D1F"/>
              </a:buClr>
              <a:buSzPts val="3000"/>
              <a:buFont typeface="Arial"/>
              <a:buNone/>
            </a:pPr>
            <a:r>
              <a:rPr b="1" lang="en-US" sz="3000">
                <a:solidFill>
                  <a:srgbClr val="1D1D1F"/>
                </a:solidFill>
              </a:rPr>
              <a:t>6-3. 날짜별 이상 신호 및 Drill-down</a:t>
            </a:r>
            <a:endParaRPr b="1" sz="3000">
              <a:solidFill>
                <a:srgbClr val="1D1D1F"/>
              </a:solidFill>
            </a:endParaRPr>
          </a:p>
        </p:txBody>
      </p:sp>
      <p:sp>
        <p:nvSpPr>
          <p:cNvPr id="654" name="Google Shape;654;g3f733dfa63e_2_537"/>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7A7A7A"/>
              </a:buClr>
              <a:buSzPts val="1275"/>
              <a:buFont typeface="Arial"/>
              <a:buNone/>
            </a:pPr>
            <a:r>
              <a:rPr lang="en-US" sz="1275">
                <a:solidFill>
                  <a:srgbClr val="7A7A7A"/>
                </a:solidFill>
              </a:rPr>
              <a:t>날짜별 이상 반응을 먼저 찾고, 1/16을 연령대로 세분화하여 부정 효과가 집중된 집단을 확인</a:t>
            </a:r>
            <a:endParaRPr sz="1275">
              <a:solidFill>
                <a:srgbClr val="7A7A7A"/>
              </a:solidFill>
            </a:endParaRPr>
          </a:p>
        </p:txBody>
      </p:sp>
      <p:sp>
        <p:nvSpPr>
          <p:cNvPr id="655" name="Google Shape;655;g3f733dfa63e_2_537"/>
          <p:cNvSpPr/>
          <p:nvPr/>
        </p:nvSpPr>
        <p:spPr>
          <a:xfrm>
            <a:off x="9613087" y="420624"/>
            <a:ext cx="20118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7A7A"/>
              </a:buClr>
              <a:buSzPts val="1200"/>
              <a:buFont typeface="Arial"/>
              <a:buNone/>
            </a:pPr>
            <a:r>
              <a:rPr b="0" i="1" lang="en-US" sz="1200" u="none" cap="none" strike="noStrike">
                <a:solidFill>
                  <a:srgbClr val="7A7A7A"/>
                </a:solidFill>
                <a:latin typeface="Arial"/>
                <a:ea typeface="Arial"/>
                <a:cs typeface="Arial"/>
                <a:sym typeface="Arial"/>
              </a:rPr>
              <a:t>Gender</a:t>
            </a:r>
            <a:endParaRPr b="0" i="0" sz="1200" u="none" cap="none" strike="noStrike">
              <a:solidFill>
                <a:schemeClr val="dk1"/>
              </a:solidFill>
              <a:latin typeface="Calibri"/>
              <a:ea typeface="Calibri"/>
              <a:cs typeface="Calibri"/>
              <a:sym typeface="Calibri"/>
            </a:endParaRPr>
          </a:p>
        </p:txBody>
      </p:sp>
      <p:sp>
        <p:nvSpPr>
          <p:cNvPr id="656" name="Google Shape;656;g3f733dfa63e_2_537"/>
          <p:cNvSpPr/>
          <p:nvPr/>
        </p:nvSpPr>
        <p:spPr>
          <a:xfrm>
            <a:off x="566928" y="2020824"/>
            <a:ext cx="4937700" cy="23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D1D1F"/>
              </a:buClr>
              <a:buSzPts val="1400"/>
              <a:buFont typeface="Arial"/>
              <a:buNone/>
            </a:pPr>
            <a:r>
              <a:rPr b="1" lang="en-US" sz="1550">
                <a:solidFill>
                  <a:srgbClr val="1D1D1F"/>
                </a:solidFill>
              </a:rPr>
              <a:t>1/16일 전체 Uplift 결과</a:t>
            </a:r>
            <a:endParaRPr b="1" sz="1550">
              <a:solidFill>
                <a:srgbClr val="1D1D1F"/>
              </a:solidFill>
            </a:endParaRPr>
          </a:p>
        </p:txBody>
      </p:sp>
      <p:sp>
        <p:nvSpPr>
          <p:cNvPr id="657" name="Google Shape;657;g3f733dfa63e_2_537"/>
          <p:cNvSpPr/>
          <p:nvPr/>
        </p:nvSpPr>
        <p:spPr>
          <a:xfrm>
            <a:off x="566928" y="2353056"/>
            <a:ext cx="493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825"/>
              <a:buFont typeface="Arial"/>
              <a:buNone/>
            </a:pPr>
            <a:r>
              <a:rPr b="0" i="0" lang="en-US" sz="825" u="none" cap="none" strike="noStrike">
                <a:solidFill>
                  <a:srgbClr val="7A7A7A"/>
                </a:solidFill>
                <a:latin typeface="Arial"/>
                <a:ea typeface="Arial"/>
                <a:cs typeface="Arial"/>
                <a:sym typeface="Arial"/>
              </a:rPr>
              <a:t>숫자는 Uplift, 색상은 Z-score 유의성 기준</a:t>
            </a:r>
            <a:endParaRPr b="0" i="0" sz="825" u="none" cap="none" strike="noStrike">
              <a:solidFill>
                <a:schemeClr val="dk1"/>
              </a:solidFill>
              <a:latin typeface="Calibri"/>
              <a:ea typeface="Calibri"/>
              <a:cs typeface="Calibri"/>
              <a:sym typeface="Calibri"/>
            </a:endParaRPr>
          </a:p>
        </p:txBody>
      </p:sp>
      <p:sp>
        <p:nvSpPr>
          <p:cNvPr id="658" name="Google Shape;658;g3f733dfa63e_2_537"/>
          <p:cNvSpPr/>
          <p:nvPr/>
        </p:nvSpPr>
        <p:spPr>
          <a:xfrm>
            <a:off x="6099048" y="2020824"/>
            <a:ext cx="5754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575"/>
              <a:buFont typeface="Arial"/>
              <a:buNone/>
            </a:pPr>
            <a:r>
              <a:rPr b="1" i="0" lang="en-US" sz="1575" u="none" cap="none" strike="noStrike">
                <a:solidFill>
                  <a:srgbClr val="1D1D1F"/>
                </a:solidFill>
                <a:latin typeface="Arial"/>
                <a:ea typeface="Arial"/>
                <a:cs typeface="Arial"/>
                <a:sym typeface="Arial"/>
              </a:rPr>
              <a:t>인사이트 해석</a:t>
            </a:r>
            <a:endParaRPr b="0" i="0" sz="1575" u="none" cap="none" strike="noStrike">
              <a:solidFill>
                <a:schemeClr val="dk1"/>
              </a:solidFill>
              <a:latin typeface="Calibri"/>
              <a:ea typeface="Calibri"/>
              <a:cs typeface="Calibri"/>
              <a:sym typeface="Calibri"/>
            </a:endParaRPr>
          </a:p>
        </p:txBody>
      </p:sp>
      <p:sp>
        <p:nvSpPr>
          <p:cNvPr id="659" name="Google Shape;659;g3f733dfa63e_2_537"/>
          <p:cNvSpPr/>
          <p:nvPr/>
        </p:nvSpPr>
        <p:spPr>
          <a:xfrm>
            <a:off x="6099048" y="2557272"/>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0E0E0"/>
              </a:solidFill>
            </a:endParaRPr>
          </a:p>
        </p:txBody>
      </p:sp>
      <p:sp>
        <p:nvSpPr>
          <p:cNvPr id="660" name="Google Shape;660;g3f733dfa63e_2_537"/>
          <p:cNvSpPr/>
          <p:nvPr/>
        </p:nvSpPr>
        <p:spPr>
          <a:xfrm>
            <a:off x="6464808" y="2538984"/>
            <a:ext cx="5388600" cy="23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A85248"/>
              </a:buClr>
              <a:buSzPts val="1300"/>
              <a:buFont typeface="Arial"/>
              <a:buNone/>
            </a:pPr>
            <a:r>
              <a:rPr b="1" lang="en-US" sz="1300">
                <a:solidFill>
                  <a:srgbClr val="C90000"/>
                </a:solidFill>
              </a:rPr>
              <a:t>날짜별 이상 신호</a:t>
            </a:r>
            <a:endParaRPr b="1" sz="1300">
              <a:solidFill>
                <a:srgbClr val="C90000"/>
              </a:solidFill>
            </a:endParaRPr>
          </a:p>
        </p:txBody>
      </p:sp>
      <p:sp>
        <p:nvSpPr>
          <p:cNvPr id="661" name="Google Shape;661;g3f733dfa63e_2_537"/>
          <p:cNvSpPr/>
          <p:nvPr/>
        </p:nvSpPr>
        <p:spPr>
          <a:xfrm>
            <a:off x="6464808" y="2795016"/>
            <a:ext cx="5388600" cy="4023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Clr>
                <a:srgbClr val="1D1D1F"/>
              </a:buClr>
              <a:buSzPts val="950"/>
              <a:buFont typeface="Arial"/>
              <a:buNone/>
            </a:pPr>
            <a:r>
              <a:rPr lang="en-US" sz="950">
                <a:solidFill>
                  <a:srgbClr val="1D1D1F"/>
                </a:solidFill>
              </a:rPr>
              <a:t>Segment by = Datestamp로 확인했을 때 1/16에 부정적인 효과가 집중됨.</a:t>
            </a:r>
            <a:endParaRPr sz="950">
              <a:solidFill>
                <a:schemeClr val="dk1"/>
              </a:solidFill>
              <a:latin typeface="Calibri"/>
              <a:ea typeface="Calibri"/>
              <a:cs typeface="Calibri"/>
              <a:sym typeface="Calibri"/>
            </a:endParaRPr>
          </a:p>
          <a:p>
            <a:pPr indent="0" lvl="0" marL="0" rtl="0" algn="l">
              <a:lnSpc>
                <a:spcPct val="128000"/>
              </a:lnSpc>
              <a:spcBef>
                <a:spcPts val="0"/>
              </a:spcBef>
              <a:spcAft>
                <a:spcPts val="0"/>
              </a:spcAft>
              <a:buClr>
                <a:srgbClr val="1D1D1F"/>
              </a:buClr>
              <a:buSzPts val="950"/>
              <a:buFont typeface="Arial"/>
              <a:buNone/>
            </a:pPr>
            <a:r>
              <a:rPr lang="en-US" sz="950">
                <a:solidFill>
                  <a:srgbClr val="1D1D1F"/>
                </a:solidFill>
              </a:rPr>
              <a:t>특정 날짜의 운영·서비스 영향 가능성 확인.</a:t>
            </a:r>
            <a:endParaRPr sz="950">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1D1D1F"/>
              </a:buClr>
              <a:buSzPts val="950"/>
              <a:buFont typeface="Arial"/>
              <a:buNone/>
            </a:pPr>
            <a:r>
              <a:t/>
            </a:r>
            <a:endParaRPr sz="950">
              <a:solidFill>
                <a:srgbClr val="1D1D1F"/>
              </a:solidFill>
            </a:endParaRPr>
          </a:p>
        </p:txBody>
      </p:sp>
      <p:sp>
        <p:nvSpPr>
          <p:cNvPr id="662" name="Google Shape;662;g3f733dfa63e_2_537"/>
          <p:cNvSpPr/>
          <p:nvPr/>
        </p:nvSpPr>
        <p:spPr>
          <a:xfrm>
            <a:off x="6099048" y="3361944"/>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0E0E0"/>
              </a:solidFill>
            </a:endParaRPr>
          </a:p>
        </p:txBody>
      </p:sp>
      <p:sp>
        <p:nvSpPr>
          <p:cNvPr id="663" name="Google Shape;663;g3f733dfa63e_2_537"/>
          <p:cNvSpPr/>
          <p:nvPr/>
        </p:nvSpPr>
        <p:spPr>
          <a:xfrm>
            <a:off x="6464808" y="3343656"/>
            <a:ext cx="5388600" cy="23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A85248"/>
              </a:buClr>
              <a:buSzPts val="1300"/>
              <a:buFont typeface="Arial"/>
              <a:buNone/>
            </a:pPr>
            <a:r>
              <a:rPr b="1" lang="en-US" sz="1300">
                <a:solidFill>
                  <a:srgbClr val="C90000"/>
                </a:solidFill>
              </a:rPr>
              <a:t>20–49세에 부정 효과 집중</a:t>
            </a:r>
            <a:endParaRPr b="1" sz="1300">
              <a:solidFill>
                <a:srgbClr val="C90000"/>
              </a:solidFill>
            </a:endParaRPr>
          </a:p>
        </p:txBody>
      </p:sp>
      <p:sp>
        <p:nvSpPr>
          <p:cNvPr id="664" name="Google Shape;664;g3f733dfa63e_2_537"/>
          <p:cNvSpPr/>
          <p:nvPr/>
        </p:nvSpPr>
        <p:spPr>
          <a:xfrm>
            <a:off x="6464808" y="3599688"/>
            <a:ext cx="5388600" cy="4023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Clr>
                <a:srgbClr val="1D1D1F"/>
              </a:buClr>
              <a:buSzPts val="950"/>
              <a:buFont typeface="Arial"/>
              <a:buNone/>
            </a:pPr>
            <a:r>
              <a:rPr lang="en-US" sz="950">
                <a:solidFill>
                  <a:srgbClr val="1D1D1F"/>
                </a:solidFill>
              </a:rPr>
              <a:t>1/16을 Age로 다시 나누면 20–49세에서 Impression부터 Revenue까지</a:t>
            </a:r>
            <a:r>
              <a:rPr lang="en-US" sz="950">
                <a:solidFill>
                  <a:schemeClr val="dk1"/>
                </a:solidFill>
                <a:latin typeface="Calibri"/>
                <a:ea typeface="Calibri"/>
                <a:cs typeface="Calibri"/>
                <a:sym typeface="Calibri"/>
              </a:rPr>
              <a:t> </a:t>
            </a:r>
            <a:r>
              <a:rPr lang="en-US" sz="950">
                <a:solidFill>
                  <a:srgbClr val="1D1D1F"/>
                </a:solidFill>
              </a:rPr>
              <a:t>퍼널 전 단계가 크게 감소.</a:t>
            </a:r>
            <a:endParaRPr sz="950">
              <a:solidFill>
                <a:srgbClr val="1D1D1F"/>
              </a:solidFill>
            </a:endParaRPr>
          </a:p>
        </p:txBody>
      </p:sp>
      <p:sp>
        <p:nvSpPr>
          <p:cNvPr id="665" name="Google Shape;665;g3f733dfa63e_2_537"/>
          <p:cNvSpPr/>
          <p:nvPr/>
        </p:nvSpPr>
        <p:spPr>
          <a:xfrm>
            <a:off x="6099048" y="4166616"/>
            <a:ext cx="237600" cy="2376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g3f733dfa63e_2_537"/>
          <p:cNvSpPr/>
          <p:nvPr/>
        </p:nvSpPr>
        <p:spPr>
          <a:xfrm>
            <a:off x="6464808" y="4148328"/>
            <a:ext cx="5388600" cy="23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7A7A7A"/>
              </a:buClr>
              <a:buSzPts val="1300"/>
              <a:buFont typeface="Arial"/>
              <a:buNone/>
            </a:pPr>
            <a:r>
              <a:rPr b="1" lang="en-US" sz="1300">
                <a:solidFill>
                  <a:srgbClr val="7A7A7A"/>
                </a:solidFill>
              </a:rPr>
              <a:t>추가 확인 필요</a:t>
            </a:r>
            <a:endParaRPr b="1" sz="1300">
              <a:solidFill>
                <a:srgbClr val="7A7A7A"/>
              </a:solidFill>
            </a:endParaRPr>
          </a:p>
        </p:txBody>
      </p:sp>
      <p:sp>
        <p:nvSpPr>
          <p:cNvPr id="667" name="Google Shape;667;g3f733dfa63e_2_537"/>
          <p:cNvSpPr/>
          <p:nvPr/>
        </p:nvSpPr>
        <p:spPr>
          <a:xfrm>
            <a:off x="6464808" y="4404360"/>
            <a:ext cx="5388600" cy="228600"/>
          </a:xfrm>
          <a:prstGeom prst="rect">
            <a:avLst/>
          </a:prstGeom>
          <a:noFill/>
          <a:ln>
            <a:noFill/>
          </a:ln>
        </p:spPr>
        <p:txBody>
          <a:bodyPr anchorCtr="0" anchor="t" bIns="0" lIns="0" spcFirstLastPara="1" rIns="0" wrap="square" tIns="0">
            <a:noAutofit/>
          </a:bodyPr>
          <a:lstStyle/>
          <a:p>
            <a:pPr indent="0" lvl="0" marL="0" rtl="0" algn="l">
              <a:lnSpc>
                <a:spcPct val="128000"/>
              </a:lnSpc>
              <a:spcBef>
                <a:spcPts val="0"/>
              </a:spcBef>
              <a:spcAft>
                <a:spcPts val="0"/>
              </a:spcAft>
              <a:buClr>
                <a:srgbClr val="1D1D1F"/>
              </a:buClr>
              <a:buSzPts val="950"/>
              <a:buFont typeface="Arial"/>
              <a:buNone/>
            </a:pPr>
            <a:r>
              <a:rPr lang="en-US" sz="950">
                <a:solidFill>
                  <a:srgbClr val="1D1D1F"/>
                </a:solidFill>
              </a:rPr>
              <a:t>1/16의 프로모션, 상품 구성, 서비스 변경, 시스템 이슈 등</a:t>
            </a:r>
            <a:r>
              <a:rPr lang="en-US" sz="950">
                <a:solidFill>
                  <a:schemeClr val="dk1"/>
                </a:solidFill>
                <a:latin typeface="Calibri"/>
                <a:ea typeface="Calibri"/>
                <a:cs typeface="Calibri"/>
                <a:sym typeface="Calibri"/>
              </a:rPr>
              <a:t> </a:t>
            </a:r>
            <a:r>
              <a:rPr lang="en-US" sz="950">
                <a:solidFill>
                  <a:srgbClr val="1D1D1F"/>
                </a:solidFill>
              </a:rPr>
              <a:t>운영 요인을 확인해야 함.</a:t>
            </a:r>
            <a:endParaRPr sz="950">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1D1D1F"/>
              </a:buClr>
              <a:buSzPts val="950"/>
              <a:buFont typeface="Arial"/>
              <a:buNone/>
            </a:pPr>
            <a:r>
              <a:t/>
            </a:r>
            <a:endParaRPr sz="950">
              <a:solidFill>
                <a:srgbClr val="1D1D1F"/>
              </a:solidFill>
            </a:endParaRPr>
          </a:p>
        </p:txBody>
      </p:sp>
      <p:sp>
        <p:nvSpPr>
          <p:cNvPr id="668" name="Google Shape;668;g3f733dfa63e_2_537"/>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g3f733dfa63e_2_537"/>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핵심  </a:t>
            </a:r>
            <a:r>
              <a:rPr b="0" i="0" lang="en-US" sz="1300" u="none" cap="none" strike="noStrike">
                <a:solidFill>
                  <a:srgbClr val="1D1D1F"/>
                </a:solidFill>
                <a:latin typeface="Arial"/>
                <a:ea typeface="Arial"/>
                <a:cs typeface="Arial"/>
                <a:sym typeface="Arial"/>
              </a:rPr>
              <a:t>변경된 실험 요소는 남성에게 노출·클릭 단계 긍정적, 여성에게 구매 단계 부정적 영향</a:t>
            </a:r>
            <a:endParaRPr b="0" i="0" sz="1300" u="none" cap="none" strike="noStrike">
              <a:solidFill>
                <a:schemeClr val="dk1"/>
              </a:solidFill>
              <a:latin typeface="Calibri"/>
              <a:ea typeface="Calibri"/>
              <a:cs typeface="Calibri"/>
              <a:sym typeface="Calibri"/>
            </a:endParaRPr>
          </a:p>
        </p:txBody>
      </p:sp>
      <p:sp>
        <p:nvSpPr>
          <p:cNvPr id="670" name="Google Shape;670;g3f733dfa63e_2_537"/>
          <p:cNvSpPr/>
          <p:nvPr/>
        </p:nvSpPr>
        <p:spPr>
          <a:xfrm>
            <a:off x="6099048" y="2557272"/>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000"/>
              <a:buFont typeface="Arial"/>
              <a:buNone/>
            </a:pPr>
            <a:r>
              <a:rPr b="1" i="0" lang="en-US" sz="1000" u="none" cap="none" strike="noStrike">
                <a:solidFill>
                  <a:schemeClr val="dk1"/>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671" name="Google Shape;671;g3f733dfa63e_2_537"/>
          <p:cNvSpPr/>
          <p:nvPr/>
        </p:nvSpPr>
        <p:spPr>
          <a:xfrm>
            <a:off x="6099048" y="3361944"/>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000"/>
              <a:buFont typeface="Arial"/>
              <a:buNone/>
            </a:pPr>
            <a:r>
              <a:rPr b="1" i="0" lang="en-US" sz="1000" u="none" cap="none" strike="noStrike">
                <a:solidFill>
                  <a:schemeClr val="dk1"/>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672" name="Google Shape;672;g3f733dfa63e_2_537"/>
          <p:cNvSpPr/>
          <p:nvPr/>
        </p:nvSpPr>
        <p:spPr>
          <a:xfrm>
            <a:off x="6099048" y="4166616"/>
            <a:ext cx="237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000"/>
              <a:buFont typeface="Arial"/>
              <a:buNone/>
            </a:pPr>
            <a:r>
              <a:rPr b="1" i="0" lang="en-US" sz="1000" u="none" cap="none" strike="noStrike">
                <a:solidFill>
                  <a:schemeClr val="dk1"/>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673" name="Google Shape;673;g3f733dfa63e_2_537"/>
          <p:cNvSpPr/>
          <p:nvPr/>
        </p:nvSpPr>
        <p:spPr>
          <a:xfrm>
            <a:off x="490690" y="2583918"/>
            <a:ext cx="1028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850"/>
              <a:buFont typeface="Arial"/>
              <a:buNone/>
            </a:pPr>
            <a:r>
              <a:rPr b="1" i="0" lang="en-US" sz="850" u="none" cap="none" strike="noStrike">
                <a:solidFill>
                  <a:srgbClr val="1D1D1F"/>
                </a:solidFill>
                <a:latin typeface="Arial"/>
                <a:ea typeface="Arial"/>
                <a:cs typeface="Arial"/>
                <a:sym typeface="Arial"/>
              </a:rPr>
              <a:t>Impression</a:t>
            </a:r>
            <a:endParaRPr b="0" i="0" sz="850" u="none" cap="none" strike="noStrike">
              <a:solidFill>
                <a:schemeClr val="dk1"/>
              </a:solidFill>
              <a:latin typeface="Calibri"/>
              <a:ea typeface="Calibri"/>
              <a:cs typeface="Calibri"/>
              <a:sym typeface="Calibri"/>
            </a:endParaRPr>
          </a:p>
        </p:txBody>
      </p:sp>
      <p:sp>
        <p:nvSpPr>
          <p:cNvPr id="674" name="Google Shape;674;g3f733dfa63e_2_537"/>
          <p:cNvSpPr/>
          <p:nvPr/>
        </p:nvSpPr>
        <p:spPr>
          <a:xfrm>
            <a:off x="490690" y="2785086"/>
            <a:ext cx="10287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200"/>
              <a:buFont typeface="Arial"/>
              <a:buNone/>
            </a:pPr>
            <a:r>
              <a:rPr b="1" i="0" lang="en-US" sz="1200" u="none" cap="none" strike="noStrike">
                <a:solidFill>
                  <a:srgbClr val="C90000"/>
                </a:solidFill>
                <a:latin typeface="Arial"/>
                <a:ea typeface="Arial"/>
                <a:cs typeface="Arial"/>
                <a:sym typeface="Arial"/>
              </a:rPr>
              <a:t>▼ −</a:t>
            </a:r>
            <a:r>
              <a:rPr b="1" lang="en-US" sz="1200">
                <a:solidFill>
                  <a:srgbClr val="C90000"/>
                </a:solidFill>
              </a:rPr>
              <a:t>3</a:t>
            </a:r>
            <a:r>
              <a:rPr b="1" i="0" lang="en-US" sz="1200" u="none" cap="none" strike="noStrike">
                <a:solidFill>
                  <a:srgbClr val="C90000"/>
                </a:solidFill>
                <a:latin typeface="Arial"/>
                <a:ea typeface="Arial"/>
                <a:cs typeface="Arial"/>
                <a:sym typeface="Arial"/>
              </a:rPr>
              <a:t>.</a:t>
            </a:r>
            <a:r>
              <a:rPr b="1" lang="en-US" sz="1200">
                <a:solidFill>
                  <a:srgbClr val="C90000"/>
                </a:solidFill>
              </a:rPr>
              <a:t>11</a:t>
            </a:r>
            <a:r>
              <a:rPr b="1" i="0" lang="en-US" sz="1200" u="none" cap="none" strike="noStrike">
                <a:solidFill>
                  <a:srgbClr val="C90000"/>
                </a:solidFill>
                <a:latin typeface="Arial"/>
                <a:ea typeface="Arial"/>
                <a:cs typeface="Arial"/>
                <a:sym typeface="Arial"/>
              </a:rPr>
              <a:t>%</a:t>
            </a:r>
            <a:endParaRPr b="0" i="0" sz="1200" u="none" cap="none" strike="noStrike">
              <a:solidFill>
                <a:srgbClr val="C90000"/>
              </a:solidFill>
              <a:latin typeface="Calibri"/>
              <a:ea typeface="Calibri"/>
              <a:cs typeface="Calibri"/>
              <a:sym typeface="Calibri"/>
            </a:endParaRPr>
          </a:p>
        </p:txBody>
      </p:sp>
      <p:sp>
        <p:nvSpPr>
          <p:cNvPr id="675" name="Google Shape;675;g3f733dfa63e_2_537"/>
          <p:cNvSpPr/>
          <p:nvPr/>
        </p:nvSpPr>
        <p:spPr>
          <a:xfrm>
            <a:off x="1793711" y="2583918"/>
            <a:ext cx="1028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850"/>
              <a:buFont typeface="Arial"/>
              <a:buNone/>
            </a:pPr>
            <a:r>
              <a:rPr b="1" i="0" lang="en-US" sz="850" u="none" cap="none" strike="noStrike">
                <a:solidFill>
                  <a:srgbClr val="1D1D1F"/>
                </a:solidFill>
                <a:latin typeface="Arial"/>
                <a:ea typeface="Arial"/>
                <a:cs typeface="Arial"/>
                <a:sym typeface="Arial"/>
              </a:rPr>
              <a:t>Click</a:t>
            </a:r>
            <a:endParaRPr b="0" i="0" sz="850" u="none" cap="none" strike="noStrike">
              <a:solidFill>
                <a:schemeClr val="dk1"/>
              </a:solidFill>
              <a:latin typeface="Calibri"/>
              <a:ea typeface="Calibri"/>
              <a:cs typeface="Calibri"/>
              <a:sym typeface="Calibri"/>
            </a:endParaRPr>
          </a:p>
        </p:txBody>
      </p:sp>
      <p:sp>
        <p:nvSpPr>
          <p:cNvPr id="676" name="Google Shape;676;g3f733dfa63e_2_537"/>
          <p:cNvSpPr/>
          <p:nvPr/>
        </p:nvSpPr>
        <p:spPr>
          <a:xfrm>
            <a:off x="1793711" y="2785086"/>
            <a:ext cx="1028700" cy="31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7A7A7A"/>
              </a:buClr>
              <a:buSzPts val="1100"/>
              <a:buFont typeface="Arial"/>
              <a:buNone/>
            </a:pPr>
            <a:r>
              <a:rPr lang="en-US" sz="1100">
                <a:solidFill>
                  <a:srgbClr val="7A7A7A"/>
                </a:solidFill>
              </a:rPr>
              <a:t>-3.25%</a:t>
            </a:r>
            <a:endParaRPr b="1" sz="1200">
              <a:solidFill>
                <a:srgbClr val="FF383C"/>
              </a:solidFill>
            </a:endParaRPr>
          </a:p>
        </p:txBody>
      </p:sp>
      <p:sp>
        <p:nvSpPr>
          <p:cNvPr id="677" name="Google Shape;677;g3f733dfa63e_2_537"/>
          <p:cNvSpPr/>
          <p:nvPr/>
        </p:nvSpPr>
        <p:spPr>
          <a:xfrm>
            <a:off x="3096731" y="2583918"/>
            <a:ext cx="1028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850"/>
              <a:buFont typeface="Arial"/>
              <a:buNone/>
            </a:pPr>
            <a:r>
              <a:rPr b="1" i="0" lang="en-US" sz="850" u="none" cap="none" strike="noStrike">
                <a:solidFill>
                  <a:srgbClr val="1D1D1F"/>
                </a:solidFill>
                <a:latin typeface="Arial"/>
                <a:ea typeface="Arial"/>
                <a:cs typeface="Arial"/>
                <a:sym typeface="Arial"/>
              </a:rPr>
              <a:t>Purchase</a:t>
            </a:r>
            <a:endParaRPr b="0" i="0" sz="850" u="none" cap="none" strike="noStrike">
              <a:solidFill>
                <a:schemeClr val="dk1"/>
              </a:solidFill>
              <a:latin typeface="Calibri"/>
              <a:ea typeface="Calibri"/>
              <a:cs typeface="Calibri"/>
              <a:sym typeface="Calibri"/>
            </a:endParaRPr>
          </a:p>
        </p:txBody>
      </p:sp>
      <p:sp>
        <p:nvSpPr>
          <p:cNvPr id="678" name="Google Shape;678;g3f733dfa63e_2_537"/>
          <p:cNvSpPr/>
          <p:nvPr/>
        </p:nvSpPr>
        <p:spPr>
          <a:xfrm>
            <a:off x="3096731" y="2785086"/>
            <a:ext cx="10287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200"/>
              <a:buFont typeface="Arial"/>
              <a:buNone/>
            </a:pPr>
            <a:r>
              <a:rPr b="1" i="0" lang="en-US" sz="1200" u="none" cap="none" strike="noStrike">
                <a:solidFill>
                  <a:srgbClr val="C90000"/>
                </a:solidFill>
                <a:latin typeface="Arial"/>
                <a:ea typeface="Arial"/>
                <a:cs typeface="Arial"/>
                <a:sym typeface="Arial"/>
              </a:rPr>
              <a:t>▼ −</a:t>
            </a:r>
            <a:r>
              <a:rPr b="1" lang="en-US" sz="1200">
                <a:solidFill>
                  <a:srgbClr val="C90000"/>
                </a:solidFill>
              </a:rPr>
              <a:t>6.09</a:t>
            </a:r>
            <a:r>
              <a:rPr b="1" i="0" lang="en-US" sz="1200" u="none" cap="none" strike="noStrike">
                <a:solidFill>
                  <a:srgbClr val="C90000"/>
                </a:solidFill>
                <a:latin typeface="Arial"/>
                <a:ea typeface="Arial"/>
                <a:cs typeface="Arial"/>
                <a:sym typeface="Arial"/>
              </a:rPr>
              <a:t>%</a:t>
            </a:r>
            <a:endParaRPr b="0" i="0" sz="1200" u="none" cap="none" strike="noStrike">
              <a:solidFill>
                <a:srgbClr val="C90000"/>
              </a:solidFill>
              <a:latin typeface="Calibri"/>
              <a:ea typeface="Calibri"/>
              <a:cs typeface="Calibri"/>
              <a:sym typeface="Calibri"/>
            </a:endParaRPr>
          </a:p>
        </p:txBody>
      </p:sp>
      <p:sp>
        <p:nvSpPr>
          <p:cNvPr id="679" name="Google Shape;679;g3f733dfa63e_2_537"/>
          <p:cNvSpPr/>
          <p:nvPr/>
        </p:nvSpPr>
        <p:spPr>
          <a:xfrm>
            <a:off x="4399751" y="2583918"/>
            <a:ext cx="1028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850"/>
              <a:buFont typeface="Arial"/>
              <a:buNone/>
            </a:pPr>
            <a:r>
              <a:rPr b="1" i="0" lang="en-US" sz="850" u="none" cap="none" strike="noStrike">
                <a:solidFill>
                  <a:srgbClr val="1D1D1F"/>
                </a:solidFill>
                <a:latin typeface="Arial"/>
                <a:ea typeface="Arial"/>
                <a:cs typeface="Arial"/>
                <a:sym typeface="Arial"/>
              </a:rPr>
              <a:t>Revenue</a:t>
            </a:r>
            <a:endParaRPr b="0" i="0" sz="850" u="none" cap="none" strike="noStrike">
              <a:solidFill>
                <a:schemeClr val="dk1"/>
              </a:solidFill>
              <a:latin typeface="Calibri"/>
              <a:ea typeface="Calibri"/>
              <a:cs typeface="Calibri"/>
              <a:sym typeface="Calibri"/>
            </a:endParaRPr>
          </a:p>
        </p:txBody>
      </p:sp>
      <p:sp>
        <p:nvSpPr>
          <p:cNvPr id="680" name="Google Shape;680;g3f733dfa63e_2_537"/>
          <p:cNvSpPr/>
          <p:nvPr/>
        </p:nvSpPr>
        <p:spPr>
          <a:xfrm>
            <a:off x="4399751" y="2785086"/>
            <a:ext cx="10287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200"/>
              <a:buFont typeface="Arial"/>
              <a:buNone/>
            </a:pPr>
            <a:r>
              <a:rPr b="1" i="0" lang="en-US" sz="1200" u="none" cap="none" strike="noStrike">
                <a:solidFill>
                  <a:srgbClr val="C90000"/>
                </a:solidFill>
                <a:latin typeface="Arial"/>
                <a:ea typeface="Arial"/>
                <a:cs typeface="Arial"/>
                <a:sym typeface="Arial"/>
              </a:rPr>
              <a:t>▼ −</a:t>
            </a:r>
            <a:r>
              <a:rPr b="1" lang="en-US" sz="1200">
                <a:solidFill>
                  <a:srgbClr val="C90000"/>
                </a:solidFill>
              </a:rPr>
              <a:t>7.22</a:t>
            </a:r>
            <a:r>
              <a:rPr b="1" i="0" lang="en-US" sz="1200" u="none" cap="none" strike="noStrike">
                <a:solidFill>
                  <a:srgbClr val="C90000"/>
                </a:solidFill>
                <a:latin typeface="Arial"/>
                <a:ea typeface="Arial"/>
                <a:cs typeface="Arial"/>
                <a:sym typeface="Arial"/>
              </a:rPr>
              <a:t>%</a:t>
            </a:r>
            <a:endParaRPr b="0" i="0" sz="1200" u="none" cap="none" strike="noStrike">
              <a:solidFill>
                <a:srgbClr val="C90000"/>
              </a:solidFill>
              <a:latin typeface="Calibri"/>
              <a:ea typeface="Calibri"/>
              <a:cs typeface="Calibri"/>
              <a:sym typeface="Calibri"/>
            </a:endParaRPr>
          </a:p>
        </p:txBody>
      </p:sp>
      <p:sp>
        <p:nvSpPr>
          <p:cNvPr id="681" name="Google Shape;681;g3f733dfa63e_2_537"/>
          <p:cNvSpPr/>
          <p:nvPr/>
        </p:nvSpPr>
        <p:spPr>
          <a:xfrm>
            <a:off x="566928" y="3278124"/>
            <a:ext cx="4937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1400"/>
              <a:buFont typeface="Arial"/>
              <a:buNone/>
            </a:pPr>
            <a:r>
              <a:rPr b="1" lang="en-US" sz="1550">
                <a:solidFill>
                  <a:srgbClr val="1D1D1F"/>
                </a:solidFill>
              </a:rPr>
              <a:t>1/16일 </a:t>
            </a:r>
            <a:r>
              <a:rPr b="1" i="0" lang="en-US" sz="1550" u="none" cap="none" strike="noStrike">
                <a:solidFill>
                  <a:srgbClr val="1D1D1F"/>
                </a:solidFill>
                <a:latin typeface="Arial"/>
                <a:ea typeface="Arial"/>
                <a:cs typeface="Arial"/>
                <a:sym typeface="Arial"/>
              </a:rPr>
              <a:t>연령대별 Uplift 결과</a:t>
            </a:r>
            <a:endParaRPr b="0" i="0" sz="1550" u="none" cap="none" strike="noStrike">
              <a:solidFill>
                <a:schemeClr val="dk1"/>
              </a:solidFill>
              <a:latin typeface="Calibri"/>
              <a:ea typeface="Calibri"/>
              <a:cs typeface="Calibri"/>
              <a:sym typeface="Calibri"/>
            </a:endParaRPr>
          </a:p>
        </p:txBody>
      </p:sp>
      <p:sp>
        <p:nvSpPr>
          <p:cNvPr id="682" name="Google Shape;682;g3f733dfa63e_2_537"/>
          <p:cNvSpPr/>
          <p:nvPr/>
        </p:nvSpPr>
        <p:spPr>
          <a:xfrm>
            <a:off x="566928" y="3560826"/>
            <a:ext cx="1185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950"/>
              <a:buFont typeface="Arial"/>
              <a:buNone/>
            </a:pPr>
            <a:r>
              <a:rPr b="1" i="0" lang="en-US" sz="950" u="none" cap="none" strike="noStrike">
                <a:solidFill>
                  <a:srgbClr val="7A7A7A"/>
                </a:solidFill>
                <a:latin typeface="Arial"/>
                <a:ea typeface="Arial"/>
                <a:cs typeface="Arial"/>
                <a:sym typeface="Arial"/>
              </a:rPr>
              <a:t>지표</a:t>
            </a:r>
            <a:endParaRPr b="0" i="0" sz="950" u="none" cap="none" strike="noStrike">
              <a:solidFill>
                <a:schemeClr val="dk1"/>
              </a:solidFill>
              <a:latin typeface="Calibri"/>
              <a:ea typeface="Calibri"/>
              <a:cs typeface="Calibri"/>
              <a:sym typeface="Calibri"/>
            </a:endParaRPr>
          </a:p>
        </p:txBody>
      </p:sp>
      <p:sp>
        <p:nvSpPr>
          <p:cNvPr id="683" name="Google Shape;683;g3f733dfa63e_2_537"/>
          <p:cNvSpPr/>
          <p:nvPr/>
        </p:nvSpPr>
        <p:spPr>
          <a:xfrm>
            <a:off x="1751990" y="363702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0–19</a:t>
            </a:r>
            <a:endParaRPr b="0" i="0" sz="950" u="none" cap="none" strike="noStrike">
              <a:solidFill>
                <a:schemeClr val="dk1"/>
              </a:solidFill>
              <a:latin typeface="Calibri"/>
              <a:ea typeface="Calibri"/>
              <a:cs typeface="Calibri"/>
              <a:sym typeface="Calibri"/>
            </a:endParaRPr>
          </a:p>
        </p:txBody>
      </p:sp>
      <p:sp>
        <p:nvSpPr>
          <p:cNvPr id="684" name="Google Shape;684;g3f733dfa63e_2_537"/>
          <p:cNvSpPr/>
          <p:nvPr/>
        </p:nvSpPr>
        <p:spPr>
          <a:xfrm>
            <a:off x="3002890" y="363702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20–49</a:t>
            </a:r>
            <a:endParaRPr b="0" i="0" sz="950" u="none" cap="none" strike="noStrike">
              <a:solidFill>
                <a:schemeClr val="dk1"/>
              </a:solidFill>
              <a:latin typeface="Calibri"/>
              <a:ea typeface="Calibri"/>
              <a:cs typeface="Calibri"/>
              <a:sym typeface="Calibri"/>
            </a:endParaRPr>
          </a:p>
        </p:txBody>
      </p:sp>
      <p:sp>
        <p:nvSpPr>
          <p:cNvPr id="685" name="Google Shape;685;g3f733dfa63e_2_537"/>
          <p:cNvSpPr/>
          <p:nvPr/>
        </p:nvSpPr>
        <p:spPr>
          <a:xfrm>
            <a:off x="4253789" y="3637026"/>
            <a:ext cx="1251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950"/>
              <a:buFont typeface="Arial"/>
              <a:buNone/>
            </a:pPr>
            <a:r>
              <a:rPr b="1" i="0" lang="en-US" sz="950" u="none" cap="none" strike="noStrike">
                <a:solidFill>
                  <a:srgbClr val="1D1D1F"/>
                </a:solidFill>
                <a:latin typeface="Arial"/>
                <a:ea typeface="Arial"/>
                <a:cs typeface="Arial"/>
                <a:sym typeface="Arial"/>
              </a:rPr>
              <a:t>50+</a:t>
            </a:r>
            <a:endParaRPr b="0" i="0" sz="950" u="none" cap="none" strike="noStrike">
              <a:solidFill>
                <a:schemeClr val="dk1"/>
              </a:solidFill>
              <a:latin typeface="Calibri"/>
              <a:ea typeface="Calibri"/>
              <a:cs typeface="Calibri"/>
              <a:sym typeface="Calibri"/>
            </a:endParaRPr>
          </a:p>
        </p:txBody>
      </p:sp>
      <p:cxnSp>
        <p:nvCxnSpPr>
          <p:cNvPr id="686" name="Google Shape;686;g3f733dfa63e_2_537"/>
          <p:cNvCxnSpPr/>
          <p:nvPr/>
        </p:nvCxnSpPr>
        <p:spPr>
          <a:xfrm>
            <a:off x="566928" y="3947922"/>
            <a:ext cx="4937700" cy="0"/>
          </a:xfrm>
          <a:prstGeom prst="straightConnector1">
            <a:avLst/>
          </a:prstGeom>
          <a:noFill/>
          <a:ln cap="flat" cmpd="sng" w="12700">
            <a:solidFill>
              <a:srgbClr val="E0E0E0"/>
            </a:solidFill>
            <a:prstDash val="solid"/>
            <a:round/>
            <a:headEnd len="sm" w="sm" type="none"/>
            <a:tailEnd len="sm" w="sm" type="none"/>
          </a:ln>
        </p:spPr>
      </p:cxnSp>
      <p:sp>
        <p:nvSpPr>
          <p:cNvPr id="687" name="Google Shape;687;g3f733dfa63e_2_537"/>
          <p:cNvSpPr/>
          <p:nvPr/>
        </p:nvSpPr>
        <p:spPr>
          <a:xfrm>
            <a:off x="566928" y="3871722"/>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Impression</a:t>
            </a:r>
            <a:endParaRPr b="0" i="0" sz="1050" u="none" cap="none" strike="noStrike">
              <a:solidFill>
                <a:schemeClr val="dk1"/>
              </a:solidFill>
              <a:latin typeface="Calibri"/>
              <a:ea typeface="Calibri"/>
              <a:cs typeface="Calibri"/>
              <a:sym typeface="Calibri"/>
            </a:endParaRPr>
          </a:p>
        </p:txBody>
      </p:sp>
      <p:sp>
        <p:nvSpPr>
          <p:cNvPr id="688" name="Google Shape;688;g3f733dfa63e_2_537"/>
          <p:cNvSpPr/>
          <p:nvPr/>
        </p:nvSpPr>
        <p:spPr>
          <a:xfrm>
            <a:off x="1751990" y="394792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lang="en-US" sz="1100">
                <a:solidFill>
                  <a:srgbClr val="7A7A7A"/>
                </a:solidFill>
              </a:rPr>
              <a:t>-0.78</a:t>
            </a:r>
            <a:r>
              <a:rPr b="0" i="0" lang="en-US" sz="1100" u="none" cap="none" strike="noStrike">
                <a:solidFill>
                  <a:srgbClr val="7A7A7A"/>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
        <p:nvSpPr>
          <p:cNvPr id="689" name="Google Shape;689;g3f733dfa63e_2_537"/>
          <p:cNvSpPr/>
          <p:nvPr/>
        </p:nvSpPr>
        <p:spPr>
          <a:xfrm>
            <a:off x="3002890" y="3947922"/>
            <a:ext cx="1251000" cy="42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A85248"/>
              </a:buClr>
              <a:buSzPts val="1100"/>
              <a:buFont typeface="Arial"/>
              <a:buNone/>
            </a:pPr>
            <a:r>
              <a:rPr b="1" lang="en-US" sz="1100">
                <a:solidFill>
                  <a:srgbClr val="C90000"/>
                </a:solidFill>
              </a:rPr>
              <a:t>▼ - 4.87%</a:t>
            </a:r>
            <a:endParaRPr sz="1100">
              <a:solidFill>
                <a:srgbClr val="C90000"/>
              </a:solidFill>
            </a:endParaRPr>
          </a:p>
        </p:txBody>
      </p:sp>
      <p:sp>
        <p:nvSpPr>
          <p:cNvPr id="690" name="Google Shape;690;g3f733dfa63e_2_537"/>
          <p:cNvSpPr/>
          <p:nvPr/>
        </p:nvSpPr>
        <p:spPr>
          <a:xfrm>
            <a:off x="4253789" y="3947922"/>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lang="en-US" sz="1100">
                <a:solidFill>
                  <a:srgbClr val="7A7A7A"/>
                </a:solidFill>
              </a:rPr>
              <a:t>0.99</a:t>
            </a:r>
            <a:r>
              <a:rPr b="0" i="0" lang="en-US" sz="1100" u="none" cap="none" strike="noStrike">
                <a:solidFill>
                  <a:srgbClr val="7A7A7A"/>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cxnSp>
        <p:nvCxnSpPr>
          <p:cNvPr id="691" name="Google Shape;691;g3f733dfa63e_2_537"/>
          <p:cNvCxnSpPr/>
          <p:nvPr/>
        </p:nvCxnSpPr>
        <p:spPr>
          <a:xfrm>
            <a:off x="566928" y="4368546"/>
            <a:ext cx="4937700" cy="0"/>
          </a:xfrm>
          <a:prstGeom prst="straightConnector1">
            <a:avLst/>
          </a:prstGeom>
          <a:noFill/>
          <a:ln cap="flat" cmpd="sng" w="9525">
            <a:solidFill>
              <a:srgbClr val="E0E0E0"/>
            </a:solidFill>
            <a:prstDash val="solid"/>
            <a:round/>
            <a:headEnd len="sm" w="sm" type="none"/>
            <a:tailEnd len="sm" w="sm" type="none"/>
          </a:ln>
        </p:spPr>
      </p:cxnSp>
      <p:sp>
        <p:nvSpPr>
          <p:cNvPr id="692" name="Google Shape;692;g3f733dfa63e_2_537"/>
          <p:cNvSpPr/>
          <p:nvPr/>
        </p:nvSpPr>
        <p:spPr>
          <a:xfrm>
            <a:off x="566928" y="4292346"/>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Click</a:t>
            </a:r>
            <a:endParaRPr b="0" i="0" sz="1050" u="none" cap="none" strike="noStrike">
              <a:solidFill>
                <a:schemeClr val="dk1"/>
              </a:solidFill>
              <a:latin typeface="Calibri"/>
              <a:ea typeface="Calibri"/>
              <a:cs typeface="Calibri"/>
              <a:sym typeface="Calibri"/>
            </a:endParaRPr>
          </a:p>
        </p:txBody>
      </p:sp>
      <p:sp>
        <p:nvSpPr>
          <p:cNvPr id="693" name="Google Shape;693;g3f733dfa63e_2_537"/>
          <p:cNvSpPr/>
          <p:nvPr/>
        </p:nvSpPr>
        <p:spPr>
          <a:xfrm>
            <a:off x="1751990" y="4368546"/>
            <a:ext cx="1251000" cy="42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7A7A7A"/>
              </a:buClr>
              <a:buSzPts val="1100"/>
              <a:buFont typeface="Arial"/>
              <a:buNone/>
            </a:pPr>
            <a:r>
              <a:rPr lang="en-US" sz="1100">
                <a:solidFill>
                  <a:srgbClr val="7A7A7A"/>
                </a:solidFill>
              </a:rPr>
              <a:t>1.53%</a:t>
            </a:r>
            <a:endParaRPr b="1" sz="1100">
              <a:solidFill>
                <a:srgbClr val="0066CC"/>
              </a:solidFill>
            </a:endParaRPr>
          </a:p>
        </p:txBody>
      </p:sp>
      <p:sp>
        <p:nvSpPr>
          <p:cNvPr id="694" name="Google Shape;694;g3f733dfa63e_2_537"/>
          <p:cNvSpPr/>
          <p:nvPr/>
        </p:nvSpPr>
        <p:spPr>
          <a:xfrm>
            <a:off x="3002890" y="4368546"/>
            <a:ext cx="1251000" cy="42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A85248"/>
              </a:buClr>
              <a:buSzPts val="1100"/>
              <a:buFont typeface="Arial"/>
              <a:buNone/>
            </a:pPr>
            <a:r>
              <a:rPr b="1" lang="en-US" sz="1100">
                <a:solidFill>
                  <a:srgbClr val="C90000"/>
                </a:solidFill>
              </a:rPr>
              <a:t>▼ - 5.41%</a:t>
            </a:r>
            <a:endParaRPr sz="1100">
              <a:solidFill>
                <a:srgbClr val="C90000"/>
              </a:solidFill>
            </a:endParaRPr>
          </a:p>
        </p:txBody>
      </p:sp>
      <p:sp>
        <p:nvSpPr>
          <p:cNvPr id="695" name="Google Shape;695;g3f733dfa63e_2_537"/>
          <p:cNvSpPr/>
          <p:nvPr/>
        </p:nvSpPr>
        <p:spPr>
          <a:xfrm>
            <a:off x="4253789" y="4368546"/>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lang="en-US" sz="1100">
                <a:solidFill>
                  <a:srgbClr val="7A7A7A"/>
                </a:solidFill>
              </a:rPr>
              <a:t>-0.12</a:t>
            </a:r>
            <a:r>
              <a:rPr b="0" i="0" lang="en-US" sz="1100" u="none" cap="none" strike="noStrike">
                <a:solidFill>
                  <a:srgbClr val="7A7A7A"/>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cxnSp>
        <p:nvCxnSpPr>
          <p:cNvPr id="696" name="Google Shape;696;g3f733dfa63e_2_537"/>
          <p:cNvCxnSpPr/>
          <p:nvPr/>
        </p:nvCxnSpPr>
        <p:spPr>
          <a:xfrm>
            <a:off x="566928" y="4789170"/>
            <a:ext cx="4937700" cy="0"/>
          </a:xfrm>
          <a:prstGeom prst="straightConnector1">
            <a:avLst/>
          </a:prstGeom>
          <a:noFill/>
          <a:ln cap="flat" cmpd="sng" w="9525">
            <a:solidFill>
              <a:srgbClr val="E0E0E0"/>
            </a:solidFill>
            <a:prstDash val="solid"/>
            <a:round/>
            <a:headEnd len="sm" w="sm" type="none"/>
            <a:tailEnd len="sm" w="sm" type="none"/>
          </a:ln>
        </p:spPr>
      </p:cxnSp>
      <p:sp>
        <p:nvSpPr>
          <p:cNvPr id="697" name="Google Shape;697;g3f733dfa63e_2_537"/>
          <p:cNvSpPr/>
          <p:nvPr/>
        </p:nvSpPr>
        <p:spPr>
          <a:xfrm>
            <a:off x="566928" y="4712970"/>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Purchase</a:t>
            </a:r>
            <a:endParaRPr b="0" i="0" sz="1050" u="none" cap="none" strike="noStrike">
              <a:solidFill>
                <a:schemeClr val="dk1"/>
              </a:solidFill>
              <a:latin typeface="Calibri"/>
              <a:ea typeface="Calibri"/>
              <a:cs typeface="Calibri"/>
              <a:sym typeface="Calibri"/>
            </a:endParaRPr>
          </a:p>
        </p:txBody>
      </p:sp>
      <p:sp>
        <p:nvSpPr>
          <p:cNvPr id="698" name="Google Shape;698;g3f733dfa63e_2_537"/>
          <p:cNvSpPr/>
          <p:nvPr/>
        </p:nvSpPr>
        <p:spPr>
          <a:xfrm>
            <a:off x="1751990" y="4789170"/>
            <a:ext cx="1251000" cy="42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7A7A7A"/>
              </a:buClr>
              <a:buSzPts val="1100"/>
              <a:buFont typeface="Arial"/>
              <a:buNone/>
            </a:pPr>
            <a:r>
              <a:rPr lang="en-US" sz="1100">
                <a:solidFill>
                  <a:srgbClr val="7A7A7A"/>
                </a:solidFill>
              </a:rPr>
              <a:t>6.98%</a:t>
            </a:r>
            <a:endParaRPr b="1" sz="1100">
              <a:solidFill>
                <a:srgbClr val="0066CC"/>
              </a:solidFill>
            </a:endParaRPr>
          </a:p>
        </p:txBody>
      </p:sp>
      <p:sp>
        <p:nvSpPr>
          <p:cNvPr id="699" name="Google Shape;699;g3f733dfa63e_2_537"/>
          <p:cNvSpPr/>
          <p:nvPr/>
        </p:nvSpPr>
        <p:spPr>
          <a:xfrm>
            <a:off x="3002890" y="478917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100"/>
              <a:buFont typeface="Arial"/>
              <a:buNone/>
            </a:pPr>
            <a:r>
              <a:rPr b="1" i="0" lang="en-US" sz="1100" u="none" cap="none" strike="noStrike">
                <a:solidFill>
                  <a:srgbClr val="C90000"/>
                </a:solidFill>
                <a:latin typeface="Arial"/>
                <a:ea typeface="Arial"/>
                <a:cs typeface="Arial"/>
                <a:sym typeface="Arial"/>
              </a:rPr>
              <a:t>▼ −</a:t>
            </a:r>
            <a:r>
              <a:rPr b="1" lang="en-US" sz="1100">
                <a:solidFill>
                  <a:srgbClr val="C90000"/>
                </a:solidFill>
              </a:rPr>
              <a:t>10</a:t>
            </a:r>
            <a:r>
              <a:rPr b="1" i="0" lang="en-US" sz="1100" u="none" cap="none" strike="noStrike">
                <a:solidFill>
                  <a:srgbClr val="C90000"/>
                </a:solidFill>
                <a:latin typeface="Arial"/>
                <a:ea typeface="Arial"/>
                <a:cs typeface="Arial"/>
                <a:sym typeface="Arial"/>
              </a:rPr>
              <a:t>.</a:t>
            </a:r>
            <a:r>
              <a:rPr b="1" lang="en-US" sz="1100">
                <a:solidFill>
                  <a:srgbClr val="C90000"/>
                </a:solidFill>
              </a:rPr>
              <a:t>62</a:t>
            </a:r>
            <a:r>
              <a:rPr b="1" i="0" lang="en-US" sz="1100" u="none" cap="none" strike="noStrike">
                <a:solidFill>
                  <a:srgbClr val="C90000"/>
                </a:solidFill>
                <a:latin typeface="Arial"/>
                <a:ea typeface="Arial"/>
                <a:cs typeface="Arial"/>
                <a:sym typeface="Arial"/>
              </a:rPr>
              <a:t>%</a:t>
            </a:r>
            <a:endParaRPr b="0" i="0" sz="1100" u="none" cap="none" strike="noStrike">
              <a:solidFill>
                <a:srgbClr val="C90000"/>
              </a:solidFill>
              <a:latin typeface="Calibri"/>
              <a:ea typeface="Calibri"/>
              <a:cs typeface="Calibri"/>
              <a:sym typeface="Calibri"/>
            </a:endParaRPr>
          </a:p>
        </p:txBody>
      </p:sp>
      <p:sp>
        <p:nvSpPr>
          <p:cNvPr id="700" name="Google Shape;700;g3f733dfa63e_2_537"/>
          <p:cNvSpPr/>
          <p:nvPr/>
        </p:nvSpPr>
        <p:spPr>
          <a:xfrm>
            <a:off x="4253789" y="4789170"/>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−1.</a:t>
            </a:r>
            <a:r>
              <a:rPr lang="en-US" sz="1100">
                <a:solidFill>
                  <a:srgbClr val="7A7A7A"/>
                </a:solidFill>
              </a:rPr>
              <a:t>91</a:t>
            </a:r>
            <a:r>
              <a:rPr b="0" i="0" lang="en-US" sz="1100" u="none" cap="none" strike="noStrike">
                <a:solidFill>
                  <a:srgbClr val="7A7A7A"/>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cxnSp>
        <p:nvCxnSpPr>
          <p:cNvPr id="701" name="Google Shape;701;g3f733dfa63e_2_537"/>
          <p:cNvCxnSpPr/>
          <p:nvPr/>
        </p:nvCxnSpPr>
        <p:spPr>
          <a:xfrm>
            <a:off x="566928" y="5209794"/>
            <a:ext cx="4937700" cy="0"/>
          </a:xfrm>
          <a:prstGeom prst="straightConnector1">
            <a:avLst/>
          </a:prstGeom>
          <a:noFill/>
          <a:ln cap="flat" cmpd="sng" w="9525">
            <a:solidFill>
              <a:srgbClr val="E0E0E0"/>
            </a:solidFill>
            <a:prstDash val="solid"/>
            <a:round/>
            <a:headEnd len="sm" w="sm" type="none"/>
            <a:tailEnd len="sm" w="sm" type="none"/>
          </a:ln>
        </p:spPr>
      </p:cxnSp>
      <p:sp>
        <p:nvSpPr>
          <p:cNvPr id="702" name="Google Shape;702;g3f733dfa63e_2_537"/>
          <p:cNvSpPr/>
          <p:nvPr/>
        </p:nvSpPr>
        <p:spPr>
          <a:xfrm>
            <a:off x="566928" y="5133594"/>
            <a:ext cx="1185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1D1F"/>
              </a:buClr>
              <a:buSzPts val="1050"/>
              <a:buFont typeface="Arial"/>
              <a:buNone/>
            </a:pPr>
            <a:r>
              <a:rPr b="1" i="0" lang="en-US" sz="1050" u="none" cap="none" strike="noStrike">
                <a:solidFill>
                  <a:srgbClr val="1D1D1F"/>
                </a:solidFill>
                <a:latin typeface="Arial"/>
                <a:ea typeface="Arial"/>
                <a:cs typeface="Arial"/>
                <a:sym typeface="Arial"/>
              </a:rPr>
              <a:t>Revenue</a:t>
            </a:r>
            <a:endParaRPr b="0" i="0" sz="1050" u="none" cap="none" strike="noStrike">
              <a:solidFill>
                <a:schemeClr val="dk1"/>
              </a:solidFill>
              <a:latin typeface="Calibri"/>
              <a:ea typeface="Calibri"/>
              <a:cs typeface="Calibri"/>
              <a:sym typeface="Calibri"/>
            </a:endParaRPr>
          </a:p>
        </p:txBody>
      </p:sp>
      <p:sp>
        <p:nvSpPr>
          <p:cNvPr id="703" name="Google Shape;703;g3f733dfa63e_2_537"/>
          <p:cNvSpPr/>
          <p:nvPr/>
        </p:nvSpPr>
        <p:spPr>
          <a:xfrm>
            <a:off x="1751990" y="5209794"/>
            <a:ext cx="1251000" cy="42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7A7A7A"/>
              </a:buClr>
              <a:buSzPts val="1100"/>
              <a:buFont typeface="Arial"/>
              <a:buNone/>
            </a:pPr>
            <a:r>
              <a:rPr lang="en-US" sz="1100">
                <a:solidFill>
                  <a:srgbClr val="7A7A7A"/>
                </a:solidFill>
              </a:rPr>
              <a:t>13.31%</a:t>
            </a:r>
            <a:endParaRPr b="1" sz="1100">
              <a:solidFill>
                <a:srgbClr val="0066CC"/>
              </a:solidFill>
            </a:endParaRPr>
          </a:p>
        </p:txBody>
      </p:sp>
      <p:sp>
        <p:nvSpPr>
          <p:cNvPr id="704" name="Google Shape;704;g3f733dfa63e_2_537"/>
          <p:cNvSpPr/>
          <p:nvPr/>
        </p:nvSpPr>
        <p:spPr>
          <a:xfrm>
            <a:off x="3002890" y="520979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248"/>
              </a:buClr>
              <a:buSzPts val="1100"/>
              <a:buFont typeface="Arial"/>
              <a:buNone/>
            </a:pPr>
            <a:r>
              <a:rPr b="1" i="0" lang="en-US" sz="1100" u="none" cap="none" strike="noStrike">
                <a:solidFill>
                  <a:srgbClr val="C90000"/>
                </a:solidFill>
                <a:latin typeface="Arial"/>
                <a:ea typeface="Arial"/>
                <a:cs typeface="Arial"/>
                <a:sym typeface="Arial"/>
              </a:rPr>
              <a:t>▼ −13.</a:t>
            </a:r>
            <a:r>
              <a:rPr b="1" lang="en-US" sz="1100">
                <a:solidFill>
                  <a:srgbClr val="C90000"/>
                </a:solidFill>
              </a:rPr>
              <a:t>6</a:t>
            </a:r>
            <a:r>
              <a:rPr b="1" i="0" lang="en-US" sz="1100" u="none" cap="none" strike="noStrike">
                <a:solidFill>
                  <a:srgbClr val="C90000"/>
                </a:solidFill>
                <a:latin typeface="Arial"/>
                <a:ea typeface="Arial"/>
                <a:cs typeface="Arial"/>
                <a:sym typeface="Arial"/>
              </a:rPr>
              <a:t>5%</a:t>
            </a:r>
            <a:endParaRPr b="0" i="0" sz="1100" u="none" cap="none" strike="noStrike">
              <a:solidFill>
                <a:srgbClr val="C90000"/>
              </a:solidFill>
              <a:latin typeface="Calibri"/>
              <a:ea typeface="Calibri"/>
              <a:cs typeface="Calibri"/>
              <a:sym typeface="Calibri"/>
            </a:endParaRPr>
          </a:p>
        </p:txBody>
      </p:sp>
      <p:sp>
        <p:nvSpPr>
          <p:cNvPr id="705" name="Google Shape;705;g3f733dfa63e_2_537"/>
          <p:cNvSpPr/>
          <p:nvPr/>
        </p:nvSpPr>
        <p:spPr>
          <a:xfrm>
            <a:off x="4253789" y="5209794"/>
            <a:ext cx="12510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00"/>
              <a:buFont typeface="Arial"/>
              <a:buNone/>
            </a:pPr>
            <a:r>
              <a:rPr b="0" i="0" lang="en-US" sz="1100" u="none" cap="none" strike="noStrike">
                <a:solidFill>
                  <a:srgbClr val="7A7A7A"/>
                </a:solidFill>
                <a:latin typeface="Arial"/>
                <a:ea typeface="Arial"/>
                <a:cs typeface="Arial"/>
                <a:sym typeface="Arial"/>
              </a:rPr>
              <a:t>−</a:t>
            </a:r>
            <a:r>
              <a:rPr lang="en-US" sz="1100">
                <a:solidFill>
                  <a:srgbClr val="7A7A7A"/>
                </a:solidFill>
              </a:rPr>
              <a:t>3.12</a:t>
            </a:r>
            <a:r>
              <a:rPr b="0" i="0" lang="en-US" sz="1100" u="none" cap="none" strike="noStrike">
                <a:solidFill>
                  <a:srgbClr val="7A7A7A"/>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0" name="Shape 710"/>
        <p:cNvGrpSpPr/>
        <p:nvPr/>
      </p:nvGrpSpPr>
      <p:grpSpPr>
        <a:xfrm>
          <a:off x="0" y="0"/>
          <a:ext cx="0" cy="0"/>
          <a:chOff x="0" y="0"/>
          <a:chExt cx="0" cy="0"/>
        </a:xfrm>
      </p:grpSpPr>
      <p:sp>
        <p:nvSpPr>
          <p:cNvPr id="711" name="Google Shape;711;g3f73c14343f_0_69"/>
          <p:cNvSpPr/>
          <p:nvPr/>
        </p:nvSpPr>
        <p:spPr>
          <a:xfrm>
            <a:off x="4405274" y="4133088"/>
            <a:ext cx="3381000" cy="5487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제안  </a:t>
            </a:r>
            <a:r>
              <a:rPr b="1" i="0" lang="en-US" sz="1000" u="none" cap="none" strike="noStrike">
                <a:solidFill>
                  <a:srgbClr val="0066CC"/>
                </a:solidFill>
                <a:latin typeface="Arial"/>
                <a:ea typeface="Arial"/>
                <a:cs typeface="Arial"/>
                <a:sym typeface="Arial"/>
              </a:rPr>
              <a:t>원인 분리 후 여러 실험 요소 중 어떤 요소가 구매에 부정적인 영향을 미쳤는지 동일 세그먼트 재실험</a:t>
            </a:r>
            <a:endParaRPr b="0" i="0" sz="950" u="none" cap="none" strike="noStrike">
              <a:solidFill>
                <a:srgbClr val="0066CC"/>
              </a:solidFill>
              <a:latin typeface="Calibri"/>
              <a:ea typeface="Calibri"/>
              <a:cs typeface="Calibri"/>
              <a:sym typeface="Calibri"/>
            </a:endParaRPr>
          </a:p>
        </p:txBody>
      </p:sp>
      <p:sp>
        <p:nvSpPr>
          <p:cNvPr id="712" name="Google Shape;712;g3f73c14343f_0_69"/>
          <p:cNvSpPr/>
          <p:nvPr/>
        </p:nvSpPr>
        <p:spPr>
          <a:xfrm>
            <a:off x="566928" y="420624"/>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050"/>
              <a:buFont typeface="Arial"/>
              <a:buNone/>
            </a:pPr>
            <a:r>
              <a:rPr b="1" i="0" lang="en-US" sz="1050" u="none" cap="none" strike="noStrike">
                <a:solidFill>
                  <a:srgbClr val="0066CC"/>
                </a:solidFill>
                <a:latin typeface="Arial"/>
                <a:ea typeface="Arial"/>
                <a:cs typeface="Arial"/>
                <a:sym typeface="Arial"/>
              </a:rPr>
              <a:t>ACTION PLAN</a:t>
            </a:r>
            <a:endParaRPr b="0" i="0" sz="1050" u="none" cap="none" strike="noStrike">
              <a:solidFill>
                <a:schemeClr val="dk1"/>
              </a:solidFill>
              <a:latin typeface="Calibri"/>
              <a:ea typeface="Calibri"/>
              <a:cs typeface="Calibri"/>
              <a:sym typeface="Calibri"/>
            </a:endParaRPr>
          </a:p>
        </p:txBody>
      </p:sp>
      <p:sp>
        <p:nvSpPr>
          <p:cNvPr id="713" name="Google Shape;713;g3f73c14343f_0_69"/>
          <p:cNvSpPr/>
          <p:nvPr/>
        </p:nvSpPr>
        <p:spPr>
          <a:xfrm>
            <a:off x="566928" y="713232"/>
            <a:ext cx="110577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1D1F"/>
              </a:buClr>
              <a:buSzPts val="3000"/>
              <a:buFont typeface="Arial"/>
              <a:buNone/>
            </a:pPr>
            <a:r>
              <a:rPr b="1" i="0" lang="en-US" sz="3000" u="none" cap="none" strike="noStrike">
                <a:solidFill>
                  <a:srgbClr val="1D1D1F"/>
                </a:solidFill>
                <a:latin typeface="Arial"/>
                <a:ea typeface="Arial"/>
                <a:cs typeface="Arial"/>
                <a:sym typeface="Arial"/>
              </a:rPr>
              <a:t>7. </a:t>
            </a:r>
            <a:r>
              <a:rPr b="1" lang="en-US" sz="3000">
                <a:solidFill>
                  <a:srgbClr val="1D1D1F"/>
                </a:solidFill>
              </a:rPr>
              <a:t>비즈니스 전략 제안</a:t>
            </a:r>
            <a:endParaRPr b="0" i="0" sz="3000" u="none" cap="none" strike="noStrike">
              <a:solidFill>
                <a:schemeClr val="dk1"/>
              </a:solidFill>
              <a:latin typeface="Calibri"/>
              <a:ea typeface="Calibri"/>
              <a:cs typeface="Calibri"/>
              <a:sym typeface="Calibri"/>
            </a:endParaRPr>
          </a:p>
        </p:txBody>
      </p:sp>
      <p:sp>
        <p:nvSpPr>
          <p:cNvPr id="714" name="Google Shape;714;g3f73c14343f_0_69"/>
          <p:cNvSpPr/>
          <p:nvPr/>
        </p:nvSpPr>
        <p:spPr>
          <a:xfrm>
            <a:off x="566928" y="1316736"/>
            <a:ext cx="1105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A7A"/>
              </a:buClr>
              <a:buSzPts val="1275"/>
              <a:buFont typeface="Arial"/>
              <a:buNone/>
            </a:pPr>
            <a:r>
              <a:rPr b="0" i="0" lang="en-US" sz="1275" u="none" cap="none" strike="noStrike">
                <a:solidFill>
                  <a:srgbClr val="7A7A7A"/>
                </a:solidFill>
                <a:latin typeface="Arial"/>
                <a:ea typeface="Arial"/>
                <a:cs typeface="Arial"/>
                <a:sym typeface="Arial"/>
              </a:rPr>
              <a:t>이상 신호 원인 규명 → 연령대별 차등 적용 → 성별 후속 실험으로 의사결정 연결</a:t>
            </a:r>
            <a:endParaRPr b="0" i="0" sz="1275" u="none" cap="none" strike="noStrike">
              <a:solidFill>
                <a:schemeClr val="dk1"/>
              </a:solidFill>
              <a:latin typeface="Calibri"/>
              <a:ea typeface="Calibri"/>
              <a:cs typeface="Calibri"/>
              <a:sym typeface="Calibri"/>
            </a:endParaRPr>
          </a:p>
        </p:txBody>
      </p:sp>
      <p:cxnSp>
        <p:nvCxnSpPr>
          <p:cNvPr id="715" name="Google Shape;715;g3f73c14343f_0_69"/>
          <p:cNvCxnSpPr/>
          <p:nvPr/>
        </p:nvCxnSpPr>
        <p:spPr>
          <a:xfrm>
            <a:off x="4176674" y="1828800"/>
            <a:ext cx="0" cy="3694200"/>
          </a:xfrm>
          <a:prstGeom prst="straightConnector1">
            <a:avLst/>
          </a:prstGeom>
          <a:noFill/>
          <a:ln cap="flat" cmpd="sng" w="12700">
            <a:solidFill>
              <a:srgbClr val="E0E0E0"/>
            </a:solidFill>
            <a:prstDash val="solid"/>
            <a:round/>
            <a:headEnd len="sm" w="sm" type="none"/>
            <a:tailEnd len="sm" w="sm" type="none"/>
          </a:ln>
        </p:spPr>
      </p:cxnSp>
      <p:cxnSp>
        <p:nvCxnSpPr>
          <p:cNvPr id="716" name="Google Shape;716;g3f73c14343f_0_69"/>
          <p:cNvCxnSpPr/>
          <p:nvPr/>
        </p:nvCxnSpPr>
        <p:spPr>
          <a:xfrm>
            <a:off x="8015021" y="1828800"/>
            <a:ext cx="0" cy="3694200"/>
          </a:xfrm>
          <a:prstGeom prst="straightConnector1">
            <a:avLst/>
          </a:prstGeom>
          <a:noFill/>
          <a:ln cap="flat" cmpd="sng" w="12700">
            <a:solidFill>
              <a:srgbClr val="E0E0E0"/>
            </a:solidFill>
            <a:prstDash val="solid"/>
            <a:round/>
            <a:headEnd len="sm" w="sm" type="none"/>
            <a:tailEnd len="sm" w="sm" type="none"/>
          </a:ln>
        </p:spPr>
      </p:cxnSp>
      <p:sp>
        <p:nvSpPr>
          <p:cNvPr id="717" name="Google Shape;717;g3f73c14343f_0_69"/>
          <p:cNvSpPr/>
          <p:nvPr/>
        </p:nvSpPr>
        <p:spPr>
          <a:xfrm>
            <a:off x="566928" y="1828800"/>
            <a:ext cx="255900" cy="2559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g3f73c14343f_0_69"/>
          <p:cNvSpPr/>
          <p:nvPr/>
        </p:nvSpPr>
        <p:spPr>
          <a:xfrm>
            <a:off x="950976" y="1810512"/>
            <a:ext cx="2997000" cy="512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D1D1F"/>
              </a:buClr>
              <a:buSzPts val="1550"/>
              <a:buFont typeface="Arial"/>
              <a:buNone/>
            </a:pPr>
            <a:r>
              <a:rPr b="1" i="0" lang="en-US" sz="1550" u="none" cap="none" strike="noStrike">
                <a:solidFill>
                  <a:srgbClr val="1D1D1F"/>
                </a:solidFill>
                <a:latin typeface="Arial"/>
                <a:ea typeface="Arial"/>
                <a:cs typeface="Arial"/>
                <a:sym typeface="Arial"/>
              </a:rPr>
              <a:t>1/16 이상 원인 규명</a:t>
            </a:r>
            <a:endParaRPr b="0" i="0" sz="1550" u="none" cap="none" strike="noStrike">
              <a:solidFill>
                <a:schemeClr val="dk1"/>
              </a:solidFill>
              <a:latin typeface="Calibri"/>
              <a:ea typeface="Calibri"/>
              <a:cs typeface="Calibri"/>
              <a:sym typeface="Calibri"/>
            </a:endParaRPr>
          </a:p>
        </p:txBody>
      </p:sp>
      <p:sp>
        <p:nvSpPr>
          <p:cNvPr id="719" name="Google Shape;719;g3f73c14343f_0_69"/>
          <p:cNvSpPr/>
          <p:nvPr/>
        </p:nvSpPr>
        <p:spPr>
          <a:xfrm>
            <a:off x="566928" y="2340864"/>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상황</a:t>
            </a:r>
            <a:endParaRPr b="0" i="0" sz="950" u="none" cap="none" strike="noStrike">
              <a:solidFill>
                <a:schemeClr val="dk1"/>
              </a:solidFill>
              <a:latin typeface="Calibri"/>
              <a:ea typeface="Calibri"/>
              <a:cs typeface="Calibri"/>
              <a:sym typeface="Calibri"/>
            </a:endParaRPr>
          </a:p>
        </p:txBody>
      </p:sp>
      <p:sp>
        <p:nvSpPr>
          <p:cNvPr id="720" name="Google Shape;720;g3f73c14343f_0_69"/>
          <p:cNvSpPr/>
          <p:nvPr/>
        </p:nvSpPr>
        <p:spPr>
          <a:xfrm>
            <a:off x="566928" y="2560320"/>
            <a:ext cx="3381000" cy="2196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노출량 · 구매 · 매출 통계적으로 유의한 감소</a:t>
            </a:r>
            <a:endParaRPr b="0" i="0" sz="1000" u="none" cap="none" strike="noStrike">
              <a:solidFill>
                <a:schemeClr val="dk1"/>
              </a:solidFill>
              <a:latin typeface="Calibri"/>
              <a:ea typeface="Calibri"/>
              <a:cs typeface="Calibri"/>
              <a:sym typeface="Calibri"/>
            </a:endParaRPr>
          </a:p>
        </p:txBody>
      </p:sp>
      <p:cxnSp>
        <p:nvCxnSpPr>
          <p:cNvPr id="721" name="Google Shape;721;g3f73c14343f_0_69"/>
          <p:cNvCxnSpPr/>
          <p:nvPr/>
        </p:nvCxnSpPr>
        <p:spPr>
          <a:xfrm>
            <a:off x="566928" y="2926080"/>
            <a:ext cx="3381000" cy="0"/>
          </a:xfrm>
          <a:prstGeom prst="straightConnector1">
            <a:avLst/>
          </a:prstGeom>
          <a:noFill/>
          <a:ln cap="flat" cmpd="sng" w="9525">
            <a:solidFill>
              <a:srgbClr val="E0E0E0"/>
            </a:solidFill>
            <a:prstDash val="solid"/>
            <a:round/>
            <a:headEnd len="sm" w="sm" type="none"/>
            <a:tailEnd len="sm" w="sm" type="none"/>
          </a:ln>
        </p:spPr>
      </p:cxnSp>
      <p:sp>
        <p:nvSpPr>
          <p:cNvPr id="722" name="Google Shape;722;g3f73c14343f_0_69"/>
          <p:cNvSpPr/>
          <p:nvPr/>
        </p:nvSpPr>
        <p:spPr>
          <a:xfrm>
            <a:off x="566928" y="3090672"/>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제안</a:t>
            </a:r>
            <a:endParaRPr b="0" i="0" sz="950" u="none" cap="none" strike="noStrike">
              <a:solidFill>
                <a:schemeClr val="dk1"/>
              </a:solidFill>
              <a:latin typeface="Calibri"/>
              <a:ea typeface="Calibri"/>
              <a:cs typeface="Calibri"/>
              <a:sym typeface="Calibri"/>
            </a:endParaRPr>
          </a:p>
        </p:txBody>
      </p:sp>
      <p:sp>
        <p:nvSpPr>
          <p:cNvPr id="723" name="Google Shape;723;g3f73c14343f_0_69"/>
          <p:cNvSpPr/>
          <p:nvPr/>
        </p:nvSpPr>
        <p:spPr>
          <a:xfrm>
            <a:off x="566928" y="3310128"/>
            <a:ext cx="3381000" cy="5670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1" i="0" lang="en-US" sz="1000" u="none" cap="none" strike="noStrike">
                <a:solidFill>
                  <a:srgbClr val="0066CC"/>
                </a:solidFill>
                <a:latin typeface="Arial"/>
                <a:ea typeface="Arial"/>
                <a:cs typeface="Arial"/>
                <a:sym typeface="Arial"/>
              </a:rPr>
              <a:t>1/16 성과 감소 추가 테스트 후 시스템 문제일 시 시스템 오류 해결 후 재검증, 실험 영향 시 전략 수정</a:t>
            </a:r>
            <a:endParaRPr b="0" i="0" sz="1000" u="none" cap="none" strike="noStrike">
              <a:solidFill>
                <a:srgbClr val="0066CC"/>
              </a:solidFill>
              <a:latin typeface="Calibri"/>
              <a:ea typeface="Calibri"/>
              <a:cs typeface="Calibri"/>
              <a:sym typeface="Calibri"/>
            </a:endParaRPr>
          </a:p>
        </p:txBody>
      </p:sp>
      <p:cxnSp>
        <p:nvCxnSpPr>
          <p:cNvPr id="724" name="Google Shape;724;g3f73c14343f_0_69"/>
          <p:cNvCxnSpPr/>
          <p:nvPr/>
        </p:nvCxnSpPr>
        <p:spPr>
          <a:xfrm>
            <a:off x="566928" y="3950208"/>
            <a:ext cx="3381000" cy="0"/>
          </a:xfrm>
          <a:prstGeom prst="straightConnector1">
            <a:avLst/>
          </a:prstGeom>
          <a:noFill/>
          <a:ln cap="flat" cmpd="sng" w="9525">
            <a:solidFill>
              <a:srgbClr val="E0E0E0"/>
            </a:solidFill>
            <a:prstDash val="solid"/>
            <a:round/>
            <a:headEnd len="sm" w="sm" type="none"/>
            <a:tailEnd len="sm" w="sm" type="none"/>
          </a:ln>
        </p:spPr>
      </p:cxnSp>
      <p:sp>
        <p:nvSpPr>
          <p:cNvPr id="725" name="Google Shape;725;g3f73c14343f_0_69"/>
          <p:cNvSpPr/>
          <p:nvPr/>
        </p:nvSpPr>
        <p:spPr>
          <a:xfrm>
            <a:off x="566928" y="4133088"/>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가설 A</a:t>
            </a:r>
            <a:endParaRPr b="0" i="0" sz="950" u="none" cap="none" strike="noStrike">
              <a:solidFill>
                <a:schemeClr val="dk1"/>
              </a:solidFill>
              <a:latin typeface="Calibri"/>
              <a:ea typeface="Calibri"/>
              <a:cs typeface="Calibri"/>
              <a:sym typeface="Calibri"/>
            </a:endParaRPr>
          </a:p>
        </p:txBody>
      </p:sp>
      <p:sp>
        <p:nvSpPr>
          <p:cNvPr id="726" name="Google Shape;726;g3f73c14343f_0_69"/>
          <p:cNvSpPr/>
          <p:nvPr/>
        </p:nvSpPr>
        <p:spPr>
          <a:xfrm>
            <a:off x="566928" y="4352544"/>
            <a:ext cx="3381000" cy="274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시스템/운영 이상 — 장애·로그·재고·가격·프로모션·유입 변화</a:t>
            </a:r>
            <a:endParaRPr b="0" i="0" sz="1000" u="none" cap="none" strike="noStrike">
              <a:solidFill>
                <a:schemeClr val="dk1"/>
              </a:solidFill>
              <a:latin typeface="Calibri"/>
              <a:ea typeface="Calibri"/>
              <a:cs typeface="Calibri"/>
              <a:sym typeface="Calibri"/>
            </a:endParaRPr>
          </a:p>
        </p:txBody>
      </p:sp>
      <p:sp>
        <p:nvSpPr>
          <p:cNvPr id="727" name="Google Shape;727;g3f73c14343f_0_69"/>
          <p:cNvSpPr/>
          <p:nvPr/>
        </p:nvSpPr>
        <p:spPr>
          <a:xfrm>
            <a:off x="566928" y="4718304"/>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가설 B</a:t>
            </a:r>
            <a:endParaRPr b="0" i="0" sz="950" u="none" cap="none" strike="noStrike">
              <a:solidFill>
                <a:schemeClr val="dk1"/>
              </a:solidFill>
              <a:latin typeface="Calibri"/>
              <a:ea typeface="Calibri"/>
              <a:cs typeface="Calibri"/>
              <a:sym typeface="Calibri"/>
            </a:endParaRPr>
          </a:p>
        </p:txBody>
      </p:sp>
      <p:sp>
        <p:nvSpPr>
          <p:cNvPr id="728" name="Google Shape;728;g3f73c14343f_0_69"/>
          <p:cNvSpPr/>
          <p:nvPr/>
        </p:nvSpPr>
        <p:spPr>
          <a:xfrm>
            <a:off x="566928" y="4937760"/>
            <a:ext cx="3381000" cy="274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당일 실험 요소 영향 — Test에서만 성과 악화?</a:t>
            </a:r>
            <a:endParaRPr b="0" i="0" sz="1000" u="none" cap="none" strike="noStrike">
              <a:solidFill>
                <a:schemeClr val="dk1"/>
              </a:solidFill>
              <a:latin typeface="Calibri"/>
              <a:ea typeface="Calibri"/>
              <a:cs typeface="Calibri"/>
              <a:sym typeface="Calibri"/>
            </a:endParaRPr>
          </a:p>
        </p:txBody>
      </p:sp>
      <p:sp>
        <p:nvSpPr>
          <p:cNvPr id="729" name="Google Shape;729;g3f73c14343f_0_69"/>
          <p:cNvSpPr/>
          <p:nvPr/>
        </p:nvSpPr>
        <p:spPr>
          <a:xfrm>
            <a:off x="4405274" y="1828800"/>
            <a:ext cx="255900" cy="2559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f73c14343f_0_69"/>
          <p:cNvSpPr/>
          <p:nvPr/>
        </p:nvSpPr>
        <p:spPr>
          <a:xfrm>
            <a:off x="4789322" y="1810512"/>
            <a:ext cx="2997000" cy="512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D1D1F"/>
              </a:buClr>
              <a:buSzPts val="1550"/>
              <a:buFont typeface="Arial"/>
              <a:buNone/>
            </a:pPr>
            <a:r>
              <a:rPr b="1" i="0" lang="en-US" sz="1550" u="none" cap="none" strike="noStrike">
                <a:solidFill>
                  <a:srgbClr val="1D1D1F"/>
                </a:solidFill>
                <a:latin typeface="Arial"/>
                <a:ea typeface="Arial"/>
                <a:cs typeface="Arial"/>
                <a:sym typeface="Arial"/>
              </a:rPr>
              <a:t>연령대별 적용 전략</a:t>
            </a:r>
            <a:endParaRPr b="0" i="0" sz="1550" u="none" cap="none" strike="noStrike">
              <a:solidFill>
                <a:schemeClr val="dk1"/>
              </a:solidFill>
              <a:latin typeface="Calibri"/>
              <a:ea typeface="Calibri"/>
              <a:cs typeface="Calibri"/>
              <a:sym typeface="Calibri"/>
            </a:endParaRPr>
          </a:p>
        </p:txBody>
      </p:sp>
      <p:sp>
        <p:nvSpPr>
          <p:cNvPr id="731" name="Google Shape;731;g3f73c14343f_0_69"/>
          <p:cNvSpPr/>
          <p:nvPr/>
        </p:nvSpPr>
        <p:spPr>
          <a:xfrm>
            <a:off x="4405274" y="2340864"/>
            <a:ext cx="33810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0–19세: 실험 요소 우선 적용 및 성과 모니터링</a:t>
            </a:r>
            <a:endParaRPr b="0" i="0" sz="1150" u="none" cap="none" strike="noStrike">
              <a:solidFill>
                <a:schemeClr val="dk1"/>
              </a:solidFill>
              <a:latin typeface="Calibri"/>
              <a:ea typeface="Calibri"/>
              <a:cs typeface="Calibri"/>
              <a:sym typeface="Calibri"/>
            </a:endParaRPr>
          </a:p>
        </p:txBody>
      </p:sp>
      <p:sp>
        <p:nvSpPr>
          <p:cNvPr id="732" name="Google Shape;732;g3f73c14343f_0_69"/>
          <p:cNvSpPr/>
          <p:nvPr/>
        </p:nvSpPr>
        <p:spPr>
          <a:xfrm>
            <a:off x="4405274" y="2670048"/>
            <a:ext cx="3381000" cy="5487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66CC"/>
              </a:buClr>
              <a:buSzPts val="950"/>
              <a:buFont typeface="Arial"/>
              <a:buNone/>
            </a:pPr>
            <a:r>
              <a:rPr b="1" i="0" lang="en-US" sz="950" u="none" cap="none" strike="noStrike">
                <a:solidFill>
                  <a:srgbClr val="1D1D1F"/>
                </a:solidFill>
                <a:latin typeface="Arial"/>
                <a:ea typeface="Arial"/>
                <a:cs typeface="Arial"/>
                <a:sym typeface="Arial"/>
              </a:rPr>
              <a:t>상황 </a:t>
            </a:r>
            <a:r>
              <a:rPr b="1" i="0" lang="en-US" sz="950" u="none" cap="none" strike="noStrike">
                <a:solidFill>
                  <a:srgbClr val="0066CC"/>
                </a:solidFill>
                <a:latin typeface="Arial"/>
                <a:ea typeface="Arial"/>
                <a:cs typeface="Arial"/>
                <a:sym typeface="Arial"/>
              </a:rPr>
              <a:t> </a:t>
            </a:r>
            <a:r>
              <a:rPr b="0" i="0" lang="en-US" sz="1000" u="none" cap="none" strike="noStrike">
                <a:solidFill>
                  <a:srgbClr val="1D1D1F"/>
                </a:solidFill>
                <a:latin typeface="Arial"/>
                <a:ea typeface="Arial"/>
                <a:cs typeface="Arial"/>
                <a:sym typeface="Arial"/>
              </a:rPr>
              <a:t>노출량 · 구매 · 매출 통계적으로 유의한 증가</a:t>
            </a:r>
            <a:endParaRPr b="0" i="0" sz="950" u="none" cap="none" strike="noStrike">
              <a:solidFill>
                <a:schemeClr val="dk1"/>
              </a:solidFill>
              <a:latin typeface="Calibri"/>
              <a:ea typeface="Calibri"/>
              <a:cs typeface="Calibri"/>
              <a:sym typeface="Calibri"/>
            </a:endParaRPr>
          </a:p>
        </p:txBody>
      </p:sp>
      <p:sp>
        <p:nvSpPr>
          <p:cNvPr id="733" name="Google Shape;733;g3f73c14343f_0_69"/>
          <p:cNvSpPr/>
          <p:nvPr/>
        </p:nvSpPr>
        <p:spPr>
          <a:xfrm>
            <a:off x="4405275" y="2926075"/>
            <a:ext cx="3609900" cy="5487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66CC"/>
              </a:buClr>
              <a:buSzPts val="950"/>
              <a:buFont typeface="Arial"/>
              <a:buNone/>
            </a:pPr>
            <a:r>
              <a:rPr b="1" i="0" lang="en-US" sz="950" u="none" cap="none" strike="noStrike">
                <a:solidFill>
                  <a:srgbClr val="1D1D1F"/>
                </a:solidFill>
                <a:latin typeface="Arial"/>
                <a:ea typeface="Arial"/>
                <a:cs typeface="Arial"/>
                <a:sym typeface="Arial"/>
              </a:rPr>
              <a:t>제안 </a:t>
            </a:r>
            <a:r>
              <a:rPr b="1" i="0" lang="en-US" sz="950" u="none" cap="none" strike="noStrike">
                <a:solidFill>
                  <a:srgbClr val="0066CC"/>
                </a:solidFill>
                <a:latin typeface="Arial"/>
                <a:ea typeface="Arial"/>
                <a:cs typeface="Arial"/>
                <a:sym typeface="Arial"/>
              </a:rPr>
              <a:t> </a:t>
            </a:r>
            <a:endParaRPr b="1" i="0" sz="950" u="none" cap="none" strike="noStrike">
              <a:solidFill>
                <a:srgbClr val="0066CC"/>
              </a:solidFill>
              <a:latin typeface="Arial"/>
              <a:ea typeface="Arial"/>
              <a:cs typeface="Arial"/>
              <a:sym typeface="Arial"/>
            </a:endParaRPr>
          </a:p>
          <a:p>
            <a:pPr indent="0" lvl="0" marL="0" marR="0" rtl="0" algn="l">
              <a:lnSpc>
                <a:spcPct val="128000"/>
              </a:lnSpc>
              <a:spcBef>
                <a:spcPts val="0"/>
              </a:spcBef>
              <a:spcAft>
                <a:spcPts val="0"/>
              </a:spcAft>
              <a:buClr>
                <a:srgbClr val="0066CC"/>
              </a:buClr>
              <a:buSzPts val="950"/>
              <a:buFont typeface="Arial"/>
              <a:buNone/>
            </a:pPr>
            <a:r>
              <a:rPr b="1" i="0" lang="en-US" sz="1000" u="none" cap="none" strike="noStrike">
                <a:solidFill>
                  <a:srgbClr val="0066CC"/>
                </a:solidFill>
                <a:latin typeface="Arial"/>
                <a:ea typeface="Arial"/>
                <a:cs typeface="Arial"/>
                <a:sym typeface="Arial"/>
              </a:rPr>
              <a:t>일부 트래픽 적용 → 4개 퍼널 지표 모니터링 → 효과 재현 시 확대 적용</a:t>
            </a:r>
            <a:endParaRPr b="0" i="0" sz="950" u="none" cap="none" strike="noStrike">
              <a:solidFill>
                <a:srgbClr val="0066CC"/>
              </a:solidFill>
              <a:latin typeface="Calibri"/>
              <a:ea typeface="Calibri"/>
              <a:cs typeface="Calibri"/>
              <a:sym typeface="Calibri"/>
            </a:endParaRPr>
          </a:p>
        </p:txBody>
      </p:sp>
      <p:cxnSp>
        <p:nvCxnSpPr>
          <p:cNvPr id="734" name="Google Shape;734;g3f73c14343f_0_69"/>
          <p:cNvCxnSpPr/>
          <p:nvPr/>
        </p:nvCxnSpPr>
        <p:spPr>
          <a:xfrm>
            <a:off x="4405274" y="3419856"/>
            <a:ext cx="3381000" cy="0"/>
          </a:xfrm>
          <a:prstGeom prst="straightConnector1">
            <a:avLst/>
          </a:prstGeom>
          <a:noFill/>
          <a:ln cap="flat" cmpd="sng" w="9525">
            <a:solidFill>
              <a:srgbClr val="E0E0E0"/>
            </a:solidFill>
            <a:prstDash val="solid"/>
            <a:round/>
            <a:headEnd len="sm" w="sm" type="none"/>
            <a:tailEnd len="sm" w="sm" type="none"/>
          </a:ln>
        </p:spPr>
      </p:cxnSp>
      <p:sp>
        <p:nvSpPr>
          <p:cNvPr id="735" name="Google Shape;735;g3f73c14343f_0_69"/>
          <p:cNvSpPr/>
          <p:nvPr/>
        </p:nvSpPr>
        <p:spPr>
          <a:xfrm>
            <a:off x="4405274" y="3547872"/>
            <a:ext cx="33810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20–49세: 기존안 유지 및 원인 규명 실험</a:t>
            </a:r>
            <a:endParaRPr b="0" i="0" sz="1150" u="none" cap="none" strike="noStrike">
              <a:solidFill>
                <a:schemeClr val="dk1"/>
              </a:solidFill>
              <a:latin typeface="Calibri"/>
              <a:ea typeface="Calibri"/>
              <a:cs typeface="Calibri"/>
              <a:sym typeface="Calibri"/>
            </a:endParaRPr>
          </a:p>
        </p:txBody>
      </p:sp>
      <p:sp>
        <p:nvSpPr>
          <p:cNvPr id="736" name="Google Shape;736;g3f73c14343f_0_69"/>
          <p:cNvSpPr/>
          <p:nvPr/>
        </p:nvSpPr>
        <p:spPr>
          <a:xfrm>
            <a:off x="4405274" y="3877056"/>
            <a:ext cx="3381000" cy="5487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상황</a:t>
            </a:r>
            <a:r>
              <a:rPr b="1" i="0" lang="en-US" sz="950" u="none" cap="none" strike="noStrike">
                <a:solidFill>
                  <a:srgbClr val="0066CC"/>
                </a:solidFill>
                <a:latin typeface="Arial"/>
                <a:ea typeface="Arial"/>
                <a:cs typeface="Arial"/>
                <a:sym typeface="Arial"/>
              </a:rPr>
              <a:t>  </a:t>
            </a:r>
            <a:r>
              <a:rPr b="0" i="0" lang="en-US" sz="1000" u="none" cap="none" strike="noStrike">
                <a:solidFill>
                  <a:srgbClr val="1D1D1F"/>
                </a:solidFill>
                <a:latin typeface="Arial"/>
                <a:ea typeface="Arial"/>
                <a:cs typeface="Arial"/>
                <a:sym typeface="Arial"/>
              </a:rPr>
              <a:t>구매 · 매출 통계적으로 유의한 감소</a:t>
            </a:r>
            <a:endParaRPr b="0" i="0" sz="950" u="none" cap="none" strike="noStrike">
              <a:solidFill>
                <a:schemeClr val="dk1"/>
              </a:solidFill>
              <a:latin typeface="Calibri"/>
              <a:ea typeface="Calibri"/>
              <a:cs typeface="Calibri"/>
              <a:sym typeface="Calibri"/>
            </a:endParaRPr>
          </a:p>
        </p:txBody>
      </p:sp>
      <p:cxnSp>
        <p:nvCxnSpPr>
          <p:cNvPr id="737" name="Google Shape;737;g3f73c14343f_0_69"/>
          <p:cNvCxnSpPr/>
          <p:nvPr/>
        </p:nvCxnSpPr>
        <p:spPr>
          <a:xfrm>
            <a:off x="4405274" y="4626864"/>
            <a:ext cx="3381000" cy="0"/>
          </a:xfrm>
          <a:prstGeom prst="straightConnector1">
            <a:avLst/>
          </a:prstGeom>
          <a:noFill/>
          <a:ln cap="flat" cmpd="sng" w="9525">
            <a:solidFill>
              <a:srgbClr val="E0E0E0"/>
            </a:solidFill>
            <a:prstDash val="solid"/>
            <a:round/>
            <a:headEnd len="sm" w="sm" type="none"/>
            <a:tailEnd len="sm" w="sm" type="none"/>
          </a:ln>
        </p:spPr>
      </p:cxnSp>
      <p:sp>
        <p:nvSpPr>
          <p:cNvPr id="738" name="Google Shape;738;g3f73c14343f_0_69"/>
          <p:cNvSpPr/>
          <p:nvPr/>
        </p:nvSpPr>
        <p:spPr>
          <a:xfrm>
            <a:off x="4405274" y="4754880"/>
            <a:ext cx="3381000" cy="274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1D1F"/>
              </a:buClr>
              <a:buSzPts val="1150"/>
              <a:buFont typeface="Arial"/>
              <a:buNone/>
            </a:pPr>
            <a:r>
              <a:rPr b="1" i="0" lang="en-US" sz="1150" u="none" cap="none" strike="noStrike">
                <a:solidFill>
                  <a:srgbClr val="1D1D1F"/>
                </a:solidFill>
                <a:latin typeface="Arial"/>
                <a:ea typeface="Arial"/>
                <a:cs typeface="Arial"/>
                <a:sym typeface="Arial"/>
              </a:rPr>
              <a:t>50+세: 기존안 유지</a:t>
            </a:r>
            <a:endParaRPr b="0" i="0" sz="1150" u="none" cap="none" strike="noStrike">
              <a:solidFill>
                <a:schemeClr val="dk1"/>
              </a:solidFill>
              <a:latin typeface="Calibri"/>
              <a:ea typeface="Calibri"/>
              <a:cs typeface="Calibri"/>
              <a:sym typeface="Calibri"/>
            </a:endParaRPr>
          </a:p>
        </p:txBody>
      </p:sp>
      <p:sp>
        <p:nvSpPr>
          <p:cNvPr id="739" name="Google Shape;739;g3f73c14343f_0_69"/>
          <p:cNvSpPr/>
          <p:nvPr/>
        </p:nvSpPr>
        <p:spPr>
          <a:xfrm>
            <a:off x="4405274" y="4992624"/>
            <a:ext cx="3381000" cy="5487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66CC"/>
              </a:buClr>
              <a:buSzPts val="950"/>
              <a:buFont typeface="Arial"/>
              <a:buNone/>
            </a:pPr>
            <a:r>
              <a:rPr b="1" i="0" lang="en-US" sz="950" u="none" cap="none" strike="noStrike">
                <a:solidFill>
                  <a:srgbClr val="1D1D1F"/>
                </a:solidFill>
                <a:latin typeface="Arial"/>
                <a:ea typeface="Arial"/>
                <a:cs typeface="Arial"/>
                <a:sym typeface="Arial"/>
              </a:rPr>
              <a:t>상황 </a:t>
            </a:r>
            <a:r>
              <a:rPr b="1" i="0" lang="en-US" sz="950" u="none" cap="none" strike="noStrike">
                <a:solidFill>
                  <a:srgbClr val="0066CC"/>
                </a:solidFill>
                <a:latin typeface="Arial"/>
                <a:ea typeface="Arial"/>
                <a:cs typeface="Arial"/>
                <a:sym typeface="Arial"/>
              </a:rPr>
              <a:t> </a:t>
            </a:r>
            <a:r>
              <a:rPr b="0" i="0" lang="en-US" sz="1000" u="none" cap="none" strike="noStrike">
                <a:solidFill>
                  <a:srgbClr val="1D1D1F"/>
                </a:solidFill>
                <a:latin typeface="Arial"/>
                <a:ea typeface="Arial"/>
                <a:cs typeface="Arial"/>
                <a:sym typeface="Arial"/>
              </a:rPr>
              <a:t>유의한 변화 없음</a:t>
            </a:r>
            <a:endParaRPr b="0" i="0" sz="950" u="none" cap="none" strike="noStrike">
              <a:solidFill>
                <a:schemeClr val="dk1"/>
              </a:solidFill>
              <a:latin typeface="Calibri"/>
              <a:ea typeface="Calibri"/>
              <a:cs typeface="Calibri"/>
              <a:sym typeface="Calibri"/>
            </a:endParaRPr>
          </a:p>
        </p:txBody>
      </p:sp>
      <p:sp>
        <p:nvSpPr>
          <p:cNvPr id="740" name="Google Shape;740;g3f73c14343f_0_69"/>
          <p:cNvSpPr/>
          <p:nvPr/>
        </p:nvSpPr>
        <p:spPr>
          <a:xfrm>
            <a:off x="4405274" y="5248656"/>
            <a:ext cx="3381000" cy="5487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66CC"/>
              </a:buClr>
              <a:buSzPts val="950"/>
              <a:buFont typeface="Arial"/>
              <a:buNone/>
            </a:pPr>
            <a:r>
              <a:rPr b="1" lang="en-US" sz="950">
                <a:solidFill>
                  <a:schemeClr val="dk1"/>
                </a:solidFill>
              </a:rPr>
              <a:t>2제안</a:t>
            </a:r>
            <a:r>
              <a:rPr b="1" i="0" lang="en-US" sz="950" u="none" cap="none" strike="noStrike">
                <a:solidFill>
                  <a:srgbClr val="0066CC"/>
                </a:solidFill>
                <a:latin typeface="Arial"/>
                <a:ea typeface="Arial"/>
                <a:cs typeface="Arial"/>
                <a:sym typeface="Arial"/>
              </a:rPr>
              <a:t>  </a:t>
            </a:r>
            <a:r>
              <a:rPr b="1" i="0" lang="en-US" sz="1000" u="none" cap="none" strike="noStrike">
                <a:solidFill>
                  <a:srgbClr val="0066CC"/>
                </a:solidFill>
                <a:latin typeface="Arial"/>
                <a:ea typeface="Arial"/>
                <a:cs typeface="Arial"/>
                <a:sym typeface="Arial"/>
              </a:rPr>
              <a:t>우선 개선/확대 대상에서 제외</a:t>
            </a:r>
            <a:endParaRPr b="0" i="0" sz="950" u="none" cap="none" strike="noStrike">
              <a:solidFill>
                <a:srgbClr val="0066CC"/>
              </a:solidFill>
              <a:latin typeface="Calibri"/>
              <a:ea typeface="Calibri"/>
              <a:cs typeface="Calibri"/>
              <a:sym typeface="Calibri"/>
            </a:endParaRPr>
          </a:p>
        </p:txBody>
      </p:sp>
      <p:sp>
        <p:nvSpPr>
          <p:cNvPr id="741" name="Google Shape;741;g3f73c14343f_0_69"/>
          <p:cNvSpPr/>
          <p:nvPr/>
        </p:nvSpPr>
        <p:spPr>
          <a:xfrm>
            <a:off x="8243621" y="1828800"/>
            <a:ext cx="255900" cy="255900"/>
          </a:xfrm>
          <a:prstGeom prst="ellipse">
            <a:avLst/>
          </a:prstGeom>
          <a:solidFill>
            <a:srgbClr val="FFFFFF"/>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g3f73c14343f_0_69"/>
          <p:cNvSpPr/>
          <p:nvPr/>
        </p:nvSpPr>
        <p:spPr>
          <a:xfrm>
            <a:off x="8627669" y="1810512"/>
            <a:ext cx="2997000" cy="512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D1D1F"/>
              </a:buClr>
              <a:buSzPts val="1550"/>
              <a:buFont typeface="Arial"/>
              <a:buNone/>
            </a:pPr>
            <a:r>
              <a:rPr b="1" i="0" lang="en-US" sz="1550" u="none" cap="none" strike="noStrike">
                <a:solidFill>
                  <a:srgbClr val="1D1D1F"/>
                </a:solidFill>
                <a:latin typeface="Arial"/>
                <a:ea typeface="Arial"/>
                <a:cs typeface="Arial"/>
                <a:sym typeface="Arial"/>
              </a:rPr>
              <a:t>성별 반응 차이 원인 규명 후속 실험</a:t>
            </a:r>
            <a:endParaRPr b="0" i="0" sz="1550" u="none" cap="none" strike="noStrike">
              <a:solidFill>
                <a:schemeClr val="dk1"/>
              </a:solidFill>
              <a:latin typeface="Calibri"/>
              <a:ea typeface="Calibri"/>
              <a:cs typeface="Calibri"/>
              <a:sym typeface="Calibri"/>
            </a:endParaRPr>
          </a:p>
        </p:txBody>
      </p:sp>
      <p:sp>
        <p:nvSpPr>
          <p:cNvPr id="743" name="Google Shape;743;g3f73c14343f_0_69"/>
          <p:cNvSpPr/>
          <p:nvPr/>
        </p:nvSpPr>
        <p:spPr>
          <a:xfrm>
            <a:off x="8243621" y="2340864"/>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상황</a:t>
            </a:r>
            <a:endParaRPr b="0" i="0" sz="950" u="none" cap="none" strike="noStrike">
              <a:solidFill>
                <a:schemeClr val="dk1"/>
              </a:solidFill>
              <a:latin typeface="Calibri"/>
              <a:ea typeface="Calibri"/>
              <a:cs typeface="Calibri"/>
              <a:sym typeface="Calibri"/>
            </a:endParaRPr>
          </a:p>
        </p:txBody>
      </p:sp>
      <p:sp>
        <p:nvSpPr>
          <p:cNvPr id="744" name="Google Shape;744;g3f73c14343f_0_69"/>
          <p:cNvSpPr/>
          <p:nvPr/>
        </p:nvSpPr>
        <p:spPr>
          <a:xfrm>
            <a:off x="8243621" y="2560320"/>
            <a:ext cx="3381000" cy="457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 남성: 노출량·클릭 ↑ / 구매·매출 유의한 변화 없음</a:t>
            </a:r>
            <a:endParaRPr b="0" i="0" sz="10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 여성: 노출량·클릭 유의한 변화 없음 / 구매 ↓</a:t>
            </a:r>
            <a:endParaRPr b="0" i="0" sz="1000" u="none" cap="none" strike="noStrike">
              <a:solidFill>
                <a:schemeClr val="dk1"/>
              </a:solidFill>
              <a:latin typeface="Calibri"/>
              <a:ea typeface="Calibri"/>
              <a:cs typeface="Calibri"/>
              <a:sym typeface="Calibri"/>
            </a:endParaRPr>
          </a:p>
        </p:txBody>
      </p:sp>
      <p:cxnSp>
        <p:nvCxnSpPr>
          <p:cNvPr id="745" name="Google Shape;745;g3f73c14343f_0_69"/>
          <p:cNvCxnSpPr/>
          <p:nvPr/>
        </p:nvCxnSpPr>
        <p:spPr>
          <a:xfrm>
            <a:off x="8243621" y="3108960"/>
            <a:ext cx="3381000" cy="0"/>
          </a:xfrm>
          <a:prstGeom prst="straightConnector1">
            <a:avLst/>
          </a:prstGeom>
          <a:noFill/>
          <a:ln cap="flat" cmpd="sng" w="9525">
            <a:solidFill>
              <a:srgbClr val="E0E0E0"/>
            </a:solidFill>
            <a:prstDash val="solid"/>
            <a:round/>
            <a:headEnd len="sm" w="sm" type="none"/>
            <a:tailEnd len="sm" w="sm" type="none"/>
          </a:ln>
        </p:spPr>
      </p:cxnSp>
      <p:sp>
        <p:nvSpPr>
          <p:cNvPr id="746" name="Google Shape;746;g3f73c14343f_0_69"/>
          <p:cNvSpPr/>
          <p:nvPr/>
        </p:nvSpPr>
        <p:spPr>
          <a:xfrm>
            <a:off x="8243621" y="3291840"/>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제안</a:t>
            </a:r>
            <a:endParaRPr b="0" i="0" sz="950" u="none" cap="none" strike="noStrike">
              <a:solidFill>
                <a:schemeClr val="dk1"/>
              </a:solidFill>
              <a:latin typeface="Calibri"/>
              <a:ea typeface="Calibri"/>
              <a:cs typeface="Calibri"/>
              <a:sym typeface="Calibri"/>
            </a:endParaRPr>
          </a:p>
        </p:txBody>
      </p:sp>
      <p:sp>
        <p:nvSpPr>
          <p:cNvPr id="747" name="Google Shape;747;g3f73c14343f_0_69"/>
          <p:cNvSpPr/>
          <p:nvPr/>
        </p:nvSpPr>
        <p:spPr>
          <a:xfrm>
            <a:off x="8243621" y="3511296"/>
            <a:ext cx="3381000" cy="457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1" i="0" lang="en-US" sz="1000" u="none" cap="none" strike="noStrike">
                <a:solidFill>
                  <a:srgbClr val="0066CC"/>
                </a:solidFill>
                <a:latin typeface="Arial"/>
                <a:ea typeface="Arial"/>
                <a:cs typeface="Arial"/>
                <a:sym typeface="Arial"/>
              </a:rPr>
              <a:t>변경된 실험 요소를 구성 요소별로 분리해 A/B 테스트 → 성별별 구매 효과 비교 → 영향 요소 식별</a:t>
            </a:r>
            <a:endParaRPr b="0" i="0" sz="1000" u="none" cap="none" strike="noStrike">
              <a:solidFill>
                <a:srgbClr val="0066CC"/>
              </a:solidFill>
              <a:latin typeface="Calibri"/>
              <a:ea typeface="Calibri"/>
              <a:cs typeface="Calibri"/>
              <a:sym typeface="Calibri"/>
            </a:endParaRPr>
          </a:p>
        </p:txBody>
      </p:sp>
      <p:cxnSp>
        <p:nvCxnSpPr>
          <p:cNvPr id="748" name="Google Shape;748;g3f73c14343f_0_69"/>
          <p:cNvCxnSpPr/>
          <p:nvPr/>
        </p:nvCxnSpPr>
        <p:spPr>
          <a:xfrm>
            <a:off x="8243621" y="4059936"/>
            <a:ext cx="3381000" cy="0"/>
          </a:xfrm>
          <a:prstGeom prst="straightConnector1">
            <a:avLst/>
          </a:prstGeom>
          <a:noFill/>
          <a:ln cap="flat" cmpd="sng" w="9525">
            <a:solidFill>
              <a:srgbClr val="E0E0E0"/>
            </a:solidFill>
            <a:prstDash val="solid"/>
            <a:round/>
            <a:headEnd len="sm" w="sm" type="none"/>
            <a:tailEnd len="sm" w="sm" type="none"/>
          </a:ln>
        </p:spPr>
      </p:cxnSp>
      <p:sp>
        <p:nvSpPr>
          <p:cNvPr id="749" name="Google Shape;749;g3f73c14343f_0_69"/>
          <p:cNvSpPr/>
          <p:nvPr/>
        </p:nvSpPr>
        <p:spPr>
          <a:xfrm>
            <a:off x="8243621" y="4242816"/>
            <a:ext cx="3381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950"/>
              <a:buFont typeface="Arial"/>
              <a:buNone/>
            </a:pPr>
            <a:r>
              <a:rPr b="1" i="0" lang="en-US" sz="950" u="none" cap="none" strike="noStrike">
                <a:solidFill>
                  <a:schemeClr val="dk1"/>
                </a:solidFill>
                <a:latin typeface="Arial"/>
                <a:ea typeface="Arial"/>
                <a:cs typeface="Arial"/>
                <a:sym typeface="Arial"/>
              </a:rPr>
              <a:t>후속 가설</a:t>
            </a:r>
            <a:endParaRPr b="0" i="0" sz="950" u="none" cap="none" strike="noStrike">
              <a:solidFill>
                <a:schemeClr val="dk1"/>
              </a:solidFill>
              <a:latin typeface="Calibri"/>
              <a:ea typeface="Calibri"/>
              <a:cs typeface="Calibri"/>
              <a:sym typeface="Calibri"/>
            </a:endParaRPr>
          </a:p>
        </p:txBody>
      </p:sp>
      <p:sp>
        <p:nvSpPr>
          <p:cNvPr id="750" name="Google Shape;750;g3f73c14343f_0_69"/>
          <p:cNvSpPr/>
          <p:nvPr/>
        </p:nvSpPr>
        <p:spPr>
          <a:xfrm>
            <a:off x="8243621" y="4462272"/>
            <a:ext cx="3381000" cy="457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 남성: 증가한 클릭이 구매로 전환되지 않은 이유는?</a:t>
            </a:r>
            <a:endParaRPr b="0" i="0" sz="100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1D1D1F"/>
              </a:buClr>
              <a:buSzPts val="1000"/>
              <a:buFont typeface="Arial"/>
              <a:buNone/>
            </a:pPr>
            <a:r>
              <a:rPr b="0" i="0" lang="en-US" sz="1000" u="none" cap="none" strike="noStrike">
                <a:solidFill>
                  <a:srgbClr val="1D1D1F"/>
                </a:solidFill>
                <a:latin typeface="Arial"/>
                <a:ea typeface="Arial"/>
                <a:cs typeface="Arial"/>
                <a:sym typeface="Arial"/>
              </a:rPr>
              <a:t>• 여성: 어떤 실험 요소가 구매 감소를 유발했는가?</a:t>
            </a:r>
            <a:endParaRPr b="0" i="0" sz="1000" u="none" cap="none" strike="noStrike">
              <a:solidFill>
                <a:schemeClr val="dk1"/>
              </a:solidFill>
              <a:latin typeface="Calibri"/>
              <a:ea typeface="Calibri"/>
              <a:cs typeface="Calibri"/>
              <a:sym typeface="Calibri"/>
            </a:endParaRPr>
          </a:p>
        </p:txBody>
      </p:sp>
      <p:sp>
        <p:nvSpPr>
          <p:cNvPr id="751" name="Google Shape;751;g3f73c14343f_0_69"/>
          <p:cNvSpPr/>
          <p:nvPr/>
        </p:nvSpPr>
        <p:spPr>
          <a:xfrm>
            <a:off x="0" y="5760720"/>
            <a:ext cx="12191700" cy="713100"/>
          </a:xfrm>
          <a:prstGeom prst="rect">
            <a:avLst/>
          </a:prstGeom>
          <a:solidFill>
            <a:srgbClr val="F5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f73c14343f_0_69"/>
          <p:cNvSpPr/>
          <p:nvPr/>
        </p:nvSpPr>
        <p:spPr>
          <a:xfrm>
            <a:off x="566928" y="5760720"/>
            <a:ext cx="11057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66CC"/>
              </a:buClr>
              <a:buSzPts val="1300"/>
              <a:buFont typeface="Arial"/>
              <a:buNone/>
            </a:pPr>
            <a:r>
              <a:rPr b="1" i="0" lang="en-US" sz="1300" u="none" cap="none" strike="noStrike">
                <a:solidFill>
                  <a:srgbClr val="0066CC"/>
                </a:solidFill>
                <a:latin typeface="Arial"/>
                <a:ea typeface="Arial"/>
                <a:cs typeface="Arial"/>
                <a:sym typeface="Arial"/>
              </a:rPr>
              <a:t>최종 제안  </a:t>
            </a:r>
            <a:r>
              <a:rPr b="0" i="0" lang="en-US" sz="1300" u="none" cap="none" strike="noStrike">
                <a:solidFill>
                  <a:srgbClr val="1D1D1F"/>
                </a:solidFill>
                <a:latin typeface="Arial"/>
                <a:ea typeface="Arial"/>
                <a:cs typeface="Arial"/>
                <a:sym typeface="Arial"/>
              </a:rPr>
              <a:t>데이터 신뢰성 검증 후, 0-19세 우선 롤아웃 · 20-49세 </a:t>
            </a:r>
            <a:r>
              <a:rPr lang="en-US" sz="1300">
                <a:solidFill>
                  <a:srgbClr val="1D1D1F"/>
                </a:solidFill>
              </a:rPr>
              <a:t>기존안 유지 및 </a:t>
            </a:r>
            <a:r>
              <a:rPr b="0" i="0" lang="en-US" sz="1300" u="none" cap="none" strike="noStrike">
                <a:solidFill>
                  <a:srgbClr val="1D1D1F"/>
                </a:solidFill>
                <a:latin typeface="Arial"/>
                <a:ea typeface="Arial"/>
                <a:cs typeface="Arial"/>
                <a:sym typeface="Arial"/>
              </a:rPr>
              <a:t>원인 분리재실험</a:t>
            </a:r>
            <a:r>
              <a:rPr lang="en-US" sz="1300">
                <a:solidFill>
                  <a:srgbClr val="1D1D1F"/>
                </a:solidFill>
              </a:rPr>
              <a:t> </a:t>
            </a:r>
            <a:r>
              <a:rPr b="0" i="0" lang="en-US" sz="1300" u="none" cap="none" strike="noStrike">
                <a:solidFill>
                  <a:srgbClr val="1D1D1F"/>
                </a:solidFill>
                <a:latin typeface="Arial"/>
                <a:ea typeface="Arial"/>
                <a:cs typeface="Arial"/>
                <a:sym typeface="Arial"/>
              </a:rPr>
              <a:t>· </a:t>
            </a:r>
            <a:r>
              <a:rPr b="0" i="0" lang="en-US" sz="1300" u="none" cap="none" strike="noStrike">
                <a:solidFill>
                  <a:srgbClr val="1D1D1F"/>
                </a:solidFill>
                <a:latin typeface="Arial"/>
                <a:ea typeface="Arial"/>
                <a:cs typeface="Arial"/>
                <a:sym typeface="Arial"/>
              </a:rPr>
              <a:t>50+</a:t>
            </a:r>
            <a:r>
              <a:rPr lang="en-US" sz="1300">
                <a:solidFill>
                  <a:srgbClr val="1D1D1F"/>
                </a:solidFill>
              </a:rPr>
              <a:t>세 기존안 유지 · </a:t>
            </a:r>
            <a:r>
              <a:rPr b="0" i="0" lang="en-US" sz="1300" u="none" cap="none" strike="noStrike">
                <a:solidFill>
                  <a:srgbClr val="1D1D1F"/>
                </a:solidFill>
                <a:latin typeface="Arial"/>
                <a:ea typeface="Arial"/>
                <a:cs typeface="Arial"/>
                <a:sym typeface="Arial"/>
              </a:rPr>
              <a:t>성별 효과 규명 후 신규안 적용</a:t>
            </a:r>
            <a:endParaRPr b="0" i="0" sz="1300" u="none" cap="none" strike="noStrike">
              <a:solidFill>
                <a:schemeClr val="dk1"/>
              </a:solidFill>
              <a:latin typeface="Calibri"/>
              <a:ea typeface="Calibri"/>
              <a:cs typeface="Calibri"/>
              <a:sym typeface="Calibri"/>
            </a:endParaRPr>
          </a:p>
        </p:txBody>
      </p:sp>
      <p:sp>
        <p:nvSpPr>
          <p:cNvPr id="753" name="Google Shape;753;g3f73c14343f_0_69"/>
          <p:cNvSpPr/>
          <p:nvPr/>
        </p:nvSpPr>
        <p:spPr>
          <a:xfrm>
            <a:off x="566928" y="182880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chemeClr val="dk1"/>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sp>
        <p:nvSpPr>
          <p:cNvPr id="754" name="Google Shape;754;g3f73c14343f_0_69"/>
          <p:cNvSpPr/>
          <p:nvPr/>
        </p:nvSpPr>
        <p:spPr>
          <a:xfrm>
            <a:off x="4405274" y="182880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chemeClr val="dk1"/>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sp>
        <p:nvSpPr>
          <p:cNvPr id="755" name="Google Shape;755;g3f73c14343f_0_69"/>
          <p:cNvSpPr/>
          <p:nvPr/>
        </p:nvSpPr>
        <p:spPr>
          <a:xfrm>
            <a:off x="8243621" y="182880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66CC"/>
              </a:buClr>
              <a:buSzPts val="1100"/>
              <a:buFont typeface="Arial"/>
              <a:buNone/>
            </a:pPr>
            <a:r>
              <a:rPr b="1" i="0" lang="en-US" sz="1100" u="none" cap="none" strike="noStrike">
                <a:solidFill>
                  <a:schemeClr val="dk1"/>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2026-08-16T12:29:26Z</dcterms:created>
  <dc:creator>PptxGenJS</dc:creator>
</cp:coreProperties>
</file>